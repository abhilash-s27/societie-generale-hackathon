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926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is RiskWaiver360 — our GRC Exception and Policy Waiver Management Platform, built for the Societe Generale Hackathon 2026. I'm [S Abhilash / Rajath S] from RVCE Bengaluru. Our team built this to solve a real problem: organizations have no single place to manage, score, track, and audit policy exceptions.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policy exceptions are managed in silos — emails, Excel files, and informal Slack approvals. The result: expired exceptions remain active, access is never revoked, and auditors cannot verify whether exceptions were justified or ever reviewed. This creates invisible compliance risk and security exposure.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scenarios that occur in organizations without proper exception management. Each one represents an audit finding, a security vulnerability, or a compliance gap. RiskWaiver360 is designed to detect and prevent all six of these situations.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RiskWaiver360 is a centralized platform where every exception goes through a defined lifecycle: structured intake, security review, approver decision, continuous monitoring, and audit evidence generation. No exception falls through the cracks.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React 18 on Vite for the frontend, Node.js + Express for the API, and JSON flat-file storage for the demo. In production, this would be replaced with PostgreSQL or MongoDB. The core backend services handle risk scoring, alert generation, GRC intelligence detection, and audit report generation.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RiskWaiver360 has four distinct role workspaces. Requesters submit exceptions and track status. Security Reviewers perform technical risk assessment. Approvers make the final governance decision. Auditors get full read-only access to all evidence, reports, and GRC intelligence. Each role sees only what is relevant to their function.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core features make up RiskWaiver360. Each feature is live and functional in the demo. The exception registry, intake form, review queue, risk scoring engine, alert monitoring, and GRC intelligence are all interconnected and driven by the same 600-record exception dataset.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 scoring engine is completely rule-based and explainable. Every score is derived from a transparent formula. Auditors and reviewers can see exactly why a score is what it is. There is no machine learning — scoring is deterministic and reproducible. This makes it audit-friendly and trustworthy in a regulated environment.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monitoring layer has two components. The Alert Engine continuously evaluates 600 exceptions and currently surfaces 682 active alerts across 7 categories. The GRC Intelligence Center uses rule-based detection to find overlapping waivers, duplicate requests, conflicting approvals, and risk accumulation hotspots — patterns that no alert alone would catch.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RiskWaiver360 maps every exception to a CIA impact dimension — Confidentiality, Integrity, Availability, or Multiple. This structured mapping, combined with compliance framework alignment to NIST, GDPR, CIS, and ISO 27001, makes the platform suitable for regulatory audit environments.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runs at localhost:5173. Login with any of the four demo accounts. Start as a Requester to submit an exception, then switch to Security Reviewer to assess it, then Approver to make a decision, and finally Auditor/Admin to see the full risk picture. The demo dataset has 600 pre-loaded exceptions.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is honest about its current state. This is a functional demo, not a production deployment. Authentication, storage, and email are all simulated. In production, these would be replaced with enterprise-grade SSO, a real database, and backend-enforced access control. AI is called out as future scope only — the current platform is entirely rule-based.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6E0000"/>
          </a:solidFill>
          <a:ln w="12700">
            <a:solidFill>
              <a:srgbClr val="6E0000"/>
            </a:solidFill>
            <a:prstDash val="solid"/>
          </a:ln>
        </p:spPr>
      </p:sp>
      <p:sp>
        <p:nvSpPr>
          <p:cNvPr id="3" name="Shape 1"/>
          <p:cNvSpPr/>
          <p:nvPr/>
        </p:nvSpPr>
        <p:spPr>
          <a:xfrm>
            <a:off x="228600" y="0"/>
            <a:ext cx="8915400" cy="91440"/>
          </a:xfrm>
          <a:prstGeom prst="rect">
            <a:avLst/>
          </a:prstGeom>
          <a:solidFill>
            <a:srgbClr val="C41010"/>
          </a:solidFill>
          <a:ln w="12700">
            <a:solidFill>
              <a:srgbClr val="C41010"/>
            </a:solidFill>
            <a:prstDash val="solid"/>
          </a:ln>
        </p:spPr>
      </p:sp>
      <p:sp>
        <p:nvSpPr>
          <p:cNvPr id="4" name="Shape 2"/>
          <p:cNvSpPr/>
          <p:nvPr/>
        </p:nvSpPr>
        <p:spPr>
          <a:xfrm>
            <a:off x="228600" y="5052060"/>
            <a:ext cx="8915400" cy="91440"/>
          </a:xfrm>
          <a:prstGeom prst="rect">
            <a:avLst/>
          </a:prstGeom>
          <a:solidFill>
            <a:srgbClr val="C41010"/>
          </a:solidFill>
          <a:ln w="12700">
            <a:solidFill>
              <a:srgbClr val="C41010"/>
            </a:solidFill>
            <a:prstDash val="solid"/>
          </a:ln>
        </p:spPr>
      </p:sp>
      <p:sp>
        <p:nvSpPr>
          <p:cNvPr id="5" name="Text 3"/>
          <p:cNvSpPr/>
          <p:nvPr/>
        </p:nvSpPr>
        <p:spPr>
          <a:xfrm>
            <a:off x="5029200" y="731520"/>
            <a:ext cx="3840480" cy="3200400"/>
          </a:xfrm>
          <a:prstGeom prst="rect">
            <a:avLst/>
          </a:prstGeom>
          <a:noFill/>
          <a:ln/>
        </p:spPr>
        <p:txBody>
          <a:bodyPr wrap="square" lIns="0" tIns="0" rIns="0" bIns="0" rtlCol="0" anchor="ctr"/>
          <a:lstStyle/>
          <a:p>
            <a:pPr marL="0" indent="0" algn="ctr">
              <a:buNone/>
            </a:pPr>
            <a:r>
              <a:rPr lang="en-US" sz="22000" b="1" dirty="0">
                <a:solidFill>
                  <a:srgbClr val="6E0000">
                    <a:alpha val="40000"/>
                  </a:srgbClr>
                </a:solidFill>
                <a:latin typeface="Times New Roman" pitchFamily="34" charset="0"/>
                <a:ea typeface="Times New Roman" pitchFamily="34" charset="-122"/>
                <a:cs typeface="Times New Roman" pitchFamily="34" charset="-120"/>
              </a:rPr>
              <a:t>360</a:t>
            </a:r>
            <a:endParaRPr lang="en-US" sz="22000" dirty="0"/>
          </a:p>
        </p:txBody>
      </p:sp>
      <p:sp>
        <p:nvSpPr>
          <p:cNvPr id="6" name="Shape 4"/>
          <p:cNvSpPr/>
          <p:nvPr/>
        </p:nvSpPr>
        <p:spPr>
          <a:xfrm>
            <a:off x="6766560" y="1005840"/>
            <a:ext cx="2103120" cy="2103120"/>
          </a:xfrm>
          <a:prstGeom prst="ellipse">
            <a:avLst/>
          </a:prstGeom>
          <a:solidFill>
            <a:srgbClr val="6E0000"/>
          </a:solidFill>
          <a:ln w="38100">
            <a:solidFill>
              <a:srgbClr val="C41010"/>
            </a:solidFill>
            <a:prstDash val="solid"/>
          </a:ln>
        </p:spPr>
      </p:sp>
      <p:sp>
        <p:nvSpPr>
          <p:cNvPr id="7" name="Shape 5"/>
          <p:cNvSpPr/>
          <p:nvPr/>
        </p:nvSpPr>
        <p:spPr>
          <a:xfrm>
            <a:off x="6995160" y="1234440"/>
            <a:ext cx="1645920" cy="1645920"/>
          </a:xfrm>
          <a:prstGeom prst="ellipse">
            <a:avLst/>
          </a:prstGeom>
          <a:solidFill>
            <a:srgbClr val="0A0000"/>
          </a:solidFill>
          <a:ln w="19050">
            <a:solidFill>
              <a:srgbClr val="E84040"/>
            </a:solidFill>
            <a:prstDash val="solid"/>
          </a:ln>
        </p:spPr>
      </p:sp>
      <p:sp>
        <p:nvSpPr>
          <p:cNvPr id="8" name="Text 6"/>
          <p:cNvSpPr/>
          <p:nvPr/>
        </p:nvSpPr>
        <p:spPr>
          <a:xfrm>
            <a:off x="6766560" y="1783080"/>
            <a:ext cx="210312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Times New Roman" pitchFamily="34" charset="0"/>
                <a:ea typeface="Times New Roman" pitchFamily="34" charset="-122"/>
                <a:cs typeface="Times New Roman" pitchFamily="34" charset="-120"/>
              </a:rPr>
              <a:t>GRC</a:t>
            </a:r>
            <a:endParaRPr lang="en-US" sz="2200" dirty="0"/>
          </a:p>
        </p:txBody>
      </p:sp>
      <p:sp>
        <p:nvSpPr>
          <p:cNvPr id="9" name="Text 7"/>
          <p:cNvSpPr/>
          <p:nvPr/>
        </p:nvSpPr>
        <p:spPr>
          <a:xfrm>
            <a:off x="457200" y="640080"/>
            <a:ext cx="6400800" cy="1005840"/>
          </a:xfrm>
          <a:prstGeom prst="rect">
            <a:avLst/>
          </a:prstGeom>
          <a:noFill/>
          <a:ln/>
          <a:effectLst>
            <a:outerShdw blurRad="127000" dist="38100" dir="8100000" algn="bl" rotWithShape="0">
              <a:srgbClr val="000000">
                <a:alpha val="45000"/>
              </a:srgbClr>
            </a:outerShdw>
          </a:effectLst>
        </p:spPr>
        <p:txBody>
          <a:bodyPr wrap="square" lIns="0" tIns="0" rIns="0" bIns="0" rtlCol="0" anchor="ctr"/>
          <a:lstStyle/>
          <a:p>
            <a:pPr marL="0" indent="0">
              <a:buNone/>
            </a:pPr>
            <a:r>
              <a:rPr lang="en-US" sz="5200" b="1" dirty="0">
                <a:solidFill>
                  <a:srgbClr val="FFFFFF"/>
                </a:solidFill>
                <a:latin typeface="Times New Roman" pitchFamily="34" charset="0"/>
                <a:ea typeface="Times New Roman" pitchFamily="34" charset="-122"/>
                <a:cs typeface="Times New Roman" pitchFamily="34" charset="-120"/>
              </a:rPr>
              <a:t>RiskWaiver360</a:t>
            </a:r>
            <a:endParaRPr lang="en-US" sz="5200" dirty="0"/>
          </a:p>
        </p:txBody>
      </p:sp>
      <p:sp>
        <p:nvSpPr>
          <p:cNvPr id="10" name="Shape 8"/>
          <p:cNvSpPr/>
          <p:nvPr/>
        </p:nvSpPr>
        <p:spPr>
          <a:xfrm>
            <a:off x="457200" y="1664208"/>
            <a:ext cx="6217920" cy="45720"/>
          </a:xfrm>
          <a:prstGeom prst="rect">
            <a:avLst/>
          </a:prstGeom>
          <a:solidFill>
            <a:srgbClr val="C41010"/>
          </a:solidFill>
          <a:ln w="12700">
            <a:solidFill>
              <a:srgbClr val="C41010"/>
            </a:solidFill>
            <a:prstDash val="solid"/>
          </a:ln>
        </p:spPr>
      </p:sp>
      <p:sp>
        <p:nvSpPr>
          <p:cNvPr id="11" name="Text 9"/>
          <p:cNvSpPr/>
          <p:nvPr/>
        </p:nvSpPr>
        <p:spPr>
          <a:xfrm>
            <a:off x="457200" y="1755648"/>
            <a:ext cx="6217920" cy="914400"/>
          </a:xfrm>
          <a:prstGeom prst="rect">
            <a:avLst/>
          </a:prstGeom>
          <a:noFill/>
          <a:ln/>
        </p:spPr>
        <p:txBody>
          <a:bodyPr wrap="square" lIns="0" tIns="0" rIns="0" bIns="0" rtlCol="0" anchor="ctr"/>
          <a:lstStyle/>
          <a:p>
            <a:pPr marL="0" indent="0">
              <a:buNone/>
            </a:pPr>
            <a:r>
              <a:rPr lang="en-US" sz="1700" dirty="0">
                <a:solidFill>
                  <a:srgbClr val="E84040"/>
                </a:solidFill>
                <a:latin typeface="Times New Roman" pitchFamily="34" charset="0"/>
                <a:ea typeface="Times New Roman" pitchFamily="34" charset="-122"/>
                <a:cs typeface="Times New Roman" pitchFamily="34" charset="-120"/>
              </a:rPr>
              <a:t>GRC Process Exception &amp;</a:t>
            </a:r>
            <a:endParaRPr lang="en-US" sz="1700" dirty="0"/>
          </a:p>
          <a:p>
            <a:pPr marL="0" indent="0">
              <a:buNone/>
            </a:pPr>
            <a:r>
              <a:rPr lang="en-US" sz="1700" dirty="0">
                <a:solidFill>
                  <a:srgbClr val="E84040"/>
                </a:solidFill>
                <a:latin typeface="Times New Roman" pitchFamily="34" charset="0"/>
                <a:ea typeface="Times New Roman" pitchFamily="34" charset="-122"/>
                <a:cs typeface="Times New Roman" pitchFamily="34" charset="-120"/>
              </a:rPr>
              <a:t>Policy Waiver Management Platform</a:t>
            </a:r>
            <a:endParaRPr lang="en-US" sz="1700" dirty="0"/>
          </a:p>
        </p:txBody>
      </p:sp>
      <p:sp>
        <p:nvSpPr>
          <p:cNvPr id="12" name="Shape 10"/>
          <p:cNvSpPr/>
          <p:nvPr/>
        </p:nvSpPr>
        <p:spPr>
          <a:xfrm>
            <a:off x="457200" y="2743200"/>
            <a:ext cx="6217920" cy="36576"/>
          </a:xfrm>
          <a:prstGeom prst="rect">
            <a:avLst/>
          </a:prstGeom>
          <a:solidFill>
            <a:srgbClr val="333333"/>
          </a:solidFill>
          <a:ln w="12700">
            <a:solidFill>
              <a:srgbClr val="333333"/>
            </a:solidFill>
            <a:prstDash val="solid"/>
          </a:ln>
        </p:spPr>
      </p:sp>
      <p:sp>
        <p:nvSpPr>
          <p:cNvPr id="13" name="Text 11"/>
          <p:cNvSpPr/>
          <p:nvPr/>
        </p:nvSpPr>
        <p:spPr>
          <a:xfrm>
            <a:off x="457200" y="2834640"/>
            <a:ext cx="1463040" cy="347472"/>
          </a:xfrm>
          <a:prstGeom prst="rect">
            <a:avLst/>
          </a:prstGeom>
          <a:noFill/>
          <a:ln/>
        </p:spPr>
        <p:txBody>
          <a:bodyPr wrap="square" lIns="0" tIns="0" rIns="0" bIns="0" rtlCol="0" anchor="t"/>
          <a:lstStyle/>
          <a:p>
            <a:pPr marL="0" indent="0">
              <a:buNone/>
            </a:pPr>
            <a:r>
              <a:rPr lang="en-US" sz="1000" b="1" dirty="0">
                <a:solidFill>
                  <a:srgbClr val="888888"/>
                </a:solidFill>
                <a:latin typeface="Times New Roman" pitchFamily="34" charset="0"/>
                <a:ea typeface="Times New Roman" pitchFamily="34" charset="-122"/>
                <a:cs typeface="Times New Roman" pitchFamily="34" charset="-120"/>
              </a:rPr>
              <a:t>TEAM:</a:t>
            </a:r>
            <a:endParaRPr lang="en-US" sz="1000" dirty="0"/>
          </a:p>
        </p:txBody>
      </p:sp>
      <p:sp>
        <p:nvSpPr>
          <p:cNvPr id="14" name="Text 12"/>
          <p:cNvSpPr/>
          <p:nvPr/>
        </p:nvSpPr>
        <p:spPr>
          <a:xfrm>
            <a:off x="1965960" y="2834640"/>
            <a:ext cx="4846320" cy="347472"/>
          </a:xfrm>
          <a:prstGeom prst="rect">
            <a:avLst/>
          </a:prstGeom>
          <a:noFill/>
          <a:ln/>
        </p:spPr>
        <p:txBody>
          <a:bodyPr wrap="square" lIns="0" tIns="0" rIns="0" bIns="0" rtlCol="0" anchor="t"/>
          <a:lstStyle/>
          <a:p>
            <a:pPr marL="0" indent="0">
              <a:buNone/>
            </a:pPr>
            <a:r>
              <a:rPr lang="en-US" sz="1300" dirty="0">
                <a:solidFill>
                  <a:srgbClr val="C8C8C8"/>
                </a:solidFill>
                <a:latin typeface="Times New Roman" pitchFamily="34" charset="0"/>
                <a:ea typeface="Times New Roman" pitchFamily="34" charset="-122"/>
                <a:cs typeface="Times New Roman" pitchFamily="34" charset="-120"/>
              </a:rPr>
              <a:t>S Abhilash  ·  Rajath S</a:t>
            </a:r>
            <a:endParaRPr lang="en-US" sz="1300" dirty="0"/>
          </a:p>
        </p:txBody>
      </p:sp>
      <p:sp>
        <p:nvSpPr>
          <p:cNvPr id="15" name="Text 13"/>
          <p:cNvSpPr/>
          <p:nvPr/>
        </p:nvSpPr>
        <p:spPr>
          <a:xfrm>
            <a:off x="457200" y="3310128"/>
            <a:ext cx="1463040" cy="347472"/>
          </a:xfrm>
          <a:prstGeom prst="rect">
            <a:avLst/>
          </a:prstGeom>
          <a:noFill/>
          <a:ln/>
        </p:spPr>
        <p:txBody>
          <a:bodyPr wrap="square" lIns="0" tIns="0" rIns="0" bIns="0" rtlCol="0" anchor="t"/>
          <a:lstStyle/>
          <a:p>
            <a:pPr marL="0" indent="0">
              <a:buNone/>
            </a:pPr>
            <a:r>
              <a:rPr lang="en-US" sz="1000" b="1" dirty="0">
                <a:solidFill>
                  <a:srgbClr val="888888"/>
                </a:solidFill>
                <a:latin typeface="Times New Roman" pitchFamily="34" charset="0"/>
                <a:ea typeface="Times New Roman" pitchFamily="34" charset="-122"/>
                <a:cs typeface="Times New Roman" pitchFamily="34" charset="-120"/>
              </a:rPr>
              <a:t>INSTITUTION:</a:t>
            </a:r>
            <a:endParaRPr lang="en-US" sz="1000" dirty="0"/>
          </a:p>
        </p:txBody>
      </p:sp>
      <p:sp>
        <p:nvSpPr>
          <p:cNvPr id="16" name="Text 14"/>
          <p:cNvSpPr/>
          <p:nvPr/>
        </p:nvSpPr>
        <p:spPr>
          <a:xfrm>
            <a:off x="1965960" y="3310128"/>
            <a:ext cx="4846320" cy="347472"/>
          </a:xfrm>
          <a:prstGeom prst="rect">
            <a:avLst/>
          </a:prstGeom>
          <a:noFill/>
          <a:ln/>
        </p:spPr>
        <p:txBody>
          <a:bodyPr wrap="square" lIns="0" tIns="0" rIns="0" bIns="0" rtlCol="0" anchor="t"/>
          <a:lstStyle/>
          <a:p>
            <a:pPr marL="0" indent="0">
              <a:buNone/>
            </a:pPr>
            <a:r>
              <a:rPr lang="en-US" sz="1300" dirty="0">
                <a:solidFill>
                  <a:srgbClr val="C8C8C8"/>
                </a:solidFill>
                <a:latin typeface="Times New Roman" pitchFamily="34" charset="0"/>
                <a:ea typeface="Times New Roman" pitchFamily="34" charset="-122"/>
                <a:cs typeface="Times New Roman" pitchFamily="34" charset="-120"/>
              </a:rPr>
              <a:t>RVCE (RV College of Engineering), Bengaluru</a:t>
            </a:r>
            <a:endParaRPr lang="en-US" sz="1300" dirty="0"/>
          </a:p>
        </p:txBody>
      </p:sp>
      <p:sp>
        <p:nvSpPr>
          <p:cNvPr id="17" name="Text 15"/>
          <p:cNvSpPr/>
          <p:nvPr/>
        </p:nvSpPr>
        <p:spPr>
          <a:xfrm>
            <a:off x="457200" y="3785616"/>
            <a:ext cx="1463040" cy="347472"/>
          </a:xfrm>
          <a:prstGeom prst="rect">
            <a:avLst/>
          </a:prstGeom>
          <a:noFill/>
          <a:ln/>
        </p:spPr>
        <p:txBody>
          <a:bodyPr wrap="square" lIns="0" tIns="0" rIns="0" bIns="0" rtlCol="0" anchor="t"/>
          <a:lstStyle/>
          <a:p>
            <a:pPr marL="0" indent="0">
              <a:buNone/>
            </a:pPr>
            <a:r>
              <a:rPr lang="en-US" sz="1000" b="1" dirty="0">
                <a:solidFill>
                  <a:srgbClr val="888888"/>
                </a:solidFill>
                <a:latin typeface="Times New Roman" pitchFamily="34" charset="0"/>
                <a:ea typeface="Times New Roman" pitchFamily="34" charset="-122"/>
                <a:cs typeface="Times New Roman" pitchFamily="34" charset="-120"/>
              </a:rPr>
              <a:t>TRACK:</a:t>
            </a:r>
            <a:endParaRPr lang="en-US" sz="1000" dirty="0"/>
          </a:p>
        </p:txBody>
      </p:sp>
      <p:sp>
        <p:nvSpPr>
          <p:cNvPr id="18" name="Text 16"/>
          <p:cNvSpPr/>
          <p:nvPr/>
        </p:nvSpPr>
        <p:spPr>
          <a:xfrm>
            <a:off x="1965960" y="3785616"/>
            <a:ext cx="4846320" cy="347472"/>
          </a:xfrm>
          <a:prstGeom prst="rect">
            <a:avLst/>
          </a:prstGeom>
          <a:noFill/>
          <a:ln/>
        </p:spPr>
        <p:txBody>
          <a:bodyPr wrap="square" lIns="0" tIns="0" rIns="0" bIns="0" rtlCol="0" anchor="t"/>
          <a:lstStyle/>
          <a:p>
            <a:pPr marL="0" indent="0">
              <a:buNone/>
            </a:pPr>
            <a:r>
              <a:rPr lang="en-US" sz="1300" dirty="0">
                <a:solidFill>
                  <a:srgbClr val="C8C8C8"/>
                </a:solidFill>
                <a:latin typeface="Times New Roman" pitchFamily="34" charset="0"/>
                <a:ea typeface="Times New Roman" pitchFamily="34" charset="-122"/>
                <a:cs typeface="Times New Roman" pitchFamily="34" charset="-120"/>
              </a:rPr>
              <a:t>Policy Governance &amp; Risk Management</a:t>
            </a:r>
            <a:endParaRPr lang="en-US" sz="1300" dirty="0"/>
          </a:p>
        </p:txBody>
      </p:sp>
      <p:sp>
        <p:nvSpPr>
          <p:cNvPr id="19" name="Text 17"/>
          <p:cNvSpPr/>
          <p:nvPr/>
        </p:nvSpPr>
        <p:spPr>
          <a:xfrm>
            <a:off x="457200" y="4261104"/>
            <a:ext cx="1463040" cy="347472"/>
          </a:xfrm>
          <a:prstGeom prst="rect">
            <a:avLst/>
          </a:prstGeom>
          <a:noFill/>
          <a:ln/>
        </p:spPr>
        <p:txBody>
          <a:bodyPr wrap="square" lIns="0" tIns="0" rIns="0" bIns="0" rtlCol="0" anchor="t"/>
          <a:lstStyle/>
          <a:p>
            <a:pPr marL="0" indent="0">
              <a:buNone/>
            </a:pPr>
            <a:r>
              <a:rPr lang="en-US" sz="1000" b="1" dirty="0">
                <a:solidFill>
                  <a:srgbClr val="888888"/>
                </a:solidFill>
                <a:latin typeface="Times New Roman" pitchFamily="34" charset="0"/>
                <a:ea typeface="Times New Roman" pitchFamily="34" charset="-122"/>
                <a:cs typeface="Times New Roman" pitchFamily="34" charset="-120"/>
              </a:rPr>
              <a:t>YEAR:</a:t>
            </a:r>
            <a:endParaRPr lang="en-US" sz="1000" dirty="0"/>
          </a:p>
        </p:txBody>
      </p:sp>
      <p:sp>
        <p:nvSpPr>
          <p:cNvPr id="20" name="Text 18"/>
          <p:cNvSpPr/>
          <p:nvPr/>
        </p:nvSpPr>
        <p:spPr>
          <a:xfrm>
            <a:off x="1965960" y="4261104"/>
            <a:ext cx="4846320" cy="347472"/>
          </a:xfrm>
          <a:prstGeom prst="rect">
            <a:avLst/>
          </a:prstGeom>
          <a:noFill/>
          <a:ln/>
        </p:spPr>
        <p:txBody>
          <a:bodyPr wrap="square" lIns="0" tIns="0" rIns="0" bIns="0" rtlCol="0" anchor="t"/>
          <a:lstStyle/>
          <a:p>
            <a:pPr marL="0" indent="0">
              <a:buNone/>
            </a:pPr>
            <a:r>
              <a:rPr lang="en-US" sz="1300" dirty="0">
                <a:solidFill>
                  <a:srgbClr val="C8C8C8"/>
                </a:solidFill>
                <a:latin typeface="Times New Roman" pitchFamily="34" charset="0"/>
                <a:ea typeface="Times New Roman" pitchFamily="34" charset="-122"/>
                <a:cs typeface="Times New Roman" pitchFamily="34" charset="-120"/>
              </a:rPr>
              <a:t>2026  ·  Societe Generale Hackathon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6E0000"/>
          </a:solidFill>
          <a:ln w="12700">
            <a:solidFill>
              <a:srgbClr val="6E0000"/>
            </a:solidFill>
            <a:prstDash val="solid"/>
          </a:ln>
        </p:spPr>
      </p:sp>
      <p:sp>
        <p:nvSpPr>
          <p:cNvPr id="3" name="Shape 1"/>
          <p:cNvSpPr/>
          <p:nvPr/>
        </p:nvSpPr>
        <p:spPr>
          <a:xfrm>
            <a:off x="0" y="4983480"/>
            <a:ext cx="9144000" cy="160020"/>
          </a:xfrm>
          <a:prstGeom prst="rect">
            <a:avLst/>
          </a:prstGeom>
          <a:solidFill>
            <a:srgbClr val="6E0000"/>
          </a:solidFill>
          <a:ln w="12700">
            <a:solidFill>
              <a:srgbClr val="6E0000"/>
            </a:solidFill>
            <a:prstDash val="solid"/>
          </a:ln>
        </p:spPr>
      </p:sp>
      <p:sp>
        <p:nvSpPr>
          <p:cNvPr id="4" name="Text 2"/>
          <p:cNvSpPr/>
          <p:nvPr/>
        </p:nvSpPr>
        <p:spPr>
          <a:xfrm>
            <a:off x="365760" y="64008"/>
            <a:ext cx="7863840" cy="438912"/>
          </a:xfrm>
          <a:prstGeom prst="rect">
            <a:avLst/>
          </a:prstGeom>
          <a:noFill/>
          <a:ln/>
        </p:spPr>
        <p:txBody>
          <a:bodyPr wrap="square" lIns="0" tIns="0" rIns="0" bIns="0" rtlCol="0" anchor="ctr"/>
          <a:lstStyle/>
          <a:p>
            <a:pPr marL="0" indent="0">
              <a:buNone/>
            </a:pPr>
            <a:r>
              <a:rPr lang="en-US" sz="2100" b="1" dirty="0">
                <a:solidFill>
                  <a:srgbClr val="FFFFFF"/>
                </a:solidFill>
                <a:latin typeface="Times New Roman" pitchFamily="34" charset="0"/>
                <a:ea typeface="Times New Roman" pitchFamily="34" charset="-122"/>
                <a:cs typeface="Times New Roman" pitchFamily="34" charset="-120"/>
              </a:rPr>
              <a:t>The Problem — Exception Blindspot in GRC</a:t>
            </a:r>
            <a:endParaRPr lang="en-US" sz="2100" dirty="0"/>
          </a:p>
        </p:txBody>
      </p:sp>
      <p:sp>
        <p:nvSpPr>
          <p:cNvPr id="5" name="Text 3"/>
          <p:cNvSpPr/>
          <p:nvPr/>
        </p:nvSpPr>
        <p:spPr>
          <a:xfrm>
            <a:off x="7955280" y="64008"/>
            <a:ext cx="914400" cy="438912"/>
          </a:xfrm>
          <a:prstGeom prst="rect">
            <a:avLst/>
          </a:prstGeom>
          <a:noFill/>
          <a:ln/>
        </p:spPr>
        <p:txBody>
          <a:bodyPr wrap="square" lIns="0" tIns="0" rIns="0" bIns="0" rtlCol="0" anchor="ctr"/>
          <a:lstStyle/>
          <a:p>
            <a:pPr marL="0" indent="0" algn="r">
              <a:buNone/>
            </a:pPr>
            <a:r>
              <a:rPr lang="en-US" sz="1100" dirty="0">
                <a:solidFill>
                  <a:srgbClr val="C8C8C8"/>
                </a:solidFill>
                <a:latin typeface="Times New Roman" pitchFamily="34" charset="0"/>
                <a:ea typeface="Times New Roman" pitchFamily="34" charset="-122"/>
                <a:cs typeface="Times New Roman" pitchFamily="34" charset="-120"/>
              </a:rPr>
              <a:t>2/12</a:t>
            </a:r>
            <a:endParaRPr lang="en-US" sz="1100" dirty="0"/>
          </a:p>
        </p:txBody>
      </p:sp>
      <p:sp>
        <p:nvSpPr>
          <p:cNvPr id="6" name="Text 4"/>
          <p:cNvSpPr/>
          <p:nvPr/>
        </p:nvSpPr>
        <p:spPr>
          <a:xfrm>
            <a:off x="365760" y="4983480"/>
            <a:ext cx="8412480" cy="160020"/>
          </a:xfrm>
          <a:prstGeom prst="rect">
            <a:avLst/>
          </a:prstGeom>
          <a:noFill/>
          <a:ln/>
        </p:spPr>
        <p:txBody>
          <a:bodyPr wrap="square" lIns="0" tIns="0" rIns="0" bIns="0" rtlCol="0" anchor="ctr"/>
          <a:lstStyle/>
          <a:p>
            <a:pPr marL="0" indent="0">
              <a:buNone/>
            </a:pPr>
            <a:r>
              <a:rPr lang="en-US" sz="800" dirty="0">
                <a:solidFill>
                  <a:srgbClr val="C8C8C8"/>
                </a:solidFill>
                <a:latin typeface="Times New Roman" pitchFamily="34" charset="0"/>
                <a:ea typeface="Times New Roman" pitchFamily="34" charset="-122"/>
                <a:cs typeface="Times New Roman" pitchFamily="34" charset="-120"/>
              </a:rPr>
              <a:t>RiskWaiver360  ·  GRC Exception &amp; Policy Waiver Management  ·  RVCE 2026</a:t>
            </a:r>
            <a:endParaRPr lang="en-US" sz="800" dirty="0"/>
          </a:p>
        </p:txBody>
      </p:sp>
      <p:sp>
        <p:nvSpPr>
          <p:cNvPr id="7" name="Shape 5"/>
          <p:cNvSpPr/>
          <p:nvPr/>
        </p:nvSpPr>
        <p:spPr>
          <a:xfrm>
            <a:off x="365760" y="658368"/>
            <a:ext cx="5120640" cy="4160520"/>
          </a:xfrm>
          <a:prstGeom prst="rect">
            <a:avLst/>
          </a:prstGeom>
          <a:solidFill>
            <a:srgbClr val="151515"/>
          </a:solidFill>
          <a:ln w="19050">
            <a:solidFill>
              <a:srgbClr val="C41010"/>
            </a:solidFill>
            <a:prstDash val="solid"/>
          </a:ln>
          <a:effectLst>
            <a:outerShdw blurRad="127000" dist="38100" dir="8100000" algn="bl" rotWithShape="0">
              <a:srgbClr val="000000">
                <a:alpha val="45000"/>
              </a:srgbClr>
            </a:outerShdw>
          </a:effectLst>
        </p:spPr>
      </p:sp>
      <p:sp>
        <p:nvSpPr>
          <p:cNvPr id="8" name="Text 6"/>
          <p:cNvSpPr/>
          <p:nvPr/>
        </p:nvSpPr>
        <p:spPr>
          <a:xfrm>
            <a:off x="502920" y="713232"/>
            <a:ext cx="4846320" cy="384048"/>
          </a:xfrm>
          <a:prstGeom prst="rect">
            <a:avLst/>
          </a:prstGeom>
          <a:noFill/>
          <a:ln/>
        </p:spPr>
        <p:txBody>
          <a:bodyPr wrap="square" lIns="0" tIns="0" rIns="0" bIns="0" rtlCol="0" anchor="ctr"/>
          <a:lstStyle/>
          <a:p>
            <a:pPr marL="0" indent="0">
              <a:buNone/>
            </a:pPr>
            <a:r>
              <a:rPr lang="en-US" sz="1600" b="1" dirty="0">
                <a:solidFill>
                  <a:srgbClr val="E84040"/>
                </a:solidFill>
                <a:latin typeface="Times New Roman" pitchFamily="34" charset="0"/>
                <a:ea typeface="Times New Roman" pitchFamily="34" charset="-122"/>
                <a:cs typeface="Times New Roman" pitchFamily="34" charset="-120"/>
              </a:rPr>
              <a:t>Where Do Policy Exceptions Live Today?</a:t>
            </a:r>
            <a:endParaRPr lang="en-US" sz="1600" dirty="0"/>
          </a:p>
        </p:txBody>
      </p:sp>
      <p:sp>
        <p:nvSpPr>
          <p:cNvPr id="9" name="Text 7"/>
          <p:cNvSpPr/>
          <p:nvPr/>
        </p:nvSpPr>
        <p:spPr>
          <a:xfrm>
            <a:off x="548640" y="1188720"/>
            <a:ext cx="4846320" cy="3291840"/>
          </a:xfrm>
          <a:prstGeom prst="rect">
            <a:avLst/>
          </a:prstGeom>
          <a:noFill/>
          <a:ln/>
        </p:spPr>
        <p:txBody>
          <a:bodyPr wrap="square" lIns="50800" tIns="101600" rIns="50800" bIns="50800" rtlCol="0" anchor="t"/>
          <a:lstStyle/>
          <a:p>
            <a:pPr marL="342900" indent="-342900">
              <a:spcAft>
                <a:spcPts val="800"/>
              </a:spcAft>
              <a:buSzPct val="100000"/>
              <a:buChar char="•"/>
            </a:pPr>
            <a:r>
              <a:rPr lang="en-US" sz="1600" dirty="0">
                <a:solidFill>
                  <a:srgbClr val="C8C8C8"/>
                </a:solidFill>
                <a:latin typeface="Times New Roman" pitchFamily="34" charset="0"/>
                <a:ea typeface="Times New Roman" pitchFamily="34" charset="-122"/>
                <a:cs typeface="Times New Roman" pitchFamily="34" charset="-120"/>
              </a:rPr>
              <a:t>Scattered across email threads and Slack messages</a:t>
            </a:r>
            <a:endParaRPr lang="en-US" sz="1600" dirty="0"/>
          </a:p>
          <a:p>
            <a:pPr marL="342900" indent="-342900">
              <a:spcAft>
                <a:spcPts val="800"/>
              </a:spcAft>
              <a:buSzPct val="100000"/>
              <a:buChar char="•"/>
            </a:pPr>
            <a:r>
              <a:rPr lang="en-US" sz="1600" dirty="0">
                <a:solidFill>
                  <a:srgbClr val="C8C8C8"/>
                </a:solidFill>
                <a:latin typeface="Times New Roman" pitchFamily="34" charset="0"/>
                <a:ea typeface="Times New Roman" pitchFamily="34" charset="-122"/>
                <a:cs typeface="Times New Roman" pitchFamily="34" charset="-120"/>
              </a:rPr>
              <a:t>Tracked informally in spreadsheets with no lifecycle control</a:t>
            </a:r>
            <a:endParaRPr lang="en-US" sz="1600" dirty="0"/>
          </a:p>
          <a:p>
            <a:pPr marL="342900" indent="-342900">
              <a:spcAft>
                <a:spcPts val="800"/>
              </a:spcAft>
              <a:buSzPct val="100000"/>
              <a:buChar char="•"/>
            </a:pPr>
            <a:r>
              <a:rPr lang="en-US" sz="1600" dirty="0">
                <a:solidFill>
                  <a:srgbClr val="C8C8C8"/>
                </a:solidFill>
                <a:latin typeface="Times New Roman" pitchFamily="34" charset="0"/>
                <a:ea typeface="Times New Roman" pitchFamily="34" charset="-122"/>
                <a:cs typeface="Times New Roman" pitchFamily="34" charset="-120"/>
              </a:rPr>
              <a:t>Expired exceptions left active — never revoked</a:t>
            </a:r>
            <a:endParaRPr lang="en-US" sz="1600" dirty="0"/>
          </a:p>
          <a:p>
            <a:pPr marL="342900" indent="-342900">
              <a:spcAft>
                <a:spcPts val="800"/>
              </a:spcAft>
              <a:buSzPct val="100000"/>
              <a:buChar char="•"/>
            </a:pPr>
            <a:r>
              <a:rPr lang="en-US" sz="1600" dirty="0">
                <a:solidFill>
                  <a:srgbClr val="C8C8C8"/>
                </a:solidFill>
                <a:latin typeface="Times New Roman" pitchFamily="34" charset="0"/>
                <a:ea typeface="Times New Roman" pitchFamily="34" charset="-122"/>
                <a:cs typeface="Times New Roman" pitchFamily="34" charset="-120"/>
              </a:rPr>
              <a:t>No central visibility for security teams or auditors</a:t>
            </a:r>
            <a:endParaRPr lang="en-US" sz="1600" dirty="0"/>
          </a:p>
          <a:p>
            <a:pPr marL="342900" indent="-342900">
              <a:spcAft>
                <a:spcPts val="800"/>
              </a:spcAft>
              <a:buSzPct val="100000"/>
              <a:buChar char="•"/>
            </a:pPr>
            <a:r>
              <a:rPr lang="en-US" sz="1600" dirty="0">
                <a:solidFill>
                  <a:srgbClr val="C8C8C8"/>
                </a:solidFill>
                <a:latin typeface="Times New Roman" pitchFamily="34" charset="0"/>
                <a:ea typeface="Times New Roman" pitchFamily="34" charset="-122"/>
                <a:cs typeface="Times New Roman" pitchFamily="34" charset="-120"/>
              </a:rPr>
              <a:t>Access granted "temporarily" becomes permanent without review</a:t>
            </a:r>
            <a:endParaRPr lang="en-US" sz="1600" dirty="0"/>
          </a:p>
          <a:p>
            <a:pPr marL="342900" indent="-342900">
              <a:spcAft>
                <a:spcPts val="800"/>
              </a:spcAft>
              <a:buSzPct val="100000"/>
              <a:buChar char="•"/>
            </a:pPr>
            <a:r>
              <a:rPr lang="en-US" sz="1600" dirty="0">
                <a:solidFill>
                  <a:srgbClr val="C8C8C8"/>
                </a:solidFill>
                <a:latin typeface="Times New Roman" pitchFamily="34" charset="0"/>
                <a:ea typeface="Times New Roman" pitchFamily="34" charset="-122"/>
                <a:cs typeface="Times New Roman" pitchFamily="34" charset="-120"/>
              </a:rPr>
              <a:t>Hidden attack paths grow where exceptions are forgotten</a:t>
            </a:r>
            <a:endParaRPr lang="en-US" sz="1600" dirty="0"/>
          </a:p>
        </p:txBody>
      </p:sp>
      <p:sp>
        <p:nvSpPr>
          <p:cNvPr id="10" name="Shape 8"/>
          <p:cNvSpPr/>
          <p:nvPr/>
        </p:nvSpPr>
        <p:spPr>
          <a:xfrm>
            <a:off x="5669280" y="658368"/>
            <a:ext cx="3108960" cy="1261872"/>
          </a:xfrm>
          <a:prstGeom prst="rect">
            <a:avLst/>
          </a:prstGeom>
          <a:solidFill>
            <a:srgbClr val="141414"/>
          </a:solidFill>
          <a:ln w="12700">
            <a:solidFill>
              <a:srgbClr val="E84040"/>
            </a:solidFill>
            <a:prstDash val="solid"/>
          </a:ln>
          <a:effectLst>
            <a:outerShdw blurRad="127000" dist="38100" dir="8100000" algn="bl" rotWithShape="0">
              <a:srgbClr val="000000">
                <a:alpha val="45000"/>
              </a:srgbClr>
            </a:outerShdw>
          </a:effectLst>
        </p:spPr>
      </p:sp>
      <p:sp>
        <p:nvSpPr>
          <p:cNvPr id="11" name="Text 9"/>
          <p:cNvSpPr/>
          <p:nvPr/>
        </p:nvSpPr>
        <p:spPr>
          <a:xfrm>
            <a:off x="5806440" y="749808"/>
            <a:ext cx="2834640" cy="347472"/>
          </a:xfrm>
          <a:prstGeom prst="rect">
            <a:avLst/>
          </a:prstGeom>
          <a:noFill/>
          <a:ln/>
        </p:spPr>
        <p:txBody>
          <a:bodyPr wrap="square" lIns="0" tIns="0" rIns="0" bIns="0" rtlCol="0" anchor="ctr"/>
          <a:lstStyle/>
          <a:p>
            <a:pPr marL="0" indent="0">
              <a:buNone/>
            </a:pPr>
            <a:r>
              <a:rPr lang="en-US" sz="1500" b="1" dirty="0">
                <a:solidFill>
                  <a:srgbClr val="E84040"/>
                </a:solidFill>
                <a:latin typeface="Times New Roman" pitchFamily="34" charset="0"/>
                <a:ea typeface="Times New Roman" pitchFamily="34" charset="-122"/>
                <a:cs typeface="Times New Roman" pitchFamily="34" charset="-120"/>
              </a:rPr>
              <a:t>⚠  Audit Risk</a:t>
            </a:r>
            <a:endParaRPr lang="en-US" sz="1500" dirty="0"/>
          </a:p>
        </p:txBody>
      </p:sp>
      <p:sp>
        <p:nvSpPr>
          <p:cNvPr id="12" name="Text 10"/>
          <p:cNvSpPr/>
          <p:nvPr/>
        </p:nvSpPr>
        <p:spPr>
          <a:xfrm>
            <a:off x="5806440" y="1133856"/>
            <a:ext cx="2834640" cy="594360"/>
          </a:xfrm>
          <a:prstGeom prst="rect">
            <a:avLst/>
          </a:prstGeom>
          <a:noFill/>
          <a:ln/>
        </p:spPr>
        <p:txBody>
          <a:bodyPr wrap="square" lIns="0" tIns="0" rIns="0" bIns="0" rtlCol="0" anchor="ctr"/>
          <a:lstStyle/>
          <a:p>
            <a:pPr marL="0" indent="0">
              <a:buNone/>
            </a:pPr>
            <a:r>
              <a:rPr lang="en-US" sz="1400" dirty="0">
                <a:solidFill>
                  <a:srgbClr val="C8C8C8"/>
                </a:solidFill>
                <a:latin typeface="Times New Roman" pitchFamily="34" charset="0"/>
                <a:ea typeface="Times New Roman" pitchFamily="34" charset="-122"/>
                <a:cs typeface="Times New Roman" pitchFamily="34" charset="-120"/>
              </a:rPr>
              <a:t>No evidence trail for expired exceptions</a:t>
            </a:r>
            <a:endParaRPr lang="en-US" sz="1400" dirty="0"/>
          </a:p>
        </p:txBody>
      </p:sp>
      <p:sp>
        <p:nvSpPr>
          <p:cNvPr id="13" name="Shape 11"/>
          <p:cNvSpPr/>
          <p:nvPr/>
        </p:nvSpPr>
        <p:spPr>
          <a:xfrm>
            <a:off x="5669280" y="2048256"/>
            <a:ext cx="3108960" cy="1261872"/>
          </a:xfrm>
          <a:prstGeom prst="rect">
            <a:avLst/>
          </a:prstGeom>
          <a:solidFill>
            <a:srgbClr val="141414"/>
          </a:solidFill>
          <a:ln w="12700">
            <a:solidFill>
              <a:srgbClr val="E84040"/>
            </a:solidFill>
            <a:prstDash val="solid"/>
          </a:ln>
          <a:effectLst>
            <a:outerShdw blurRad="127000" dist="38100" dir="8100000" algn="bl" rotWithShape="0">
              <a:srgbClr val="000000">
                <a:alpha val="45000"/>
              </a:srgbClr>
            </a:outerShdw>
          </a:effectLst>
        </p:spPr>
      </p:sp>
      <p:sp>
        <p:nvSpPr>
          <p:cNvPr id="14" name="Text 12"/>
          <p:cNvSpPr/>
          <p:nvPr/>
        </p:nvSpPr>
        <p:spPr>
          <a:xfrm>
            <a:off x="5806440" y="2139696"/>
            <a:ext cx="2834640" cy="347472"/>
          </a:xfrm>
          <a:prstGeom prst="rect">
            <a:avLst/>
          </a:prstGeom>
          <a:noFill/>
          <a:ln/>
        </p:spPr>
        <p:txBody>
          <a:bodyPr wrap="square" lIns="0" tIns="0" rIns="0" bIns="0" rtlCol="0" anchor="ctr"/>
          <a:lstStyle/>
          <a:p>
            <a:pPr marL="0" indent="0">
              <a:buNone/>
            </a:pPr>
            <a:r>
              <a:rPr lang="en-US" sz="1500" b="1" dirty="0">
                <a:solidFill>
                  <a:srgbClr val="E84040"/>
                </a:solidFill>
                <a:latin typeface="Times New Roman" pitchFamily="34" charset="0"/>
                <a:ea typeface="Times New Roman" pitchFamily="34" charset="-122"/>
                <a:cs typeface="Times New Roman" pitchFamily="34" charset="-120"/>
              </a:rPr>
              <a:t>🔓  Security Gaps</a:t>
            </a:r>
            <a:endParaRPr lang="en-US" sz="1500" dirty="0"/>
          </a:p>
        </p:txBody>
      </p:sp>
      <p:sp>
        <p:nvSpPr>
          <p:cNvPr id="15" name="Text 13"/>
          <p:cNvSpPr/>
          <p:nvPr/>
        </p:nvSpPr>
        <p:spPr>
          <a:xfrm>
            <a:off x="5806440" y="2523744"/>
            <a:ext cx="2834640" cy="594360"/>
          </a:xfrm>
          <a:prstGeom prst="rect">
            <a:avLst/>
          </a:prstGeom>
          <a:noFill/>
          <a:ln/>
        </p:spPr>
        <p:txBody>
          <a:bodyPr wrap="square" lIns="0" tIns="0" rIns="0" bIns="0" rtlCol="0" anchor="ctr"/>
          <a:lstStyle/>
          <a:p>
            <a:pPr marL="0" indent="0">
              <a:buNone/>
            </a:pPr>
            <a:r>
              <a:rPr lang="en-US" sz="1400" dirty="0">
                <a:solidFill>
                  <a:srgbClr val="C8C8C8"/>
                </a:solidFill>
                <a:latin typeface="Times New Roman" pitchFamily="34" charset="0"/>
                <a:ea typeface="Times New Roman" pitchFamily="34" charset="-122"/>
                <a:cs typeface="Times New Roman" pitchFamily="34" charset="-120"/>
              </a:rPr>
              <a:t>Expired firewall &amp; access exceptions still active</a:t>
            </a:r>
            <a:endParaRPr lang="en-US" sz="1400" dirty="0"/>
          </a:p>
        </p:txBody>
      </p:sp>
      <p:sp>
        <p:nvSpPr>
          <p:cNvPr id="16" name="Shape 14"/>
          <p:cNvSpPr/>
          <p:nvPr/>
        </p:nvSpPr>
        <p:spPr>
          <a:xfrm>
            <a:off x="5669280" y="3438144"/>
            <a:ext cx="3108960" cy="1261872"/>
          </a:xfrm>
          <a:prstGeom prst="rect">
            <a:avLst/>
          </a:prstGeom>
          <a:solidFill>
            <a:srgbClr val="141414"/>
          </a:solidFill>
          <a:ln w="12700">
            <a:solidFill>
              <a:srgbClr val="E84040"/>
            </a:solidFill>
            <a:prstDash val="solid"/>
          </a:ln>
          <a:effectLst>
            <a:outerShdw blurRad="127000" dist="38100" dir="8100000" algn="bl" rotWithShape="0">
              <a:srgbClr val="000000">
                <a:alpha val="45000"/>
              </a:srgbClr>
            </a:outerShdw>
          </a:effectLst>
        </p:spPr>
      </p:sp>
      <p:sp>
        <p:nvSpPr>
          <p:cNvPr id="17" name="Text 15"/>
          <p:cNvSpPr/>
          <p:nvPr/>
        </p:nvSpPr>
        <p:spPr>
          <a:xfrm>
            <a:off x="5806440" y="3529584"/>
            <a:ext cx="2834640" cy="347472"/>
          </a:xfrm>
          <a:prstGeom prst="rect">
            <a:avLst/>
          </a:prstGeom>
          <a:noFill/>
          <a:ln/>
        </p:spPr>
        <p:txBody>
          <a:bodyPr wrap="square" lIns="0" tIns="0" rIns="0" bIns="0" rtlCol="0" anchor="ctr"/>
          <a:lstStyle/>
          <a:p>
            <a:pPr marL="0" indent="0">
              <a:buNone/>
            </a:pPr>
            <a:r>
              <a:rPr lang="en-US" sz="1500" b="1" dirty="0">
                <a:solidFill>
                  <a:srgbClr val="E84040"/>
                </a:solidFill>
                <a:latin typeface="Times New Roman" pitchFamily="34" charset="0"/>
                <a:ea typeface="Times New Roman" pitchFamily="34" charset="-122"/>
                <a:cs typeface="Times New Roman" pitchFamily="34" charset="-120"/>
              </a:rPr>
              <a:t>📋  Compliance Drift</a:t>
            </a:r>
            <a:endParaRPr lang="en-US" sz="1500" dirty="0"/>
          </a:p>
        </p:txBody>
      </p:sp>
      <p:sp>
        <p:nvSpPr>
          <p:cNvPr id="18" name="Text 16"/>
          <p:cNvSpPr/>
          <p:nvPr/>
        </p:nvSpPr>
        <p:spPr>
          <a:xfrm>
            <a:off x="5806440" y="3913632"/>
            <a:ext cx="2834640" cy="594360"/>
          </a:xfrm>
          <a:prstGeom prst="rect">
            <a:avLst/>
          </a:prstGeom>
          <a:noFill/>
          <a:ln/>
        </p:spPr>
        <p:txBody>
          <a:bodyPr wrap="square" lIns="0" tIns="0" rIns="0" bIns="0" rtlCol="0" anchor="ctr"/>
          <a:lstStyle/>
          <a:p>
            <a:pPr marL="0" indent="0">
              <a:buNone/>
            </a:pPr>
            <a:r>
              <a:rPr lang="en-US" sz="1400" dirty="0">
                <a:solidFill>
                  <a:srgbClr val="C8C8C8"/>
                </a:solidFill>
                <a:latin typeface="Times New Roman" pitchFamily="34" charset="0"/>
                <a:ea typeface="Times New Roman" pitchFamily="34" charset="-122"/>
                <a:cs typeface="Times New Roman" pitchFamily="34" charset="-120"/>
              </a:rPr>
              <a:t>Policies waived without proper justification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6E0000"/>
          </a:solidFill>
          <a:ln w="12700">
            <a:solidFill>
              <a:srgbClr val="6E0000"/>
            </a:solidFill>
            <a:prstDash val="solid"/>
          </a:ln>
        </p:spPr>
      </p:sp>
      <p:sp>
        <p:nvSpPr>
          <p:cNvPr id="3" name="Shape 1"/>
          <p:cNvSpPr/>
          <p:nvPr/>
        </p:nvSpPr>
        <p:spPr>
          <a:xfrm>
            <a:off x="0" y="4983480"/>
            <a:ext cx="9144000" cy="160020"/>
          </a:xfrm>
          <a:prstGeom prst="rect">
            <a:avLst/>
          </a:prstGeom>
          <a:solidFill>
            <a:srgbClr val="6E0000"/>
          </a:solidFill>
          <a:ln w="12700">
            <a:solidFill>
              <a:srgbClr val="6E0000"/>
            </a:solidFill>
            <a:prstDash val="solid"/>
          </a:ln>
        </p:spPr>
      </p:sp>
      <p:sp>
        <p:nvSpPr>
          <p:cNvPr id="4" name="Text 2"/>
          <p:cNvSpPr/>
          <p:nvPr/>
        </p:nvSpPr>
        <p:spPr>
          <a:xfrm>
            <a:off x="365760" y="64008"/>
            <a:ext cx="7863840" cy="438912"/>
          </a:xfrm>
          <a:prstGeom prst="rect">
            <a:avLst/>
          </a:prstGeom>
          <a:noFill/>
          <a:ln/>
        </p:spPr>
        <p:txBody>
          <a:bodyPr wrap="square" lIns="0" tIns="0" rIns="0" bIns="0" rtlCol="0" anchor="ctr"/>
          <a:lstStyle/>
          <a:p>
            <a:pPr marL="0" indent="0">
              <a:buNone/>
            </a:pPr>
            <a:r>
              <a:rPr lang="en-US" sz="2100" b="1" dirty="0">
                <a:solidFill>
                  <a:srgbClr val="FFFFFF"/>
                </a:solidFill>
                <a:latin typeface="Times New Roman" pitchFamily="34" charset="0"/>
                <a:ea typeface="Times New Roman" pitchFamily="34" charset="-122"/>
                <a:cs typeface="Times New Roman" pitchFamily="34" charset="-120"/>
              </a:rPr>
              <a:t>Risk Scenarios — What Goes Wrong Without GRC Control</a:t>
            </a:r>
            <a:endParaRPr lang="en-US" sz="2100" dirty="0"/>
          </a:p>
        </p:txBody>
      </p:sp>
      <p:sp>
        <p:nvSpPr>
          <p:cNvPr id="5" name="Text 3"/>
          <p:cNvSpPr/>
          <p:nvPr/>
        </p:nvSpPr>
        <p:spPr>
          <a:xfrm>
            <a:off x="7955280" y="64008"/>
            <a:ext cx="914400" cy="438912"/>
          </a:xfrm>
          <a:prstGeom prst="rect">
            <a:avLst/>
          </a:prstGeom>
          <a:noFill/>
          <a:ln/>
        </p:spPr>
        <p:txBody>
          <a:bodyPr wrap="square" lIns="0" tIns="0" rIns="0" bIns="0" rtlCol="0" anchor="ctr"/>
          <a:lstStyle/>
          <a:p>
            <a:pPr marL="0" indent="0" algn="r">
              <a:buNone/>
            </a:pPr>
            <a:r>
              <a:rPr lang="en-US" sz="1100" dirty="0">
                <a:solidFill>
                  <a:srgbClr val="C8C8C8"/>
                </a:solidFill>
                <a:latin typeface="Times New Roman" pitchFamily="34" charset="0"/>
                <a:ea typeface="Times New Roman" pitchFamily="34" charset="-122"/>
                <a:cs typeface="Times New Roman" pitchFamily="34" charset="-120"/>
              </a:rPr>
              <a:t>3/12</a:t>
            </a:r>
            <a:endParaRPr lang="en-US" sz="1100" dirty="0"/>
          </a:p>
        </p:txBody>
      </p:sp>
      <p:sp>
        <p:nvSpPr>
          <p:cNvPr id="6" name="Text 4"/>
          <p:cNvSpPr/>
          <p:nvPr/>
        </p:nvSpPr>
        <p:spPr>
          <a:xfrm>
            <a:off x="365760" y="4983480"/>
            <a:ext cx="8412480" cy="160020"/>
          </a:xfrm>
          <a:prstGeom prst="rect">
            <a:avLst/>
          </a:prstGeom>
          <a:noFill/>
          <a:ln/>
        </p:spPr>
        <p:txBody>
          <a:bodyPr wrap="square" lIns="0" tIns="0" rIns="0" bIns="0" rtlCol="0" anchor="ctr"/>
          <a:lstStyle/>
          <a:p>
            <a:pPr marL="0" indent="0">
              <a:buNone/>
            </a:pPr>
            <a:r>
              <a:rPr lang="en-US" sz="800" dirty="0">
                <a:solidFill>
                  <a:srgbClr val="C8C8C8"/>
                </a:solidFill>
                <a:latin typeface="Times New Roman" pitchFamily="34" charset="0"/>
                <a:ea typeface="Times New Roman" pitchFamily="34" charset="-122"/>
                <a:cs typeface="Times New Roman" pitchFamily="34" charset="-120"/>
              </a:rPr>
              <a:t>RiskWaiver360  ·  GRC Exception &amp; Policy Waiver Management  ·  RVCE 2026</a:t>
            </a:r>
            <a:endParaRPr lang="en-US" sz="800" dirty="0"/>
          </a:p>
        </p:txBody>
      </p:sp>
      <p:sp>
        <p:nvSpPr>
          <p:cNvPr id="7" name="Shape 5"/>
          <p:cNvSpPr/>
          <p:nvPr/>
        </p:nvSpPr>
        <p:spPr>
          <a:xfrm>
            <a:off x="228600" y="658368"/>
            <a:ext cx="2788920" cy="1920240"/>
          </a:xfrm>
          <a:prstGeom prst="rect">
            <a:avLst/>
          </a:prstGeom>
          <a:solidFill>
            <a:srgbClr val="141414"/>
          </a:solidFill>
          <a:ln w="15240">
            <a:solidFill>
              <a:srgbClr val="C41010"/>
            </a:solidFill>
            <a:prstDash val="solid"/>
          </a:ln>
          <a:effectLst>
            <a:outerShdw blurRad="127000" dist="38100" dir="8100000" algn="bl" rotWithShape="0">
              <a:srgbClr val="000000">
                <a:alpha val="45000"/>
              </a:srgbClr>
            </a:outerShdw>
          </a:effectLst>
        </p:spPr>
      </p:sp>
      <p:sp>
        <p:nvSpPr>
          <p:cNvPr id="8" name="Shape 6"/>
          <p:cNvSpPr/>
          <p:nvPr/>
        </p:nvSpPr>
        <p:spPr>
          <a:xfrm>
            <a:off x="228600" y="658368"/>
            <a:ext cx="438912" cy="438912"/>
          </a:xfrm>
          <a:prstGeom prst="rect">
            <a:avLst/>
          </a:prstGeom>
          <a:solidFill>
            <a:srgbClr val="C41010"/>
          </a:solidFill>
          <a:ln w="12700">
            <a:solidFill>
              <a:srgbClr val="C41010"/>
            </a:solidFill>
            <a:prstDash val="solid"/>
          </a:ln>
        </p:spPr>
      </p:sp>
      <p:sp>
        <p:nvSpPr>
          <p:cNvPr id="9" name="Text 7"/>
          <p:cNvSpPr/>
          <p:nvPr/>
        </p:nvSpPr>
        <p:spPr>
          <a:xfrm>
            <a:off x="228600" y="658368"/>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01</a:t>
            </a:r>
            <a:endParaRPr lang="en-US" sz="1400" dirty="0"/>
          </a:p>
        </p:txBody>
      </p:sp>
      <p:sp>
        <p:nvSpPr>
          <p:cNvPr id="10" name="Text 8"/>
          <p:cNvSpPr/>
          <p:nvPr/>
        </p:nvSpPr>
        <p:spPr>
          <a:xfrm>
            <a:off x="301752" y="1161288"/>
            <a:ext cx="2642616" cy="438912"/>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itchFamily="34" charset="0"/>
                <a:ea typeface="Times New Roman" pitchFamily="34" charset="-122"/>
                <a:cs typeface="Times New Roman" pitchFamily="34" charset="-120"/>
              </a:rPr>
              <a:t>Orphaned Access</a:t>
            </a:r>
            <a:endParaRPr lang="en-US" sz="1400" dirty="0"/>
          </a:p>
        </p:txBody>
      </p:sp>
      <p:sp>
        <p:nvSpPr>
          <p:cNvPr id="11" name="Text 9"/>
          <p:cNvSpPr/>
          <p:nvPr/>
        </p:nvSpPr>
        <p:spPr>
          <a:xfrm>
            <a:off x="301752" y="1618488"/>
            <a:ext cx="2642616" cy="841248"/>
          </a:xfrm>
          <a:prstGeom prst="rect">
            <a:avLst/>
          </a:prstGeom>
          <a:noFill/>
          <a:ln/>
        </p:spPr>
        <p:txBody>
          <a:bodyPr wrap="square" lIns="0" tIns="0" rIns="0" bIns="0" rtlCol="0" anchor="ctr"/>
          <a:lstStyle/>
          <a:p>
            <a:pPr marL="0" indent="0">
              <a:buNone/>
            </a:pPr>
            <a:r>
              <a:rPr lang="en-US" sz="1400" dirty="0">
                <a:solidFill>
                  <a:srgbClr val="C8C8C8"/>
                </a:solidFill>
                <a:latin typeface="Times New Roman" pitchFamily="34" charset="0"/>
                <a:ea typeface="Times New Roman" pitchFamily="34" charset="-122"/>
                <a:cs typeface="Times New Roman" pitchFamily="34" charset="-120"/>
              </a:rPr>
              <a:t>User left the org — access exception never revoked. Account remains open</a:t>
            </a:r>
            <a:r>
              <a:rPr lang="en-US" sz="1100" dirty="0">
                <a:solidFill>
                  <a:srgbClr val="C8C8C8"/>
                </a:solidFill>
                <a:latin typeface="Times New Roman" pitchFamily="34" charset="0"/>
                <a:ea typeface="Times New Roman" pitchFamily="34" charset="-122"/>
                <a:cs typeface="Times New Roman" pitchFamily="34" charset="-120"/>
              </a:rPr>
              <a:t>.</a:t>
            </a:r>
            <a:endParaRPr lang="en-US" sz="1100" dirty="0"/>
          </a:p>
        </p:txBody>
      </p:sp>
      <p:sp>
        <p:nvSpPr>
          <p:cNvPr id="12" name="Shape 10"/>
          <p:cNvSpPr/>
          <p:nvPr/>
        </p:nvSpPr>
        <p:spPr>
          <a:xfrm>
            <a:off x="3200400" y="658368"/>
            <a:ext cx="2788920" cy="1920240"/>
          </a:xfrm>
          <a:prstGeom prst="rect">
            <a:avLst/>
          </a:prstGeom>
          <a:solidFill>
            <a:srgbClr val="141414"/>
          </a:solidFill>
          <a:ln w="15240">
            <a:solidFill>
              <a:srgbClr val="C41010"/>
            </a:solidFill>
            <a:prstDash val="solid"/>
          </a:ln>
          <a:effectLst>
            <a:outerShdw blurRad="127000" dist="38100" dir="8100000" algn="bl" rotWithShape="0">
              <a:srgbClr val="000000">
                <a:alpha val="45000"/>
              </a:srgbClr>
            </a:outerShdw>
          </a:effectLst>
        </p:spPr>
      </p:sp>
      <p:sp>
        <p:nvSpPr>
          <p:cNvPr id="13" name="Shape 11"/>
          <p:cNvSpPr/>
          <p:nvPr/>
        </p:nvSpPr>
        <p:spPr>
          <a:xfrm>
            <a:off x="3200400" y="658368"/>
            <a:ext cx="438912" cy="438912"/>
          </a:xfrm>
          <a:prstGeom prst="rect">
            <a:avLst/>
          </a:prstGeom>
          <a:solidFill>
            <a:srgbClr val="C41010"/>
          </a:solidFill>
          <a:ln w="12700">
            <a:solidFill>
              <a:srgbClr val="C41010"/>
            </a:solidFill>
            <a:prstDash val="solid"/>
          </a:ln>
        </p:spPr>
      </p:sp>
      <p:sp>
        <p:nvSpPr>
          <p:cNvPr id="14" name="Text 12"/>
          <p:cNvSpPr/>
          <p:nvPr/>
        </p:nvSpPr>
        <p:spPr>
          <a:xfrm>
            <a:off x="3200400" y="658368"/>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02</a:t>
            </a:r>
            <a:endParaRPr lang="en-US" sz="1400" dirty="0"/>
          </a:p>
        </p:txBody>
      </p:sp>
      <p:sp>
        <p:nvSpPr>
          <p:cNvPr id="15" name="Text 13"/>
          <p:cNvSpPr/>
          <p:nvPr/>
        </p:nvSpPr>
        <p:spPr>
          <a:xfrm>
            <a:off x="3273552" y="1161288"/>
            <a:ext cx="2642616" cy="438912"/>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itchFamily="34" charset="0"/>
                <a:ea typeface="Times New Roman" pitchFamily="34" charset="-122"/>
                <a:cs typeface="Times New Roman" pitchFamily="34" charset="-120"/>
              </a:rPr>
              <a:t>Overlapping Waivers</a:t>
            </a:r>
            <a:endParaRPr lang="en-US" sz="1400" dirty="0"/>
          </a:p>
        </p:txBody>
      </p:sp>
      <p:sp>
        <p:nvSpPr>
          <p:cNvPr id="16" name="Text 14"/>
          <p:cNvSpPr/>
          <p:nvPr/>
        </p:nvSpPr>
        <p:spPr>
          <a:xfrm>
            <a:off x="3273552" y="1618488"/>
            <a:ext cx="2642616" cy="841248"/>
          </a:xfrm>
          <a:prstGeom prst="rect">
            <a:avLst/>
          </a:prstGeom>
          <a:noFill/>
          <a:ln/>
        </p:spPr>
        <p:txBody>
          <a:bodyPr wrap="square" lIns="0" tIns="0" rIns="0" bIns="0" rtlCol="0" anchor="ctr"/>
          <a:lstStyle/>
          <a:p>
            <a:pPr marL="0" indent="0">
              <a:buNone/>
            </a:pPr>
            <a:r>
              <a:rPr lang="en-US" sz="1400" dirty="0">
                <a:solidFill>
                  <a:srgbClr val="C8C8C8"/>
                </a:solidFill>
                <a:latin typeface="Times New Roman" pitchFamily="34" charset="0"/>
                <a:ea typeface="Times New Roman" pitchFamily="34" charset="-122"/>
                <a:cs typeface="Times New Roman" pitchFamily="34" charset="-120"/>
              </a:rPr>
              <a:t>Two exceptions approved for the same asset and policy. No one noticed</a:t>
            </a:r>
            <a:r>
              <a:rPr lang="en-US" sz="1100" dirty="0">
                <a:solidFill>
                  <a:srgbClr val="C8C8C8"/>
                </a:solidFill>
                <a:latin typeface="Times New Roman" pitchFamily="34" charset="0"/>
                <a:ea typeface="Times New Roman" pitchFamily="34" charset="-122"/>
                <a:cs typeface="Times New Roman" pitchFamily="34" charset="-120"/>
              </a:rPr>
              <a:t>.</a:t>
            </a:r>
            <a:endParaRPr lang="en-US" sz="1100" dirty="0"/>
          </a:p>
        </p:txBody>
      </p:sp>
      <p:sp>
        <p:nvSpPr>
          <p:cNvPr id="17" name="Shape 15"/>
          <p:cNvSpPr/>
          <p:nvPr/>
        </p:nvSpPr>
        <p:spPr>
          <a:xfrm>
            <a:off x="6172200" y="658368"/>
            <a:ext cx="2788920" cy="1920240"/>
          </a:xfrm>
          <a:prstGeom prst="rect">
            <a:avLst/>
          </a:prstGeom>
          <a:solidFill>
            <a:srgbClr val="141414"/>
          </a:solidFill>
          <a:ln w="15240">
            <a:solidFill>
              <a:srgbClr val="C41010"/>
            </a:solidFill>
            <a:prstDash val="solid"/>
          </a:ln>
          <a:effectLst>
            <a:outerShdw blurRad="127000" dist="38100" dir="8100000" algn="bl" rotWithShape="0">
              <a:srgbClr val="000000">
                <a:alpha val="45000"/>
              </a:srgbClr>
            </a:outerShdw>
          </a:effectLst>
        </p:spPr>
      </p:sp>
      <p:sp>
        <p:nvSpPr>
          <p:cNvPr id="18" name="Shape 16"/>
          <p:cNvSpPr/>
          <p:nvPr/>
        </p:nvSpPr>
        <p:spPr>
          <a:xfrm>
            <a:off x="6172200" y="658368"/>
            <a:ext cx="438912" cy="438912"/>
          </a:xfrm>
          <a:prstGeom prst="rect">
            <a:avLst/>
          </a:prstGeom>
          <a:solidFill>
            <a:srgbClr val="C41010"/>
          </a:solidFill>
          <a:ln w="12700">
            <a:solidFill>
              <a:srgbClr val="C41010"/>
            </a:solidFill>
            <a:prstDash val="solid"/>
          </a:ln>
        </p:spPr>
      </p:sp>
      <p:sp>
        <p:nvSpPr>
          <p:cNvPr id="19" name="Text 17"/>
          <p:cNvSpPr/>
          <p:nvPr/>
        </p:nvSpPr>
        <p:spPr>
          <a:xfrm>
            <a:off x="6172200" y="658368"/>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03</a:t>
            </a:r>
            <a:endParaRPr lang="en-US" sz="1400" dirty="0"/>
          </a:p>
        </p:txBody>
      </p:sp>
      <p:sp>
        <p:nvSpPr>
          <p:cNvPr id="20" name="Text 18"/>
          <p:cNvSpPr/>
          <p:nvPr/>
        </p:nvSpPr>
        <p:spPr>
          <a:xfrm>
            <a:off x="6245352" y="1161288"/>
            <a:ext cx="2642616" cy="438912"/>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itchFamily="34" charset="0"/>
                <a:ea typeface="Times New Roman" pitchFamily="34" charset="-122"/>
                <a:cs typeface="Times New Roman" pitchFamily="34" charset="-120"/>
              </a:rPr>
              <a:t>Conflicting Approvals</a:t>
            </a:r>
            <a:endParaRPr lang="en-US" sz="1400" dirty="0"/>
          </a:p>
        </p:txBody>
      </p:sp>
      <p:sp>
        <p:nvSpPr>
          <p:cNvPr id="21" name="Text 19"/>
          <p:cNvSpPr/>
          <p:nvPr/>
        </p:nvSpPr>
        <p:spPr>
          <a:xfrm>
            <a:off x="6245352" y="1618488"/>
            <a:ext cx="2642616" cy="841248"/>
          </a:xfrm>
          <a:prstGeom prst="rect">
            <a:avLst/>
          </a:prstGeom>
          <a:noFill/>
          <a:ln/>
        </p:spPr>
        <p:txBody>
          <a:bodyPr wrap="square" lIns="0" tIns="0" rIns="0" bIns="0" rtlCol="0" anchor="ctr"/>
          <a:lstStyle/>
          <a:p>
            <a:pPr marL="0" indent="0">
              <a:buNone/>
            </a:pPr>
            <a:r>
              <a:rPr lang="en-US" sz="1400" dirty="0">
                <a:solidFill>
                  <a:srgbClr val="C8C8C8"/>
                </a:solidFill>
                <a:latin typeface="Times New Roman" pitchFamily="34" charset="0"/>
                <a:ea typeface="Times New Roman" pitchFamily="34" charset="-122"/>
                <a:cs typeface="Times New Roman" pitchFamily="34" charset="-120"/>
              </a:rPr>
              <a:t>One approver approved; another rejected. System shows both records</a:t>
            </a:r>
            <a:r>
              <a:rPr lang="en-US" sz="1100" dirty="0">
                <a:solidFill>
                  <a:srgbClr val="C8C8C8"/>
                </a:solidFill>
                <a:latin typeface="Times New Roman" pitchFamily="34" charset="0"/>
                <a:ea typeface="Times New Roman" pitchFamily="34" charset="-122"/>
                <a:cs typeface="Times New Roman" pitchFamily="34" charset="-120"/>
              </a:rPr>
              <a:t>.</a:t>
            </a:r>
            <a:endParaRPr lang="en-US" sz="1100" dirty="0"/>
          </a:p>
        </p:txBody>
      </p:sp>
      <p:sp>
        <p:nvSpPr>
          <p:cNvPr id="22" name="Shape 20"/>
          <p:cNvSpPr/>
          <p:nvPr/>
        </p:nvSpPr>
        <p:spPr>
          <a:xfrm>
            <a:off x="228600" y="2761488"/>
            <a:ext cx="2788920" cy="1920240"/>
          </a:xfrm>
          <a:prstGeom prst="rect">
            <a:avLst/>
          </a:prstGeom>
          <a:solidFill>
            <a:srgbClr val="141414"/>
          </a:solidFill>
          <a:ln w="15240">
            <a:solidFill>
              <a:srgbClr val="C41010"/>
            </a:solidFill>
            <a:prstDash val="solid"/>
          </a:ln>
          <a:effectLst>
            <a:outerShdw blurRad="127000" dist="38100" dir="8100000" algn="bl" rotWithShape="0">
              <a:srgbClr val="000000">
                <a:alpha val="45000"/>
              </a:srgbClr>
            </a:outerShdw>
          </a:effectLst>
        </p:spPr>
      </p:sp>
      <p:sp>
        <p:nvSpPr>
          <p:cNvPr id="23" name="Shape 21"/>
          <p:cNvSpPr/>
          <p:nvPr/>
        </p:nvSpPr>
        <p:spPr>
          <a:xfrm>
            <a:off x="228600" y="2761488"/>
            <a:ext cx="438912" cy="438912"/>
          </a:xfrm>
          <a:prstGeom prst="rect">
            <a:avLst/>
          </a:prstGeom>
          <a:solidFill>
            <a:srgbClr val="C41010"/>
          </a:solidFill>
          <a:ln w="12700">
            <a:solidFill>
              <a:srgbClr val="C41010"/>
            </a:solidFill>
            <a:prstDash val="solid"/>
          </a:ln>
        </p:spPr>
      </p:sp>
      <p:sp>
        <p:nvSpPr>
          <p:cNvPr id="24" name="Text 22"/>
          <p:cNvSpPr/>
          <p:nvPr/>
        </p:nvSpPr>
        <p:spPr>
          <a:xfrm>
            <a:off x="228600" y="2761488"/>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04</a:t>
            </a:r>
            <a:endParaRPr lang="en-US" sz="1400" dirty="0"/>
          </a:p>
        </p:txBody>
      </p:sp>
      <p:sp>
        <p:nvSpPr>
          <p:cNvPr id="25" name="Text 23"/>
          <p:cNvSpPr/>
          <p:nvPr/>
        </p:nvSpPr>
        <p:spPr>
          <a:xfrm>
            <a:off x="301752" y="3264408"/>
            <a:ext cx="2642616" cy="438912"/>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itchFamily="34" charset="0"/>
                <a:ea typeface="Times New Roman" pitchFamily="34" charset="-122"/>
                <a:cs typeface="Times New Roman" pitchFamily="34" charset="-120"/>
              </a:rPr>
              <a:t>Long-Running Temp Access</a:t>
            </a:r>
            <a:endParaRPr lang="en-US" sz="1400" dirty="0"/>
          </a:p>
        </p:txBody>
      </p:sp>
      <p:sp>
        <p:nvSpPr>
          <p:cNvPr id="26" name="Text 24"/>
          <p:cNvSpPr/>
          <p:nvPr/>
        </p:nvSpPr>
        <p:spPr>
          <a:xfrm>
            <a:off x="301752" y="3721608"/>
            <a:ext cx="2642616" cy="841248"/>
          </a:xfrm>
          <a:prstGeom prst="rect">
            <a:avLst/>
          </a:prstGeom>
          <a:noFill/>
          <a:ln/>
        </p:spPr>
        <p:txBody>
          <a:bodyPr wrap="square" lIns="0" tIns="0" rIns="0" bIns="0" rtlCol="0" anchor="ctr"/>
          <a:lstStyle/>
          <a:p>
            <a:pPr marL="0" indent="0">
              <a:buNone/>
            </a:pPr>
            <a:r>
              <a:rPr lang="en-US" sz="1100" dirty="0">
                <a:solidFill>
                  <a:srgbClr val="C8C8C8"/>
                </a:solidFill>
                <a:latin typeface="Times New Roman" pitchFamily="34" charset="0"/>
                <a:ea typeface="Times New Roman" pitchFamily="34" charset="-122"/>
                <a:cs typeface="Times New Roman" pitchFamily="34" charset="-120"/>
              </a:rPr>
              <a:t>"</a:t>
            </a:r>
            <a:r>
              <a:rPr lang="en-US" sz="1400" dirty="0">
                <a:solidFill>
                  <a:srgbClr val="C8C8C8"/>
                </a:solidFill>
                <a:latin typeface="Times New Roman" pitchFamily="34" charset="0"/>
                <a:ea typeface="Times New Roman" pitchFamily="34" charset="-122"/>
                <a:cs typeface="Times New Roman" pitchFamily="34" charset="-120"/>
              </a:rPr>
              <a:t>Temporary" admin access from 18 months ago — still active, never reviewed</a:t>
            </a:r>
            <a:r>
              <a:rPr lang="en-US" sz="1100" dirty="0">
                <a:solidFill>
                  <a:srgbClr val="C8C8C8"/>
                </a:solidFill>
                <a:latin typeface="Times New Roman" pitchFamily="34" charset="0"/>
                <a:ea typeface="Times New Roman" pitchFamily="34" charset="-122"/>
                <a:cs typeface="Times New Roman" pitchFamily="34" charset="-120"/>
              </a:rPr>
              <a:t>.</a:t>
            </a:r>
            <a:endParaRPr lang="en-US" sz="1100" dirty="0"/>
          </a:p>
        </p:txBody>
      </p:sp>
      <p:sp>
        <p:nvSpPr>
          <p:cNvPr id="27" name="Shape 25"/>
          <p:cNvSpPr/>
          <p:nvPr/>
        </p:nvSpPr>
        <p:spPr>
          <a:xfrm>
            <a:off x="3200400" y="2761488"/>
            <a:ext cx="2788920" cy="1920240"/>
          </a:xfrm>
          <a:prstGeom prst="rect">
            <a:avLst/>
          </a:prstGeom>
          <a:solidFill>
            <a:srgbClr val="141414"/>
          </a:solidFill>
          <a:ln w="15240">
            <a:solidFill>
              <a:srgbClr val="C41010"/>
            </a:solidFill>
            <a:prstDash val="solid"/>
          </a:ln>
          <a:effectLst>
            <a:outerShdw blurRad="127000" dist="38100" dir="8100000" algn="bl" rotWithShape="0">
              <a:srgbClr val="000000">
                <a:alpha val="45000"/>
              </a:srgbClr>
            </a:outerShdw>
          </a:effectLst>
        </p:spPr>
      </p:sp>
      <p:sp>
        <p:nvSpPr>
          <p:cNvPr id="28" name="Shape 26"/>
          <p:cNvSpPr/>
          <p:nvPr/>
        </p:nvSpPr>
        <p:spPr>
          <a:xfrm>
            <a:off x="3200400" y="2761488"/>
            <a:ext cx="438912" cy="438912"/>
          </a:xfrm>
          <a:prstGeom prst="rect">
            <a:avLst/>
          </a:prstGeom>
          <a:solidFill>
            <a:srgbClr val="C41010"/>
          </a:solidFill>
          <a:ln w="12700">
            <a:solidFill>
              <a:srgbClr val="C41010"/>
            </a:solidFill>
            <a:prstDash val="solid"/>
          </a:ln>
        </p:spPr>
      </p:sp>
      <p:sp>
        <p:nvSpPr>
          <p:cNvPr id="29" name="Text 27"/>
          <p:cNvSpPr/>
          <p:nvPr/>
        </p:nvSpPr>
        <p:spPr>
          <a:xfrm>
            <a:off x="3200400" y="2761488"/>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05</a:t>
            </a:r>
            <a:endParaRPr lang="en-US" sz="1400" dirty="0"/>
          </a:p>
        </p:txBody>
      </p:sp>
      <p:sp>
        <p:nvSpPr>
          <p:cNvPr id="30" name="Text 28"/>
          <p:cNvSpPr/>
          <p:nvPr/>
        </p:nvSpPr>
        <p:spPr>
          <a:xfrm>
            <a:off x="3273552" y="3264408"/>
            <a:ext cx="2642616" cy="438912"/>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itchFamily="34" charset="0"/>
                <a:ea typeface="Times New Roman" pitchFamily="34" charset="-122"/>
                <a:cs typeface="Times New Roman" pitchFamily="34" charset="-120"/>
              </a:rPr>
              <a:t>Risk Accumulation</a:t>
            </a:r>
            <a:endParaRPr lang="en-US" sz="1400" dirty="0"/>
          </a:p>
        </p:txBody>
      </p:sp>
      <p:sp>
        <p:nvSpPr>
          <p:cNvPr id="31" name="Text 29"/>
          <p:cNvSpPr/>
          <p:nvPr/>
        </p:nvSpPr>
        <p:spPr>
          <a:xfrm>
            <a:off x="3273552" y="3721608"/>
            <a:ext cx="2642616" cy="841248"/>
          </a:xfrm>
          <a:prstGeom prst="rect">
            <a:avLst/>
          </a:prstGeom>
          <a:noFill/>
          <a:ln/>
        </p:spPr>
        <p:txBody>
          <a:bodyPr wrap="square" lIns="0" tIns="0" rIns="0" bIns="0" rtlCol="0" anchor="ctr"/>
          <a:lstStyle/>
          <a:p>
            <a:pPr marL="0" indent="0">
              <a:buNone/>
            </a:pPr>
            <a:r>
              <a:rPr lang="en-US" sz="1400" dirty="0">
                <a:solidFill>
                  <a:srgbClr val="C8C8C8"/>
                </a:solidFill>
                <a:latin typeface="Times New Roman" pitchFamily="34" charset="0"/>
                <a:ea typeface="Times New Roman" pitchFamily="34" charset="-122"/>
                <a:cs typeface="Times New Roman" pitchFamily="34" charset="-120"/>
              </a:rPr>
              <a:t>15 exceptions on one critical asset. Combined exposure is extremely high.</a:t>
            </a:r>
            <a:endParaRPr lang="en-US" sz="1400" dirty="0"/>
          </a:p>
        </p:txBody>
      </p:sp>
      <p:sp>
        <p:nvSpPr>
          <p:cNvPr id="32" name="Shape 30"/>
          <p:cNvSpPr/>
          <p:nvPr/>
        </p:nvSpPr>
        <p:spPr>
          <a:xfrm>
            <a:off x="6172200" y="2761488"/>
            <a:ext cx="2788920" cy="1920240"/>
          </a:xfrm>
          <a:prstGeom prst="rect">
            <a:avLst/>
          </a:prstGeom>
          <a:solidFill>
            <a:srgbClr val="141414"/>
          </a:solidFill>
          <a:ln w="15240">
            <a:solidFill>
              <a:srgbClr val="C41010"/>
            </a:solidFill>
            <a:prstDash val="solid"/>
          </a:ln>
          <a:effectLst>
            <a:outerShdw blurRad="127000" dist="38100" dir="8100000" algn="bl" rotWithShape="0">
              <a:srgbClr val="000000">
                <a:alpha val="45000"/>
              </a:srgbClr>
            </a:outerShdw>
          </a:effectLst>
        </p:spPr>
      </p:sp>
      <p:sp>
        <p:nvSpPr>
          <p:cNvPr id="33" name="Shape 31"/>
          <p:cNvSpPr/>
          <p:nvPr/>
        </p:nvSpPr>
        <p:spPr>
          <a:xfrm>
            <a:off x="6172200" y="2761488"/>
            <a:ext cx="438912" cy="438912"/>
          </a:xfrm>
          <a:prstGeom prst="rect">
            <a:avLst/>
          </a:prstGeom>
          <a:solidFill>
            <a:srgbClr val="C41010"/>
          </a:solidFill>
          <a:ln w="12700">
            <a:solidFill>
              <a:srgbClr val="C41010"/>
            </a:solidFill>
            <a:prstDash val="solid"/>
          </a:ln>
        </p:spPr>
      </p:sp>
      <p:sp>
        <p:nvSpPr>
          <p:cNvPr id="34" name="Text 32"/>
          <p:cNvSpPr/>
          <p:nvPr/>
        </p:nvSpPr>
        <p:spPr>
          <a:xfrm>
            <a:off x="6172200" y="2761488"/>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06</a:t>
            </a:r>
            <a:endParaRPr lang="en-US" sz="1400" dirty="0"/>
          </a:p>
        </p:txBody>
      </p:sp>
      <p:sp>
        <p:nvSpPr>
          <p:cNvPr id="35" name="Text 33"/>
          <p:cNvSpPr/>
          <p:nvPr/>
        </p:nvSpPr>
        <p:spPr>
          <a:xfrm>
            <a:off x="6245352" y="3264408"/>
            <a:ext cx="2642616" cy="438912"/>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itchFamily="34" charset="0"/>
                <a:ea typeface="Times New Roman" pitchFamily="34" charset="-122"/>
                <a:cs typeface="Times New Roman" pitchFamily="34" charset="-120"/>
              </a:rPr>
              <a:t>Audit Failure</a:t>
            </a:r>
            <a:endParaRPr lang="en-US" sz="1400" dirty="0"/>
          </a:p>
        </p:txBody>
      </p:sp>
      <p:sp>
        <p:nvSpPr>
          <p:cNvPr id="36" name="Text 34"/>
          <p:cNvSpPr/>
          <p:nvPr/>
        </p:nvSpPr>
        <p:spPr>
          <a:xfrm>
            <a:off x="6245352" y="3721608"/>
            <a:ext cx="2642616" cy="841248"/>
          </a:xfrm>
          <a:prstGeom prst="rect">
            <a:avLst/>
          </a:prstGeom>
          <a:noFill/>
          <a:ln/>
        </p:spPr>
        <p:txBody>
          <a:bodyPr wrap="square" lIns="0" tIns="0" rIns="0" bIns="0" rtlCol="0" anchor="ctr"/>
          <a:lstStyle/>
          <a:p>
            <a:pPr marL="0" indent="0">
              <a:buNone/>
            </a:pPr>
            <a:r>
              <a:rPr lang="en-US" sz="1400" dirty="0">
                <a:solidFill>
                  <a:srgbClr val="C8C8C8"/>
                </a:solidFill>
                <a:latin typeface="Times New Roman" pitchFamily="34" charset="0"/>
                <a:ea typeface="Times New Roman" pitchFamily="34" charset="-122"/>
                <a:cs typeface="Times New Roman" pitchFamily="34" charset="-120"/>
              </a:rPr>
              <a:t>Auditor requests evidence. No justification, no review record, no expiry trail.</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6E0000"/>
          </a:solidFill>
          <a:ln w="12700">
            <a:solidFill>
              <a:srgbClr val="6E0000"/>
            </a:solidFill>
            <a:prstDash val="solid"/>
          </a:ln>
        </p:spPr>
      </p:sp>
      <p:sp>
        <p:nvSpPr>
          <p:cNvPr id="3" name="Shape 1"/>
          <p:cNvSpPr/>
          <p:nvPr/>
        </p:nvSpPr>
        <p:spPr>
          <a:xfrm>
            <a:off x="0" y="4983480"/>
            <a:ext cx="9144000" cy="160020"/>
          </a:xfrm>
          <a:prstGeom prst="rect">
            <a:avLst/>
          </a:prstGeom>
          <a:solidFill>
            <a:srgbClr val="6E0000"/>
          </a:solidFill>
          <a:ln w="12700">
            <a:solidFill>
              <a:srgbClr val="6E0000"/>
            </a:solidFill>
            <a:prstDash val="solid"/>
          </a:ln>
        </p:spPr>
      </p:sp>
      <p:sp>
        <p:nvSpPr>
          <p:cNvPr id="4" name="Text 2"/>
          <p:cNvSpPr/>
          <p:nvPr/>
        </p:nvSpPr>
        <p:spPr>
          <a:xfrm>
            <a:off x="365760" y="64008"/>
            <a:ext cx="7863840" cy="438912"/>
          </a:xfrm>
          <a:prstGeom prst="rect">
            <a:avLst/>
          </a:prstGeom>
          <a:noFill/>
          <a:ln/>
        </p:spPr>
        <p:txBody>
          <a:bodyPr wrap="square" lIns="0" tIns="0" rIns="0" bIns="0" rtlCol="0" anchor="ctr"/>
          <a:lstStyle/>
          <a:p>
            <a:pPr marL="0" indent="0">
              <a:buNone/>
            </a:pPr>
            <a:r>
              <a:rPr lang="en-US" sz="2100" b="1" dirty="0">
                <a:solidFill>
                  <a:srgbClr val="FFFFFF"/>
                </a:solidFill>
                <a:latin typeface="Times New Roman" pitchFamily="34" charset="0"/>
                <a:ea typeface="Times New Roman" pitchFamily="34" charset="-122"/>
                <a:cs typeface="Times New Roman" pitchFamily="34" charset="-120"/>
              </a:rPr>
              <a:t>Proposed Solution — RiskWaiver360</a:t>
            </a:r>
            <a:endParaRPr lang="en-US" sz="2100" dirty="0"/>
          </a:p>
        </p:txBody>
      </p:sp>
      <p:sp>
        <p:nvSpPr>
          <p:cNvPr id="5" name="Text 3"/>
          <p:cNvSpPr/>
          <p:nvPr/>
        </p:nvSpPr>
        <p:spPr>
          <a:xfrm>
            <a:off x="7955280" y="64008"/>
            <a:ext cx="914400" cy="438912"/>
          </a:xfrm>
          <a:prstGeom prst="rect">
            <a:avLst/>
          </a:prstGeom>
          <a:noFill/>
          <a:ln/>
        </p:spPr>
        <p:txBody>
          <a:bodyPr wrap="square" lIns="0" tIns="0" rIns="0" bIns="0" rtlCol="0" anchor="ctr"/>
          <a:lstStyle/>
          <a:p>
            <a:pPr marL="0" indent="0" algn="r">
              <a:buNone/>
            </a:pPr>
            <a:r>
              <a:rPr lang="en-US" sz="1100" dirty="0">
                <a:solidFill>
                  <a:srgbClr val="C8C8C8"/>
                </a:solidFill>
                <a:latin typeface="Times New Roman" pitchFamily="34" charset="0"/>
                <a:ea typeface="Times New Roman" pitchFamily="34" charset="-122"/>
                <a:cs typeface="Times New Roman" pitchFamily="34" charset="-120"/>
              </a:rPr>
              <a:t>4/12</a:t>
            </a:r>
            <a:endParaRPr lang="en-US" sz="1100" dirty="0"/>
          </a:p>
        </p:txBody>
      </p:sp>
      <p:sp>
        <p:nvSpPr>
          <p:cNvPr id="6" name="Text 4"/>
          <p:cNvSpPr/>
          <p:nvPr/>
        </p:nvSpPr>
        <p:spPr>
          <a:xfrm>
            <a:off x="365760" y="4983480"/>
            <a:ext cx="8412480" cy="160020"/>
          </a:xfrm>
          <a:prstGeom prst="rect">
            <a:avLst/>
          </a:prstGeom>
          <a:noFill/>
          <a:ln/>
        </p:spPr>
        <p:txBody>
          <a:bodyPr wrap="square" lIns="0" tIns="0" rIns="0" bIns="0" rtlCol="0" anchor="ctr"/>
          <a:lstStyle/>
          <a:p>
            <a:pPr marL="0" indent="0">
              <a:buNone/>
            </a:pPr>
            <a:r>
              <a:rPr lang="en-US" sz="800" dirty="0">
                <a:solidFill>
                  <a:srgbClr val="C8C8C8"/>
                </a:solidFill>
                <a:latin typeface="Times New Roman" pitchFamily="34" charset="0"/>
                <a:ea typeface="Times New Roman" pitchFamily="34" charset="-122"/>
                <a:cs typeface="Times New Roman" pitchFamily="34" charset="-120"/>
              </a:rPr>
              <a:t>RiskWaiver360  ·  GRC Exception &amp; Policy Waiver Management  ·  RVCE 2026</a:t>
            </a:r>
            <a:endParaRPr lang="en-US" sz="800" dirty="0"/>
          </a:p>
        </p:txBody>
      </p:sp>
      <p:sp>
        <p:nvSpPr>
          <p:cNvPr id="7" name="Shape 5"/>
          <p:cNvSpPr/>
          <p:nvPr/>
        </p:nvSpPr>
        <p:spPr>
          <a:xfrm>
            <a:off x="256032" y="658368"/>
            <a:ext cx="2011680" cy="1188720"/>
          </a:xfrm>
          <a:prstGeom prst="rect">
            <a:avLst/>
          </a:prstGeom>
          <a:solidFill>
            <a:srgbClr val="6E0000"/>
          </a:solidFill>
          <a:ln w="19050">
            <a:solidFill>
              <a:srgbClr val="C41010"/>
            </a:solidFill>
            <a:prstDash val="solid"/>
          </a:ln>
          <a:effectLst>
            <a:outerShdw blurRad="127000" dist="38100" dir="8100000" algn="bl" rotWithShape="0">
              <a:srgbClr val="000000">
                <a:alpha val="45000"/>
              </a:srgbClr>
            </a:outerShdw>
          </a:effectLst>
        </p:spPr>
      </p:sp>
      <p:sp>
        <p:nvSpPr>
          <p:cNvPr id="8" name="Text 6"/>
          <p:cNvSpPr/>
          <p:nvPr/>
        </p:nvSpPr>
        <p:spPr>
          <a:xfrm>
            <a:off x="329184" y="749808"/>
            <a:ext cx="186537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CENTRALIZED</a:t>
            </a:r>
            <a:endParaRPr lang="en-US" sz="1200" dirty="0"/>
          </a:p>
        </p:txBody>
      </p:sp>
      <p:sp>
        <p:nvSpPr>
          <p:cNvPr id="9" name="Text 7"/>
          <p:cNvSpPr/>
          <p:nvPr/>
        </p:nvSpPr>
        <p:spPr>
          <a:xfrm>
            <a:off x="329184" y="1188720"/>
            <a:ext cx="1865376" cy="548640"/>
          </a:xfrm>
          <a:prstGeom prst="rect">
            <a:avLst/>
          </a:prstGeom>
          <a:noFill/>
          <a:ln/>
        </p:spPr>
        <p:txBody>
          <a:bodyPr wrap="square" lIns="0" tIns="0" rIns="0" bIns="0" rtlCol="0" anchor="ctr"/>
          <a:lstStyle/>
          <a:p>
            <a:pPr marL="0" indent="0" algn="ctr">
              <a:buNone/>
            </a:pPr>
            <a:r>
              <a:rPr lang="en-US" sz="1000" dirty="0">
                <a:solidFill>
                  <a:srgbClr val="C8C8C8"/>
                </a:solidFill>
                <a:latin typeface="Times New Roman" pitchFamily="34" charset="0"/>
                <a:ea typeface="Times New Roman" pitchFamily="34" charset="-122"/>
                <a:cs typeface="Times New Roman" pitchFamily="34" charset="-120"/>
              </a:rPr>
              <a:t>Single source of truth for all exceptions</a:t>
            </a:r>
            <a:endParaRPr lang="en-US" sz="1000" dirty="0"/>
          </a:p>
        </p:txBody>
      </p:sp>
      <p:sp>
        <p:nvSpPr>
          <p:cNvPr id="10" name="Shape 8"/>
          <p:cNvSpPr/>
          <p:nvPr/>
        </p:nvSpPr>
        <p:spPr>
          <a:xfrm>
            <a:off x="2432304" y="658368"/>
            <a:ext cx="2011680" cy="1188720"/>
          </a:xfrm>
          <a:prstGeom prst="rect">
            <a:avLst/>
          </a:prstGeom>
          <a:solidFill>
            <a:srgbClr val="6E0000"/>
          </a:solidFill>
          <a:ln w="19050">
            <a:solidFill>
              <a:srgbClr val="C41010"/>
            </a:solidFill>
            <a:prstDash val="solid"/>
          </a:ln>
          <a:effectLst>
            <a:outerShdw blurRad="127000" dist="38100" dir="8100000" algn="bl" rotWithShape="0">
              <a:srgbClr val="000000">
                <a:alpha val="45000"/>
              </a:srgbClr>
            </a:outerShdw>
          </a:effectLst>
        </p:spPr>
      </p:sp>
      <p:sp>
        <p:nvSpPr>
          <p:cNvPr id="11" name="Text 9"/>
          <p:cNvSpPr/>
          <p:nvPr/>
        </p:nvSpPr>
        <p:spPr>
          <a:xfrm>
            <a:off x="2505456" y="749808"/>
            <a:ext cx="186537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RISK-SCORED</a:t>
            </a:r>
            <a:endParaRPr lang="en-US" sz="1200" dirty="0"/>
          </a:p>
        </p:txBody>
      </p:sp>
      <p:sp>
        <p:nvSpPr>
          <p:cNvPr id="12" name="Text 10"/>
          <p:cNvSpPr/>
          <p:nvPr/>
        </p:nvSpPr>
        <p:spPr>
          <a:xfrm>
            <a:off x="2505456" y="1188720"/>
            <a:ext cx="1865376" cy="548640"/>
          </a:xfrm>
          <a:prstGeom prst="rect">
            <a:avLst/>
          </a:prstGeom>
          <a:noFill/>
          <a:ln/>
        </p:spPr>
        <p:txBody>
          <a:bodyPr wrap="square" lIns="0" tIns="0" rIns="0" bIns="0" rtlCol="0" anchor="ctr"/>
          <a:lstStyle/>
          <a:p>
            <a:pPr marL="0" indent="0" algn="ctr">
              <a:buNone/>
            </a:pPr>
            <a:r>
              <a:rPr lang="en-US" sz="1000" dirty="0">
                <a:solidFill>
                  <a:srgbClr val="C8C8C8"/>
                </a:solidFill>
                <a:latin typeface="Times New Roman" pitchFamily="34" charset="0"/>
                <a:ea typeface="Times New Roman" pitchFamily="34" charset="-122"/>
                <a:cs typeface="Times New Roman" pitchFamily="34" charset="-120"/>
              </a:rPr>
              <a:t>Quantitative scoring, not guesswork</a:t>
            </a:r>
            <a:endParaRPr lang="en-US" sz="1000" dirty="0"/>
          </a:p>
        </p:txBody>
      </p:sp>
      <p:sp>
        <p:nvSpPr>
          <p:cNvPr id="13" name="Shape 11"/>
          <p:cNvSpPr/>
          <p:nvPr/>
        </p:nvSpPr>
        <p:spPr>
          <a:xfrm>
            <a:off x="4608576" y="658368"/>
            <a:ext cx="2011680" cy="1188720"/>
          </a:xfrm>
          <a:prstGeom prst="rect">
            <a:avLst/>
          </a:prstGeom>
          <a:solidFill>
            <a:srgbClr val="6E0000"/>
          </a:solidFill>
          <a:ln w="19050">
            <a:solidFill>
              <a:srgbClr val="C41010"/>
            </a:solidFill>
            <a:prstDash val="solid"/>
          </a:ln>
          <a:effectLst>
            <a:outerShdw blurRad="127000" dist="38100" dir="8100000" algn="bl" rotWithShape="0">
              <a:srgbClr val="000000">
                <a:alpha val="45000"/>
              </a:srgbClr>
            </a:outerShdw>
          </a:effectLst>
        </p:spPr>
      </p:sp>
      <p:sp>
        <p:nvSpPr>
          <p:cNvPr id="14" name="Text 12"/>
          <p:cNvSpPr/>
          <p:nvPr/>
        </p:nvSpPr>
        <p:spPr>
          <a:xfrm>
            <a:off x="4681728" y="749808"/>
            <a:ext cx="186537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LIFECYCLE-TRACKED</a:t>
            </a:r>
            <a:endParaRPr lang="en-US" sz="1200" dirty="0"/>
          </a:p>
        </p:txBody>
      </p:sp>
      <p:sp>
        <p:nvSpPr>
          <p:cNvPr id="15" name="Text 13"/>
          <p:cNvSpPr/>
          <p:nvPr/>
        </p:nvSpPr>
        <p:spPr>
          <a:xfrm>
            <a:off x="4681728" y="1188720"/>
            <a:ext cx="1865376" cy="548640"/>
          </a:xfrm>
          <a:prstGeom prst="rect">
            <a:avLst/>
          </a:prstGeom>
          <a:noFill/>
          <a:ln/>
        </p:spPr>
        <p:txBody>
          <a:bodyPr wrap="square" lIns="0" tIns="0" rIns="0" bIns="0" rtlCol="0" anchor="ctr"/>
          <a:lstStyle/>
          <a:p>
            <a:pPr marL="0" indent="0" algn="ctr">
              <a:buNone/>
            </a:pPr>
            <a:r>
              <a:rPr lang="en-US" sz="1000" dirty="0">
                <a:solidFill>
                  <a:srgbClr val="C8C8C8"/>
                </a:solidFill>
                <a:latin typeface="Times New Roman" pitchFamily="34" charset="0"/>
                <a:ea typeface="Times New Roman" pitchFamily="34" charset="-122"/>
                <a:cs typeface="Times New Roman" pitchFamily="34" charset="-120"/>
              </a:rPr>
              <a:t>From intake to expiry, every step recorded</a:t>
            </a:r>
            <a:endParaRPr lang="en-US" sz="1000" dirty="0"/>
          </a:p>
        </p:txBody>
      </p:sp>
      <p:sp>
        <p:nvSpPr>
          <p:cNvPr id="16" name="Shape 14"/>
          <p:cNvSpPr/>
          <p:nvPr/>
        </p:nvSpPr>
        <p:spPr>
          <a:xfrm>
            <a:off x="6784848" y="658368"/>
            <a:ext cx="2011680" cy="1188720"/>
          </a:xfrm>
          <a:prstGeom prst="rect">
            <a:avLst/>
          </a:prstGeom>
          <a:solidFill>
            <a:srgbClr val="6E0000"/>
          </a:solidFill>
          <a:ln w="19050">
            <a:solidFill>
              <a:srgbClr val="C41010"/>
            </a:solidFill>
            <a:prstDash val="solid"/>
          </a:ln>
          <a:effectLst>
            <a:outerShdw blurRad="127000" dist="38100" dir="8100000" algn="bl" rotWithShape="0">
              <a:srgbClr val="000000">
                <a:alpha val="45000"/>
              </a:srgbClr>
            </a:outerShdw>
          </a:effectLst>
        </p:spPr>
      </p:sp>
      <p:sp>
        <p:nvSpPr>
          <p:cNvPr id="17" name="Text 15"/>
          <p:cNvSpPr/>
          <p:nvPr/>
        </p:nvSpPr>
        <p:spPr>
          <a:xfrm>
            <a:off x="6858000" y="749808"/>
            <a:ext cx="186537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AUDIT-READY</a:t>
            </a:r>
            <a:endParaRPr lang="en-US" sz="1200" dirty="0"/>
          </a:p>
        </p:txBody>
      </p:sp>
      <p:sp>
        <p:nvSpPr>
          <p:cNvPr id="18" name="Text 16"/>
          <p:cNvSpPr/>
          <p:nvPr/>
        </p:nvSpPr>
        <p:spPr>
          <a:xfrm>
            <a:off x="6858000" y="1188720"/>
            <a:ext cx="1865376" cy="548640"/>
          </a:xfrm>
          <a:prstGeom prst="rect">
            <a:avLst/>
          </a:prstGeom>
          <a:noFill/>
          <a:ln/>
        </p:spPr>
        <p:txBody>
          <a:bodyPr wrap="square" lIns="0" tIns="0" rIns="0" bIns="0" rtlCol="0" anchor="ctr"/>
          <a:lstStyle/>
          <a:p>
            <a:pPr marL="0" indent="0" algn="ctr">
              <a:buNone/>
            </a:pPr>
            <a:r>
              <a:rPr lang="en-US" sz="1000" dirty="0">
                <a:solidFill>
                  <a:srgbClr val="C8C8C8"/>
                </a:solidFill>
                <a:latin typeface="Times New Roman" pitchFamily="34" charset="0"/>
                <a:ea typeface="Times New Roman" pitchFamily="34" charset="-122"/>
                <a:cs typeface="Times New Roman" pitchFamily="34" charset="-120"/>
              </a:rPr>
              <a:t>Evidence-backed, exportable reports</a:t>
            </a:r>
            <a:endParaRPr lang="en-US" sz="1000" dirty="0"/>
          </a:p>
        </p:txBody>
      </p:sp>
      <p:sp>
        <p:nvSpPr>
          <p:cNvPr id="19" name="Text 17"/>
          <p:cNvSpPr/>
          <p:nvPr/>
        </p:nvSpPr>
        <p:spPr>
          <a:xfrm>
            <a:off x="365760" y="2011680"/>
            <a:ext cx="8412480" cy="347472"/>
          </a:xfrm>
          <a:prstGeom prst="rect">
            <a:avLst/>
          </a:prstGeom>
          <a:noFill/>
          <a:ln/>
        </p:spPr>
        <p:txBody>
          <a:bodyPr wrap="square" lIns="0" tIns="0" rIns="0" bIns="0" rtlCol="0" anchor="ctr"/>
          <a:lstStyle/>
          <a:p>
            <a:pPr marL="0" indent="0">
              <a:buNone/>
            </a:pPr>
            <a:r>
              <a:rPr lang="en-US" sz="1400" b="1" dirty="0">
                <a:solidFill>
                  <a:srgbClr val="C41010"/>
                </a:solidFill>
                <a:latin typeface="Times New Roman" pitchFamily="34" charset="0"/>
                <a:ea typeface="Times New Roman" pitchFamily="34" charset="-122"/>
                <a:cs typeface="Times New Roman" pitchFamily="34" charset="-120"/>
              </a:rPr>
              <a:t>Exception Lifecycle Flow</a:t>
            </a:r>
            <a:endParaRPr lang="en-US" sz="1400" dirty="0"/>
          </a:p>
        </p:txBody>
      </p:sp>
      <p:sp>
        <p:nvSpPr>
          <p:cNvPr id="20" name="Shape 18"/>
          <p:cNvSpPr/>
          <p:nvPr/>
        </p:nvSpPr>
        <p:spPr>
          <a:xfrm>
            <a:off x="365760" y="2450592"/>
            <a:ext cx="1508760" cy="1417320"/>
          </a:xfrm>
          <a:prstGeom prst="rect">
            <a:avLst/>
          </a:prstGeom>
          <a:solidFill>
            <a:srgbClr val="1E1E1E"/>
          </a:solidFill>
          <a:ln w="12700">
            <a:solidFill>
              <a:srgbClr val="C41010"/>
            </a:solidFill>
            <a:prstDash val="solid"/>
          </a:ln>
          <a:effectLst>
            <a:outerShdw blurRad="127000" dist="38100" dir="8100000" algn="bl" rotWithShape="0">
              <a:srgbClr val="000000">
                <a:alpha val="45000"/>
              </a:srgbClr>
            </a:outerShdw>
          </a:effectLst>
        </p:spPr>
      </p:sp>
      <p:sp>
        <p:nvSpPr>
          <p:cNvPr id="21" name="Shape 19"/>
          <p:cNvSpPr/>
          <p:nvPr/>
        </p:nvSpPr>
        <p:spPr>
          <a:xfrm>
            <a:off x="877824" y="2542032"/>
            <a:ext cx="475488" cy="475488"/>
          </a:xfrm>
          <a:prstGeom prst="ellipse">
            <a:avLst/>
          </a:prstGeom>
          <a:solidFill>
            <a:srgbClr val="C41010"/>
          </a:solidFill>
          <a:ln w="12700">
            <a:solidFill>
              <a:srgbClr val="C41010"/>
            </a:solidFill>
            <a:prstDash val="solid"/>
          </a:ln>
        </p:spPr>
      </p:sp>
      <p:sp>
        <p:nvSpPr>
          <p:cNvPr id="22" name="Text 20"/>
          <p:cNvSpPr/>
          <p:nvPr/>
        </p:nvSpPr>
        <p:spPr>
          <a:xfrm>
            <a:off x="877824" y="2542032"/>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1</a:t>
            </a:r>
            <a:endParaRPr lang="en-US" sz="1500" dirty="0"/>
          </a:p>
        </p:txBody>
      </p:sp>
      <p:sp>
        <p:nvSpPr>
          <p:cNvPr id="23" name="Text 21"/>
          <p:cNvSpPr/>
          <p:nvPr/>
        </p:nvSpPr>
        <p:spPr>
          <a:xfrm>
            <a:off x="438912" y="3108960"/>
            <a:ext cx="1371600" cy="685800"/>
          </a:xfrm>
          <a:prstGeom prst="rect">
            <a:avLst/>
          </a:prstGeom>
          <a:noFill/>
          <a:ln/>
        </p:spPr>
        <p:txBody>
          <a:bodyPr wrap="square" lIns="0" tIns="0" rIns="0" bIns="0" rtlCol="0" anchor="ctr"/>
          <a:lstStyle/>
          <a:p>
            <a:pPr marL="0" indent="0" algn="ctr">
              <a:buNone/>
            </a:pPr>
            <a:r>
              <a:rPr lang="en-US" sz="1200" dirty="0">
                <a:solidFill>
                  <a:srgbClr val="C8C8C8"/>
                </a:solidFill>
                <a:latin typeface="Times New Roman" pitchFamily="34" charset="0"/>
                <a:ea typeface="Times New Roman" pitchFamily="34" charset="-122"/>
                <a:cs typeface="Times New Roman" pitchFamily="34" charset="-120"/>
              </a:rPr>
              <a:t>Structured</a:t>
            </a:r>
            <a:endParaRPr lang="en-US" sz="1200" dirty="0"/>
          </a:p>
          <a:p>
            <a:pPr marL="0" indent="0" algn="ctr">
              <a:buNone/>
            </a:pPr>
            <a:r>
              <a:rPr lang="en-US" sz="1200" dirty="0">
                <a:solidFill>
                  <a:srgbClr val="C8C8C8"/>
                </a:solidFill>
                <a:latin typeface="Times New Roman" pitchFamily="34" charset="0"/>
                <a:ea typeface="Times New Roman" pitchFamily="34" charset="-122"/>
                <a:cs typeface="Times New Roman" pitchFamily="34" charset="-120"/>
              </a:rPr>
              <a:t>Intake</a:t>
            </a:r>
            <a:endParaRPr lang="en-US" sz="1200" dirty="0"/>
          </a:p>
        </p:txBody>
      </p:sp>
      <p:sp>
        <p:nvSpPr>
          <p:cNvPr id="24" name="Shape 22"/>
          <p:cNvSpPr/>
          <p:nvPr/>
        </p:nvSpPr>
        <p:spPr>
          <a:xfrm>
            <a:off x="1874520" y="3044952"/>
            <a:ext cx="228600" cy="137160"/>
          </a:xfrm>
          <a:prstGeom prst="rect">
            <a:avLst/>
          </a:prstGeom>
          <a:solidFill>
            <a:srgbClr val="C41010"/>
          </a:solidFill>
          <a:ln w="12700">
            <a:solidFill>
              <a:srgbClr val="C41010"/>
            </a:solidFill>
            <a:prstDash val="solid"/>
          </a:ln>
        </p:spPr>
      </p:sp>
      <p:sp>
        <p:nvSpPr>
          <p:cNvPr id="25" name="Shape 23"/>
          <p:cNvSpPr/>
          <p:nvPr/>
        </p:nvSpPr>
        <p:spPr>
          <a:xfrm>
            <a:off x="2103120" y="2450592"/>
            <a:ext cx="1508760" cy="1417320"/>
          </a:xfrm>
          <a:prstGeom prst="rect">
            <a:avLst/>
          </a:prstGeom>
          <a:solidFill>
            <a:srgbClr val="1E1E1E"/>
          </a:solidFill>
          <a:ln w="12700">
            <a:solidFill>
              <a:srgbClr val="C41010"/>
            </a:solidFill>
            <a:prstDash val="solid"/>
          </a:ln>
          <a:effectLst>
            <a:outerShdw blurRad="127000" dist="38100" dir="8100000" algn="bl" rotWithShape="0">
              <a:srgbClr val="000000">
                <a:alpha val="45000"/>
              </a:srgbClr>
            </a:outerShdw>
          </a:effectLst>
        </p:spPr>
      </p:sp>
      <p:sp>
        <p:nvSpPr>
          <p:cNvPr id="26" name="Shape 24"/>
          <p:cNvSpPr/>
          <p:nvPr/>
        </p:nvSpPr>
        <p:spPr>
          <a:xfrm>
            <a:off x="2615184" y="2542032"/>
            <a:ext cx="475488" cy="475488"/>
          </a:xfrm>
          <a:prstGeom prst="ellipse">
            <a:avLst/>
          </a:prstGeom>
          <a:solidFill>
            <a:srgbClr val="C41010"/>
          </a:solidFill>
          <a:ln w="12700">
            <a:solidFill>
              <a:srgbClr val="C41010"/>
            </a:solidFill>
            <a:prstDash val="solid"/>
          </a:ln>
        </p:spPr>
      </p:sp>
      <p:sp>
        <p:nvSpPr>
          <p:cNvPr id="27" name="Text 25"/>
          <p:cNvSpPr/>
          <p:nvPr/>
        </p:nvSpPr>
        <p:spPr>
          <a:xfrm>
            <a:off x="2615184" y="2542032"/>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2</a:t>
            </a:r>
            <a:endParaRPr lang="en-US" sz="1500" dirty="0"/>
          </a:p>
        </p:txBody>
      </p:sp>
      <p:sp>
        <p:nvSpPr>
          <p:cNvPr id="28" name="Text 26"/>
          <p:cNvSpPr/>
          <p:nvPr/>
        </p:nvSpPr>
        <p:spPr>
          <a:xfrm>
            <a:off x="2176272" y="3108960"/>
            <a:ext cx="1371600" cy="685800"/>
          </a:xfrm>
          <a:prstGeom prst="rect">
            <a:avLst/>
          </a:prstGeom>
          <a:noFill/>
          <a:ln/>
        </p:spPr>
        <p:txBody>
          <a:bodyPr wrap="square" lIns="0" tIns="0" rIns="0" bIns="0" rtlCol="0" anchor="ctr"/>
          <a:lstStyle/>
          <a:p>
            <a:pPr marL="0" indent="0" algn="ctr">
              <a:buNone/>
            </a:pPr>
            <a:r>
              <a:rPr lang="en-US" sz="1200" dirty="0">
                <a:solidFill>
                  <a:srgbClr val="C8C8C8"/>
                </a:solidFill>
                <a:latin typeface="Times New Roman" pitchFamily="34" charset="0"/>
                <a:ea typeface="Times New Roman" pitchFamily="34" charset="-122"/>
                <a:cs typeface="Times New Roman" pitchFamily="34" charset="-120"/>
              </a:rPr>
              <a:t>Security</a:t>
            </a:r>
            <a:endParaRPr lang="en-US" sz="1200" dirty="0"/>
          </a:p>
          <a:p>
            <a:pPr marL="0" indent="0" algn="ctr">
              <a:buNone/>
            </a:pPr>
            <a:r>
              <a:rPr lang="en-US" sz="1200" dirty="0">
                <a:solidFill>
                  <a:srgbClr val="C8C8C8"/>
                </a:solidFill>
                <a:latin typeface="Times New Roman" pitchFamily="34" charset="0"/>
                <a:ea typeface="Times New Roman" pitchFamily="34" charset="-122"/>
                <a:cs typeface="Times New Roman" pitchFamily="34" charset="-120"/>
              </a:rPr>
              <a:t>Review</a:t>
            </a:r>
            <a:endParaRPr lang="en-US" sz="1200" dirty="0"/>
          </a:p>
        </p:txBody>
      </p:sp>
      <p:sp>
        <p:nvSpPr>
          <p:cNvPr id="29" name="Shape 27"/>
          <p:cNvSpPr/>
          <p:nvPr/>
        </p:nvSpPr>
        <p:spPr>
          <a:xfrm>
            <a:off x="3611880" y="3044952"/>
            <a:ext cx="228600" cy="137160"/>
          </a:xfrm>
          <a:prstGeom prst="rect">
            <a:avLst/>
          </a:prstGeom>
          <a:solidFill>
            <a:srgbClr val="C41010"/>
          </a:solidFill>
          <a:ln w="12700">
            <a:solidFill>
              <a:srgbClr val="C41010"/>
            </a:solidFill>
            <a:prstDash val="solid"/>
          </a:ln>
        </p:spPr>
      </p:sp>
      <p:sp>
        <p:nvSpPr>
          <p:cNvPr id="30" name="Shape 28"/>
          <p:cNvSpPr/>
          <p:nvPr/>
        </p:nvSpPr>
        <p:spPr>
          <a:xfrm>
            <a:off x="3840480" y="2450592"/>
            <a:ext cx="1508760" cy="1417320"/>
          </a:xfrm>
          <a:prstGeom prst="rect">
            <a:avLst/>
          </a:prstGeom>
          <a:solidFill>
            <a:srgbClr val="1E1E1E"/>
          </a:solidFill>
          <a:ln w="12700">
            <a:solidFill>
              <a:srgbClr val="C41010"/>
            </a:solidFill>
            <a:prstDash val="solid"/>
          </a:ln>
          <a:effectLst>
            <a:outerShdw blurRad="127000" dist="38100" dir="8100000" algn="bl" rotWithShape="0">
              <a:srgbClr val="000000">
                <a:alpha val="45000"/>
              </a:srgbClr>
            </a:outerShdw>
          </a:effectLst>
        </p:spPr>
      </p:sp>
      <p:sp>
        <p:nvSpPr>
          <p:cNvPr id="31" name="Shape 29"/>
          <p:cNvSpPr/>
          <p:nvPr/>
        </p:nvSpPr>
        <p:spPr>
          <a:xfrm>
            <a:off x="4352544" y="2542032"/>
            <a:ext cx="475488" cy="475488"/>
          </a:xfrm>
          <a:prstGeom prst="ellipse">
            <a:avLst/>
          </a:prstGeom>
          <a:solidFill>
            <a:srgbClr val="C41010"/>
          </a:solidFill>
          <a:ln w="12700">
            <a:solidFill>
              <a:srgbClr val="C41010"/>
            </a:solidFill>
            <a:prstDash val="solid"/>
          </a:ln>
        </p:spPr>
      </p:sp>
      <p:sp>
        <p:nvSpPr>
          <p:cNvPr id="32" name="Text 30"/>
          <p:cNvSpPr/>
          <p:nvPr/>
        </p:nvSpPr>
        <p:spPr>
          <a:xfrm>
            <a:off x="4352544" y="2542032"/>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3</a:t>
            </a:r>
            <a:endParaRPr lang="en-US" sz="1500" dirty="0"/>
          </a:p>
        </p:txBody>
      </p:sp>
      <p:sp>
        <p:nvSpPr>
          <p:cNvPr id="33" name="Text 31"/>
          <p:cNvSpPr/>
          <p:nvPr/>
        </p:nvSpPr>
        <p:spPr>
          <a:xfrm>
            <a:off x="3913632" y="3108960"/>
            <a:ext cx="1371600" cy="685800"/>
          </a:xfrm>
          <a:prstGeom prst="rect">
            <a:avLst/>
          </a:prstGeom>
          <a:noFill/>
          <a:ln/>
        </p:spPr>
        <p:txBody>
          <a:bodyPr wrap="square" lIns="0" tIns="0" rIns="0" bIns="0" rtlCol="0" anchor="ctr"/>
          <a:lstStyle/>
          <a:p>
            <a:pPr marL="0" indent="0" algn="ctr">
              <a:buNone/>
            </a:pPr>
            <a:r>
              <a:rPr lang="en-US" sz="1200" dirty="0">
                <a:solidFill>
                  <a:srgbClr val="C8C8C8"/>
                </a:solidFill>
                <a:latin typeface="Times New Roman" pitchFamily="34" charset="0"/>
                <a:ea typeface="Times New Roman" pitchFamily="34" charset="-122"/>
                <a:cs typeface="Times New Roman" pitchFamily="34" charset="-120"/>
              </a:rPr>
              <a:t>Approver</a:t>
            </a:r>
            <a:endParaRPr lang="en-US" sz="1200" dirty="0"/>
          </a:p>
          <a:p>
            <a:pPr marL="0" indent="0" algn="ctr">
              <a:buNone/>
            </a:pPr>
            <a:r>
              <a:rPr lang="en-US" sz="1200" dirty="0">
                <a:solidFill>
                  <a:srgbClr val="C8C8C8"/>
                </a:solidFill>
                <a:latin typeface="Times New Roman" pitchFamily="34" charset="0"/>
                <a:ea typeface="Times New Roman" pitchFamily="34" charset="-122"/>
                <a:cs typeface="Times New Roman" pitchFamily="34" charset="-120"/>
              </a:rPr>
              <a:t>Decision</a:t>
            </a:r>
            <a:endParaRPr lang="en-US" sz="1200" dirty="0"/>
          </a:p>
        </p:txBody>
      </p:sp>
      <p:sp>
        <p:nvSpPr>
          <p:cNvPr id="34" name="Shape 32"/>
          <p:cNvSpPr/>
          <p:nvPr/>
        </p:nvSpPr>
        <p:spPr>
          <a:xfrm>
            <a:off x="5349240" y="3044952"/>
            <a:ext cx="228600" cy="137160"/>
          </a:xfrm>
          <a:prstGeom prst="rect">
            <a:avLst/>
          </a:prstGeom>
          <a:solidFill>
            <a:srgbClr val="C41010"/>
          </a:solidFill>
          <a:ln w="12700">
            <a:solidFill>
              <a:srgbClr val="C41010"/>
            </a:solidFill>
            <a:prstDash val="solid"/>
          </a:ln>
        </p:spPr>
      </p:sp>
      <p:sp>
        <p:nvSpPr>
          <p:cNvPr id="35" name="Shape 33"/>
          <p:cNvSpPr/>
          <p:nvPr/>
        </p:nvSpPr>
        <p:spPr>
          <a:xfrm>
            <a:off x="5577840" y="2450592"/>
            <a:ext cx="1508760" cy="1417320"/>
          </a:xfrm>
          <a:prstGeom prst="rect">
            <a:avLst/>
          </a:prstGeom>
          <a:solidFill>
            <a:srgbClr val="1E1E1E"/>
          </a:solidFill>
          <a:ln w="12700">
            <a:solidFill>
              <a:srgbClr val="C41010"/>
            </a:solidFill>
            <a:prstDash val="solid"/>
          </a:ln>
          <a:effectLst>
            <a:outerShdw blurRad="127000" dist="38100" dir="8100000" algn="bl" rotWithShape="0">
              <a:srgbClr val="000000">
                <a:alpha val="45000"/>
              </a:srgbClr>
            </a:outerShdw>
          </a:effectLst>
        </p:spPr>
      </p:sp>
      <p:sp>
        <p:nvSpPr>
          <p:cNvPr id="36" name="Shape 34"/>
          <p:cNvSpPr/>
          <p:nvPr/>
        </p:nvSpPr>
        <p:spPr>
          <a:xfrm>
            <a:off x="6089904" y="2542032"/>
            <a:ext cx="475488" cy="475488"/>
          </a:xfrm>
          <a:prstGeom prst="ellipse">
            <a:avLst/>
          </a:prstGeom>
          <a:solidFill>
            <a:srgbClr val="C41010"/>
          </a:solidFill>
          <a:ln w="12700">
            <a:solidFill>
              <a:srgbClr val="C41010"/>
            </a:solidFill>
            <a:prstDash val="solid"/>
          </a:ln>
        </p:spPr>
      </p:sp>
      <p:sp>
        <p:nvSpPr>
          <p:cNvPr id="37" name="Text 35"/>
          <p:cNvSpPr/>
          <p:nvPr/>
        </p:nvSpPr>
        <p:spPr>
          <a:xfrm>
            <a:off x="6089904" y="2542032"/>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4</a:t>
            </a:r>
            <a:endParaRPr lang="en-US" sz="1500" dirty="0"/>
          </a:p>
        </p:txBody>
      </p:sp>
      <p:sp>
        <p:nvSpPr>
          <p:cNvPr id="38" name="Text 36"/>
          <p:cNvSpPr/>
          <p:nvPr/>
        </p:nvSpPr>
        <p:spPr>
          <a:xfrm>
            <a:off x="5650992" y="3108960"/>
            <a:ext cx="1371600" cy="685800"/>
          </a:xfrm>
          <a:prstGeom prst="rect">
            <a:avLst/>
          </a:prstGeom>
          <a:noFill/>
          <a:ln/>
        </p:spPr>
        <p:txBody>
          <a:bodyPr wrap="square" lIns="0" tIns="0" rIns="0" bIns="0" rtlCol="0" anchor="ctr"/>
          <a:lstStyle/>
          <a:p>
            <a:pPr marL="0" indent="0" algn="ctr">
              <a:buNone/>
            </a:pPr>
            <a:r>
              <a:rPr lang="en-US" sz="1200" dirty="0">
                <a:solidFill>
                  <a:srgbClr val="C8C8C8"/>
                </a:solidFill>
                <a:latin typeface="Times New Roman" pitchFamily="34" charset="0"/>
                <a:ea typeface="Times New Roman" pitchFamily="34" charset="-122"/>
                <a:cs typeface="Times New Roman" pitchFamily="34" charset="-120"/>
              </a:rPr>
              <a:t>Continuous</a:t>
            </a:r>
            <a:endParaRPr lang="en-US" sz="1200" dirty="0"/>
          </a:p>
          <a:p>
            <a:pPr marL="0" indent="0" algn="ctr">
              <a:buNone/>
            </a:pPr>
            <a:r>
              <a:rPr lang="en-US" sz="1200" dirty="0">
                <a:solidFill>
                  <a:srgbClr val="C8C8C8"/>
                </a:solidFill>
                <a:latin typeface="Times New Roman" pitchFamily="34" charset="0"/>
                <a:ea typeface="Times New Roman" pitchFamily="34" charset="-122"/>
                <a:cs typeface="Times New Roman" pitchFamily="34" charset="-120"/>
              </a:rPr>
              <a:t>Monitoring</a:t>
            </a:r>
            <a:endParaRPr lang="en-US" sz="1200" dirty="0"/>
          </a:p>
        </p:txBody>
      </p:sp>
      <p:sp>
        <p:nvSpPr>
          <p:cNvPr id="39" name="Shape 37"/>
          <p:cNvSpPr/>
          <p:nvPr/>
        </p:nvSpPr>
        <p:spPr>
          <a:xfrm>
            <a:off x="7086600" y="3044952"/>
            <a:ext cx="228600" cy="137160"/>
          </a:xfrm>
          <a:prstGeom prst="rect">
            <a:avLst/>
          </a:prstGeom>
          <a:solidFill>
            <a:srgbClr val="C41010"/>
          </a:solidFill>
          <a:ln w="12700">
            <a:solidFill>
              <a:srgbClr val="C41010"/>
            </a:solidFill>
            <a:prstDash val="solid"/>
          </a:ln>
        </p:spPr>
      </p:sp>
      <p:sp>
        <p:nvSpPr>
          <p:cNvPr id="40" name="Shape 38"/>
          <p:cNvSpPr/>
          <p:nvPr/>
        </p:nvSpPr>
        <p:spPr>
          <a:xfrm>
            <a:off x="7315200" y="2450592"/>
            <a:ext cx="1508760" cy="1417320"/>
          </a:xfrm>
          <a:prstGeom prst="rect">
            <a:avLst/>
          </a:prstGeom>
          <a:solidFill>
            <a:srgbClr val="1E1E1E"/>
          </a:solidFill>
          <a:ln w="12700">
            <a:solidFill>
              <a:srgbClr val="C41010"/>
            </a:solidFill>
            <a:prstDash val="solid"/>
          </a:ln>
          <a:effectLst>
            <a:outerShdw blurRad="127000" dist="38100" dir="8100000" algn="bl" rotWithShape="0">
              <a:srgbClr val="000000">
                <a:alpha val="45000"/>
              </a:srgbClr>
            </a:outerShdw>
          </a:effectLst>
        </p:spPr>
      </p:sp>
      <p:sp>
        <p:nvSpPr>
          <p:cNvPr id="41" name="Shape 39"/>
          <p:cNvSpPr/>
          <p:nvPr/>
        </p:nvSpPr>
        <p:spPr>
          <a:xfrm>
            <a:off x="7827264" y="2542032"/>
            <a:ext cx="475488" cy="475488"/>
          </a:xfrm>
          <a:prstGeom prst="ellipse">
            <a:avLst/>
          </a:prstGeom>
          <a:solidFill>
            <a:srgbClr val="C41010"/>
          </a:solidFill>
          <a:ln w="12700">
            <a:solidFill>
              <a:srgbClr val="C41010"/>
            </a:solidFill>
            <a:prstDash val="solid"/>
          </a:ln>
        </p:spPr>
      </p:sp>
      <p:sp>
        <p:nvSpPr>
          <p:cNvPr id="42" name="Text 40"/>
          <p:cNvSpPr/>
          <p:nvPr/>
        </p:nvSpPr>
        <p:spPr>
          <a:xfrm>
            <a:off x="7827264" y="2542032"/>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5</a:t>
            </a:r>
            <a:endParaRPr lang="en-US" sz="1500" dirty="0"/>
          </a:p>
        </p:txBody>
      </p:sp>
      <p:sp>
        <p:nvSpPr>
          <p:cNvPr id="43" name="Text 41"/>
          <p:cNvSpPr/>
          <p:nvPr/>
        </p:nvSpPr>
        <p:spPr>
          <a:xfrm>
            <a:off x="7388352" y="3108960"/>
            <a:ext cx="1371600" cy="685800"/>
          </a:xfrm>
          <a:prstGeom prst="rect">
            <a:avLst/>
          </a:prstGeom>
          <a:noFill/>
          <a:ln/>
        </p:spPr>
        <p:txBody>
          <a:bodyPr wrap="square" lIns="0" tIns="0" rIns="0" bIns="0" rtlCol="0" anchor="ctr"/>
          <a:lstStyle/>
          <a:p>
            <a:pPr marL="0" indent="0" algn="ctr">
              <a:buNone/>
            </a:pPr>
            <a:r>
              <a:rPr lang="en-US" sz="1200" dirty="0">
                <a:solidFill>
                  <a:srgbClr val="C8C8C8"/>
                </a:solidFill>
                <a:latin typeface="Times New Roman" pitchFamily="34" charset="0"/>
                <a:ea typeface="Times New Roman" pitchFamily="34" charset="-122"/>
                <a:cs typeface="Times New Roman" pitchFamily="34" charset="-120"/>
              </a:rPr>
              <a:t>Audit</a:t>
            </a:r>
            <a:endParaRPr lang="en-US" sz="1200" dirty="0"/>
          </a:p>
          <a:p>
            <a:pPr marL="0" indent="0" algn="ctr">
              <a:buNone/>
            </a:pPr>
            <a:r>
              <a:rPr lang="en-US" sz="1200" dirty="0">
                <a:solidFill>
                  <a:srgbClr val="C8C8C8"/>
                </a:solidFill>
                <a:latin typeface="Times New Roman" pitchFamily="34" charset="0"/>
                <a:ea typeface="Times New Roman" pitchFamily="34" charset="-122"/>
                <a:cs typeface="Times New Roman" pitchFamily="34" charset="-120"/>
              </a:rPr>
              <a:t>Evidence</a:t>
            </a:r>
            <a:endParaRPr lang="en-US" sz="1200" dirty="0"/>
          </a:p>
        </p:txBody>
      </p:sp>
      <p:sp>
        <p:nvSpPr>
          <p:cNvPr id="44" name="Text 42"/>
          <p:cNvSpPr/>
          <p:nvPr/>
        </p:nvSpPr>
        <p:spPr>
          <a:xfrm>
            <a:off x="365760" y="4069080"/>
            <a:ext cx="8412480" cy="658368"/>
          </a:xfrm>
          <a:prstGeom prst="rect">
            <a:avLst/>
          </a:prstGeom>
          <a:noFill/>
          <a:ln/>
        </p:spPr>
        <p:txBody>
          <a:bodyPr wrap="square" lIns="0" tIns="0" rIns="0" bIns="0" rtlCol="0" anchor="ctr"/>
          <a:lstStyle/>
          <a:p>
            <a:pPr marL="0" indent="0" algn="ctr">
              <a:buNone/>
            </a:pPr>
            <a:r>
              <a:rPr lang="en-US" sz="1400" i="1" dirty="0">
                <a:solidFill>
                  <a:srgbClr val="E84040"/>
                </a:solidFill>
                <a:latin typeface="Times New Roman" pitchFamily="34" charset="0"/>
                <a:ea typeface="Times New Roman" pitchFamily="34" charset="-122"/>
                <a:cs typeface="Times New Roman" pitchFamily="34" charset="-120"/>
              </a:rPr>
              <a:t>"Turn scattered exceptions into governed, scored, lifecycle-tracked decisions."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6E0000"/>
          </a:solidFill>
          <a:ln w="12700">
            <a:solidFill>
              <a:srgbClr val="6E0000"/>
            </a:solidFill>
            <a:prstDash val="solid"/>
          </a:ln>
        </p:spPr>
      </p:sp>
      <p:sp>
        <p:nvSpPr>
          <p:cNvPr id="3" name="Shape 1"/>
          <p:cNvSpPr/>
          <p:nvPr/>
        </p:nvSpPr>
        <p:spPr>
          <a:xfrm>
            <a:off x="0" y="4983480"/>
            <a:ext cx="9144000" cy="160020"/>
          </a:xfrm>
          <a:prstGeom prst="rect">
            <a:avLst/>
          </a:prstGeom>
          <a:solidFill>
            <a:srgbClr val="6E0000"/>
          </a:solidFill>
          <a:ln w="12700">
            <a:solidFill>
              <a:srgbClr val="6E0000"/>
            </a:solidFill>
            <a:prstDash val="solid"/>
          </a:ln>
        </p:spPr>
      </p:sp>
      <p:sp>
        <p:nvSpPr>
          <p:cNvPr id="4" name="Text 2"/>
          <p:cNvSpPr/>
          <p:nvPr/>
        </p:nvSpPr>
        <p:spPr>
          <a:xfrm>
            <a:off x="365760" y="64008"/>
            <a:ext cx="7863840" cy="438912"/>
          </a:xfrm>
          <a:prstGeom prst="rect">
            <a:avLst/>
          </a:prstGeom>
          <a:noFill/>
          <a:ln/>
        </p:spPr>
        <p:txBody>
          <a:bodyPr wrap="square" lIns="0" tIns="0" rIns="0" bIns="0" rtlCol="0" anchor="ctr"/>
          <a:lstStyle/>
          <a:p>
            <a:pPr marL="0" indent="0">
              <a:buNone/>
            </a:pPr>
            <a:r>
              <a:rPr lang="en-US" sz="2100" b="1" dirty="0">
                <a:solidFill>
                  <a:srgbClr val="FFFFFF"/>
                </a:solidFill>
                <a:latin typeface="Times New Roman" pitchFamily="34" charset="0"/>
                <a:ea typeface="Times New Roman" pitchFamily="34" charset="-122"/>
                <a:cs typeface="Times New Roman" pitchFamily="34" charset="-120"/>
              </a:rPr>
              <a:t>System Architecture</a:t>
            </a:r>
            <a:endParaRPr lang="en-US" sz="2100" dirty="0"/>
          </a:p>
        </p:txBody>
      </p:sp>
      <p:sp>
        <p:nvSpPr>
          <p:cNvPr id="5" name="Text 3"/>
          <p:cNvSpPr/>
          <p:nvPr/>
        </p:nvSpPr>
        <p:spPr>
          <a:xfrm>
            <a:off x="7955280" y="64008"/>
            <a:ext cx="914400" cy="438912"/>
          </a:xfrm>
          <a:prstGeom prst="rect">
            <a:avLst/>
          </a:prstGeom>
          <a:noFill/>
          <a:ln/>
        </p:spPr>
        <p:txBody>
          <a:bodyPr wrap="square" lIns="0" tIns="0" rIns="0" bIns="0" rtlCol="0" anchor="ctr"/>
          <a:lstStyle/>
          <a:p>
            <a:pPr marL="0" indent="0" algn="r">
              <a:buNone/>
            </a:pPr>
            <a:r>
              <a:rPr lang="en-US" sz="1100" dirty="0">
                <a:solidFill>
                  <a:srgbClr val="C8C8C8"/>
                </a:solidFill>
                <a:latin typeface="Times New Roman" pitchFamily="34" charset="0"/>
                <a:ea typeface="Times New Roman" pitchFamily="34" charset="-122"/>
                <a:cs typeface="Times New Roman" pitchFamily="34" charset="-120"/>
              </a:rPr>
              <a:t>5/12</a:t>
            </a:r>
            <a:endParaRPr lang="en-US" sz="1100" dirty="0"/>
          </a:p>
        </p:txBody>
      </p:sp>
      <p:sp>
        <p:nvSpPr>
          <p:cNvPr id="6" name="Text 4"/>
          <p:cNvSpPr/>
          <p:nvPr/>
        </p:nvSpPr>
        <p:spPr>
          <a:xfrm>
            <a:off x="365760" y="4983480"/>
            <a:ext cx="8412480" cy="160020"/>
          </a:xfrm>
          <a:prstGeom prst="rect">
            <a:avLst/>
          </a:prstGeom>
          <a:noFill/>
          <a:ln/>
        </p:spPr>
        <p:txBody>
          <a:bodyPr wrap="square" lIns="0" tIns="0" rIns="0" bIns="0" rtlCol="0" anchor="ctr"/>
          <a:lstStyle/>
          <a:p>
            <a:pPr marL="0" indent="0">
              <a:buNone/>
            </a:pPr>
            <a:r>
              <a:rPr lang="en-US" sz="800" dirty="0">
                <a:solidFill>
                  <a:srgbClr val="C8C8C8"/>
                </a:solidFill>
                <a:latin typeface="Times New Roman" pitchFamily="34" charset="0"/>
                <a:ea typeface="Times New Roman" pitchFamily="34" charset="-122"/>
                <a:cs typeface="Times New Roman" pitchFamily="34" charset="-120"/>
              </a:rPr>
              <a:t>RiskWaiver360  ·  GRC Exception &amp; Policy Waiver Management  ·  RVCE 2026</a:t>
            </a:r>
            <a:endParaRPr lang="en-US" sz="800" dirty="0"/>
          </a:p>
        </p:txBody>
      </p:sp>
      <p:sp>
        <p:nvSpPr>
          <p:cNvPr id="7" name="Shape 5"/>
          <p:cNvSpPr/>
          <p:nvPr/>
        </p:nvSpPr>
        <p:spPr>
          <a:xfrm>
            <a:off x="365760" y="658368"/>
            <a:ext cx="8412480" cy="1261872"/>
          </a:xfrm>
          <a:prstGeom prst="rect">
            <a:avLst/>
          </a:prstGeom>
          <a:solidFill>
            <a:srgbClr val="1A0808"/>
          </a:solidFill>
          <a:ln w="19050">
            <a:solidFill>
              <a:srgbClr val="E84040"/>
            </a:solidFill>
            <a:prstDash val="solid"/>
          </a:ln>
          <a:effectLst>
            <a:outerShdw blurRad="127000" dist="38100" dir="8100000" algn="bl" rotWithShape="0">
              <a:srgbClr val="000000">
                <a:alpha val="45000"/>
              </a:srgbClr>
            </a:outerShdw>
          </a:effectLst>
        </p:spPr>
      </p:sp>
      <p:sp>
        <p:nvSpPr>
          <p:cNvPr id="8" name="Text 6"/>
          <p:cNvSpPr/>
          <p:nvPr/>
        </p:nvSpPr>
        <p:spPr>
          <a:xfrm>
            <a:off x="530352" y="749808"/>
            <a:ext cx="8229600" cy="329184"/>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itchFamily="34" charset="0"/>
                <a:ea typeface="Times New Roman" pitchFamily="34" charset="-122"/>
                <a:cs typeface="Times New Roman" pitchFamily="34" charset="-120"/>
              </a:rPr>
              <a:t>PRESENTATION LAYER</a:t>
            </a:r>
            <a:endParaRPr lang="en-US" sz="1200" dirty="0"/>
          </a:p>
        </p:txBody>
      </p:sp>
      <p:sp>
        <p:nvSpPr>
          <p:cNvPr id="9" name="Text 7"/>
          <p:cNvSpPr/>
          <p:nvPr/>
        </p:nvSpPr>
        <p:spPr>
          <a:xfrm>
            <a:off x="530352" y="1115568"/>
            <a:ext cx="8229600" cy="329184"/>
          </a:xfrm>
          <a:prstGeom prst="rect">
            <a:avLst/>
          </a:prstGeom>
          <a:noFill/>
          <a:ln/>
        </p:spPr>
        <p:txBody>
          <a:bodyPr wrap="square" lIns="0" tIns="0" rIns="0" bIns="0" rtlCol="0" anchor="ctr"/>
          <a:lstStyle/>
          <a:p>
            <a:pPr marL="0" indent="0">
              <a:buNone/>
            </a:pPr>
            <a:r>
              <a:rPr lang="en-US" sz="1200" dirty="0">
                <a:solidFill>
                  <a:srgbClr val="C8C8C8"/>
                </a:solidFill>
                <a:latin typeface="Times New Roman" pitchFamily="34" charset="0"/>
                <a:ea typeface="Times New Roman" pitchFamily="34" charset="-122"/>
                <a:cs typeface="Times New Roman" pitchFamily="34" charset="-120"/>
              </a:rPr>
              <a:t>›  React 18 + Vite  ·  Role-Based Workspaces</a:t>
            </a:r>
            <a:endParaRPr lang="en-US" sz="1200" dirty="0"/>
          </a:p>
        </p:txBody>
      </p:sp>
      <p:sp>
        <p:nvSpPr>
          <p:cNvPr id="10" name="Text 8"/>
          <p:cNvSpPr/>
          <p:nvPr/>
        </p:nvSpPr>
        <p:spPr>
          <a:xfrm>
            <a:off x="530352" y="1463040"/>
            <a:ext cx="8229600" cy="329184"/>
          </a:xfrm>
          <a:prstGeom prst="rect">
            <a:avLst/>
          </a:prstGeom>
          <a:noFill/>
          <a:ln/>
        </p:spPr>
        <p:txBody>
          <a:bodyPr wrap="square" lIns="0" tIns="0" rIns="0" bIns="0" rtlCol="0" anchor="ctr"/>
          <a:lstStyle/>
          <a:p>
            <a:pPr marL="0" indent="0">
              <a:buNone/>
            </a:pPr>
            <a:r>
              <a:rPr lang="en-US" sz="1200" dirty="0">
                <a:solidFill>
                  <a:srgbClr val="C8C8C8"/>
                </a:solidFill>
                <a:latin typeface="Times New Roman" pitchFamily="34" charset="0"/>
                <a:ea typeface="Times New Roman" pitchFamily="34" charset="-122"/>
                <a:cs typeface="Times New Roman" pitchFamily="34" charset="-120"/>
              </a:rPr>
              <a:t>›  4 Role Views: Requester / Reviewer / Approver / Auditor</a:t>
            </a:r>
            <a:endParaRPr lang="en-US" sz="1200" dirty="0"/>
          </a:p>
        </p:txBody>
      </p:sp>
      <p:sp>
        <p:nvSpPr>
          <p:cNvPr id="11" name="Shape 9"/>
          <p:cNvSpPr/>
          <p:nvPr/>
        </p:nvSpPr>
        <p:spPr>
          <a:xfrm>
            <a:off x="365760" y="2075688"/>
            <a:ext cx="8412480" cy="1261872"/>
          </a:xfrm>
          <a:prstGeom prst="rect">
            <a:avLst/>
          </a:prstGeom>
          <a:solidFill>
            <a:srgbClr val="101010"/>
          </a:solidFill>
          <a:ln w="19050">
            <a:solidFill>
              <a:srgbClr val="C41010"/>
            </a:solidFill>
            <a:prstDash val="solid"/>
          </a:ln>
          <a:effectLst>
            <a:outerShdw blurRad="127000" dist="38100" dir="8100000" algn="bl" rotWithShape="0">
              <a:srgbClr val="000000">
                <a:alpha val="45000"/>
              </a:srgbClr>
            </a:outerShdw>
          </a:effectLst>
        </p:spPr>
      </p:sp>
      <p:sp>
        <p:nvSpPr>
          <p:cNvPr id="12" name="Text 10"/>
          <p:cNvSpPr/>
          <p:nvPr/>
        </p:nvSpPr>
        <p:spPr>
          <a:xfrm>
            <a:off x="530352" y="2167128"/>
            <a:ext cx="8229600" cy="329184"/>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itchFamily="34" charset="0"/>
                <a:ea typeface="Times New Roman" pitchFamily="34" charset="-122"/>
                <a:cs typeface="Times New Roman" pitchFamily="34" charset="-120"/>
              </a:rPr>
              <a:t>API LAYER</a:t>
            </a:r>
            <a:endParaRPr lang="en-US" sz="1200" dirty="0"/>
          </a:p>
        </p:txBody>
      </p:sp>
      <p:sp>
        <p:nvSpPr>
          <p:cNvPr id="13" name="Text 11"/>
          <p:cNvSpPr/>
          <p:nvPr/>
        </p:nvSpPr>
        <p:spPr>
          <a:xfrm>
            <a:off x="530352" y="2532888"/>
            <a:ext cx="8229600" cy="329184"/>
          </a:xfrm>
          <a:prstGeom prst="rect">
            <a:avLst/>
          </a:prstGeom>
          <a:noFill/>
          <a:ln/>
        </p:spPr>
        <p:txBody>
          <a:bodyPr wrap="square" lIns="0" tIns="0" rIns="0" bIns="0" rtlCol="0" anchor="ctr"/>
          <a:lstStyle/>
          <a:p>
            <a:pPr marL="0" indent="0">
              <a:buNone/>
            </a:pPr>
            <a:r>
              <a:rPr lang="en-US" sz="1200" dirty="0">
                <a:solidFill>
                  <a:srgbClr val="C8C8C8"/>
                </a:solidFill>
                <a:latin typeface="Times New Roman" pitchFamily="34" charset="0"/>
                <a:ea typeface="Times New Roman" pitchFamily="34" charset="-122"/>
                <a:cs typeface="Times New Roman" pitchFamily="34" charset="-120"/>
              </a:rPr>
              <a:t>›  Node.js + Express REST API  ·  Port 4000</a:t>
            </a:r>
            <a:endParaRPr lang="en-US" sz="1200" dirty="0"/>
          </a:p>
        </p:txBody>
      </p:sp>
      <p:sp>
        <p:nvSpPr>
          <p:cNvPr id="14" name="Text 12"/>
          <p:cNvSpPr/>
          <p:nvPr/>
        </p:nvSpPr>
        <p:spPr>
          <a:xfrm>
            <a:off x="530352" y="2880360"/>
            <a:ext cx="8229600" cy="329184"/>
          </a:xfrm>
          <a:prstGeom prst="rect">
            <a:avLst/>
          </a:prstGeom>
          <a:noFill/>
          <a:ln/>
        </p:spPr>
        <p:txBody>
          <a:bodyPr wrap="square" lIns="0" tIns="0" rIns="0" bIns="0" rtlCol="0" anchor="ctr"/>
          <a:lstStyle/>
          <a:p>
            <a:pPr marL="0" indent="0">
              <a:buNone/>
            </a:pPr>
            <a:r>
              <a:rPr lang="en-US" sz="1200" dirty="0">
                <a:solidFill>
                  <a:srgbClr val="C8C8C8"/>
                </a:solidFill>
                <a:latin typeface="Times New Roman" pitchFamily="34" charset="0"/>
                <a:ea typeface="Times New Roman" pitchFamily="34" charset="-122"/>
                <a:cs typeface="Times New Roman" pitchFamily="34" charset="-120"/>
              </a:rPr>
              <a:t>›  Routes: Exceptions · Approvals · Alerts · Conflicts · Audit</a:t>
            </a:r>
            <a:endParaRPr lang="en-US" sz="1200" dirty="0"/>
          </a:p>
        </p:txBody>
      </p:sp>
      <p:sp>
        <p:nvSpPr>
          <p:cNvPr id="15" name="Shape 13"/>
          <p:cNvSpPr/>
          <p:nvPr/>
        </p:nvSpPr>
        <p:spPr>
          <a:xfrm>
            <a:off x="365760" y="3493008"/>
            <a:ext cx="8412480" cy="1261872"/>
          </a:xfrm>
          <a:prstGeom prst="rect">
            <a:avLst/>
          </a:prstGeom>
          <a:solidFill>
            <a:srgbClr val="000A00"/>
          </a:solidFill>
          <a:ln w="19050">
            <a:solidFill>
              <a:srgbClr val="2E6B2E"/>
            </a:solidFill>
            <a:prstDash val="solid"/>
          </a:ln>
          <a:effectLst>
            <a:outerShdw blurRad="127000" dist="38100" dir="8100000" algn="bl" rotWithShape="0">
              <a:srgbClr val="000000">
                <a:alpha val="45000"/>
              </a:srgbClr>
            </a:outerShdw>
          </a:effectLst>
        </p:spPr>
      </p:sp>
      <p:sp>
        <p:nvSpPr>
          <p:cNvPr id="16" name="Text 14"/>
          <p:cNvSpPr/>
          <p:nvPr/>
        </p:nvSpPr>
        <p:spPr>
          <a:xfrm>
            <a:off x="530352" y="3584448"/>
            <a:ext cx="8229600" cy="329184"/>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itchFamily="34" charset="0"/>
                <a:ea typeface="Times New Roman" pitchFamily="34" charset="-122"/>
                <a:cs typeface="Times New Roman" pitchFamily="34" charset="-120"/>
              </a:rPr>
              <a:t>DATA &amp; SERVICES LAYER</a:t>
            </a:r>
            <a:endParaRPr lang="en-US" sz="1200" dirty="0"/>
          </a:p>
        </p:txBody>
      </p:sp>
      <p:sp>
        <p:nvSpPr>
          <p:cNvPr id="17" name="Text 15"/>
          <p:cNvSpPr/>
          <p:nvPr/>
        </p:nvSpPr>
        <p:spPr>
          <a:xfrm>
            <a:off x="530352" y="3950208"/>
            <a:ext cx="8229600" cy="329184"/>
          </a:xfrm>
          <a:prstGeom prst="rect">
            <a:avLst/>
          </a:prstGeom>
          <a:noFill/>
          <a:ln/>
        </p:spPr>
        <p:txBody>
          <a:bodyPr wrap="square" lIns="0" tIns="0" rIns="0" bIns="0" rtlCol="0" anchor="ctr"/>
          <a:lstStyle/>
          <a:p>
            <a:pPr marL="0" indent="0">
              <a:buNone/>
            </a:pPr>
            <a:r>
              <a:rPr lang="en-US" sz="1200" dirty="0">
                <a:solidFill>
                  <a:srgbClr val="C8C8C8"/>
                </a:solidFill>
                <a:latin typeface="Times New Roman" pitchFamily="34" charset="0"/>
                <a:ea typeface="Times New Roman" pitchFamily="34" charset="-122"/>
                <a:cs typeface="Times New Roman" pitchFamily="34" charset="-120"/>
              </a:rPr>
              <a:t>›  JSON Flat-File Storage (Demo)  ·  600 Exception Records</a:t>
            </a:r>
            <a:endParaRPr lang="en-US" sz="1200" dirty="0"/>
          </a:p>
        </p:txBody>
      </p:sp>
      <p:sp>
        <p:nvSpPr>
          <p:cNvPr id="18" name="Text 16"/>
          <p:cNvSpPr/>
          <p:nvPr/>
        </p:nvSpPr>
        <p:spPr>
          <a:xfrm>
            <a:off x="530352" y="4297680"/>
            <a:ext cx="8229600" cy="329184"/>
          </a:xfrm>
          <a:prstGeom prst="rect">
            <a:avLst/>
          </a:prstGeom>
          <a:noFill/>
          <a:ln/>
        </p:spPr>
        <p:txBody>
          <a:bodyPr wrap="square" lIns="0" tIns="0" rIns="0" bIns="0" rtlCol="0" anchor="ctr"/>
          <a:lstStyle/>
          <a:p>
            <a:pPr marL="0" indent="0">
              <a:buNone/>
            </a:pPr>
            <a:r>
              <a:rPr lang="en-US" sz="1200" dirty="0">
                <a:solidFill>
                  <a:srgbClr val="C8C8C8"/>
                </a:solidFill>
                <a:latin typeface="Times New Roman" pitchFamily="34" charset="0"/>
                <a:ea typeface="Times New Roman" pitchFamily="34" charset="-122"/>
                <a:cs typeface="Times New Roman" pitchFamily="34" charset="-120"/>
              </a:rPr>
              <a:t>›  Services: Risk Scoring · Alert Engine · GRC Intelligence · Audit</a:t>
            </a:r>
            <a:endParaRPr lang="en-US" sz="1200" dirty="0"/>
          </a:p>
        </p:txBody>
      </p:sp>
      <p:sp>
        <p:nvSpPr>
          <p:cNvPr id="19" name="Shape 17"/>
          <p:cNvSpPr/>
          <p:nvPr/>
        </p:nvSpPr>
        <p:spPr>
          <a:xfrm>
            <a:off x="4315968" y="1929384"/>
            <a:ext cx="512064" cy="128016"/>
          </a:xfrm>
          <a:prstGeom prst="rect">
            <a:avLst/>
          </a:prstGeom>
          <a:solidFill>
            <a:srgbClr val="C41010"/>
          </a:solidFill>
          <a:ln w="12700">
            <a:solidFill>
              <a:srgbClr val="C41010"/>
            </a:solidFill>
            <a:prstDash val="solid"/>
          </a:ln>
        </p:spPr>
      </p:sp>
      <p:sp>
        <p:nvSpPr>
          <p:cNvPr id="20" name="Shape 18"/>
          <p:cNvSpPr/>
          <p:nvPr/>
        </p:nvSpPr>
        <p:spPr>
          <a:xfrm>
            <a:off x="4315968" y="3346704"/>
            <a:ext cx="512064" cy="128016"/>
          </a:xfrm>
          <a:prstGeom prst="rect">
            <a:avLst/>
          </a:prstGeom>
          <a:solidFill>
            <a:srgbClr val="C41010"/>
          </a:solidFill>
          <a:ln w="12700">
            <a:solidFill>
              <a:srgbClr val="C41010"/>
            </a:solidFill>
            <a:prstDash val="solid"/>
          </a:ln>
        </p:spPr>
      </p:sp>
      <p:sp>
        <p:nvSpPr>
          <p:cNvPr id="21" name="Text 19"/>
          <p:cNvSpPr/>
          <p:nvPr/>
        </p:nvSpPr>
        <p:spPr>
          <a:xfrm>
            <a:off x="365760" y="4773168"/>
            <a:ext cx="1188720" cy="182880"/>
          </a:xfrm>
          <a:prstGeom prst="rect">
            <a:avLst/>
          </a:prstGeom>
          <a:noFill/>
          <a:ln/>
        </p:spPr>
        <p:txBody>
          <a:bodyPr wrap="square" lIns="0" tIns="0" rIns="0" bIns="0" rtlCol="0" anchor="ctr"/>
          <a:lstStyle/>
          <a:p>
            <a:pPr marL="0" indent="0">
              <a:buNone/>
            </a:pPr>
            <a:r>
              <a:rPr lang="en-US" sz="900" b="1" dirty="0">
                <a:solidFill>
                  <a:srgbClr val="888888"/>
                </a:solidFill>
                <a:latin typeface="Times New Roman" pitchFamily="34" charset="0"/>
                <a:ea typeface="Times New Roman" pitchFamily="34" charset="-122"/>
                <a:cs typeface="Times New Roman" pitchFamily="34" charset="-120"/>
              </a:rPr>
              <a:t>Engines:</a:t>
            </a:r>
            <a:endParaRPr lang="en-US" sz="900" dirty="0"/>
          </a:p>
        </p:txBody>
      </p:sp>
      <p:sp>
        <p:nvSpPr>
          <p:cNvPr id="22" name="Shape 20"/>
          <p:cNvSpPr/>
          <p:nvPr/>
        </p:nvSpPr>
        <p:spPr>
          <a:xfrm>
            <a:off x="1600200" y="4773168"/>
            <a:ext cx="1691640" cy="182880"/>
          </a:xfrm>
          <a:prstGeom prst="rect">
            <a:avLst/>
          </a:prstGeom>
          <a:solidFill>
            <a:srgbClr val="6E0000"/>
          </a:solidFill>
          <a:ln w="8890">
            <a:solidFill>
              <a:srgbClr val="C41010"/>
            </a:solidFill>
            <a:prstDash val="solid"/>
          </a:ln>
          <a:effectLst>
            <a:outerShdw blurRad="127000" dist="38100" dir="8100000" algn="bl" rotWithShape="0">
              <a:srgbClr val="000000">
                <a:alpha val="45000"/>
              </a:srgbClr>
            </a:outerShdw>
          </a:effectLst>
        </p:spPr>
      </p:sp>
      <p:sp>
        <p:nvSpPr>
          <p:cNvPr id="23" name="Text 21"/>
          <p:cNvSpPr/>
          <p:nvPr/>
        </p:nvSpPr>
        <p:spPr>
          <a:xfrm>
            <a:off x="1618488" y="4773168"/>
            <a:ext cx="1655064" cy="182880"/>
          </a:xfrm>
          <a:prstGeom prst="rect">
            <a:avLst/>
          </a:prstGeom>
          <a:noFill/>
          <a:ln/>
        </p:spPr>
        <p:txBody>
          <a:bodyPr wrap="square" lIns="0" tIns="0" rIns="0" bIns="0" rtlCol="0" anchor="ctr"/>
          <a:lstStyle/>
          <a:p>
            <a:pPr marL="0" indent="0" algn="ctr">
              <a:buNone/>
            </a:pPr>
            <a:r>
              <a:rPr lang="en-US" sz="950" b="1" dirty="0">
                <a:solidFill>
                  <a:srgbClr val="FFFFFF"/>
                </a:solidFill>
                <a:latin typeface="Times New Roman" pitchFamily="34" charset="0"/>
                <a:ea typeface="Times New Roman" pitchFamily="34" charset="-122"/>
                <a:cs typeface="Times New Roman" pitchFamily="34" charset="-120"/>
              </a:rPr>
              <a:t>Risk Scoring</a:t>
            </a:r>
            <a:endParaRPr lang="en-US" sz="950" dirty="0"/>
          </a:p>
        </p:txBody>
      </p:sp>
      <p:sp>
        <p:nvSpPr>
          <p:cNvPr id="24" name="Shape 22"/>
          <p:cNvSpPr/>
          <p:nvPr/>
        </p:nvSpPr>
        <p:spPr>
          <a:xfrm>
            <a:off x="3474720" y="4773168"/>
            <a:ext cx="1691640" cy="182880"/>
          </a:xfrm>
          <a:prstGeom prst="rect">
            <a:avLst/>
          </a:prstGeom>
          <a:solidFill>
            <a:srgbClr val="6E0000"/>
          </a:solidFill>
          <a:ln w="8890">
            <a:solidFill>
              <a:srgbClr val="C41010"/>
            </a:solidFill>
            <a:prstDash val="solid"/>
          </a:ln>
          <a:effectLst>
            <a:outerShdw blurRad="127000" dist="38100" dir="8100000" algn="bl" rotWithShape="0">
              <a:srgbClr val="000000">
                <a:alpha val="45000"/>
              </a:srgbClr>
            </a:outerShdw>
          </a:effectLst>
        </p:spPr>
      </p:sp>
      <p:sp>
        <p:nvSpPr>
          <p:cNvPr id="25" name="Text 23"/>
          <p:cNvSpPr/>
          <p:nvPr/>
        </p:nvSpPr>
        <p:spPr>
          <a:xfrm>
            <a:off x="3493008" y="4773168"/>
            <a:ext cx="1655064" cy="182880"/>
          </a:xfrm>
          <a:prstGeom prst="rect">
            <a:avLst/>
          </a:prstGeom>
          <a:noFill/>
          <a:ln/>
        </p:spPr>
        <p:txBody>
          <a:bodyPr wrap="square" lIns="0" tIns="0" rIns="0" bIns="0" rtlCol="0" anchor="ctr"/>
          <a:lstStyle/>
          <a:p>
            <a:pPr marL="0" indent="0" algn="ctr">
              <a:buNone/>
            </a:pPr>
            <a:r>
              <a:rPr lang="en-US" sz="950" b="1" dirty="0">
                <a:solidFill>
                  <a:srgbClr val="FFFFFF"/>
                </a:solidFill>
                <a:latin typeface="Times New Roman" pitchFamily="34" charset="0"/>
                <a:ea typeface="Times New Roman" pitchFamily="34" charset="-122"/>
                <a:cs typeface="Times New Roman" pitchFamily="34" charset="-120"/>
              </a:rPr>
              <a:t>Alert Engine</a:t>
            </a:r>
            <a:endParaRPr lang="en-US" sz="950" dirty="0"/>
          </a:p>
        </p:txBody>
      </p:sp>
      <p:sp>
        <p:nvSpPr>
          <p:cNvPr id="26" name="Shape 24"/>
          <p:cNvSpPr/>
          <p:nvPr/>
        </p:nvSpPr>
        <p:spPr>
          <a:xfrm>
            <a:off x="5349240" y="4773168"/>
            <a:ext cx="1691640" cy="182880"/>
          </a:xfrm>
          <a:prstGeom prst="rect">
            <a:avLst/>
          </a:prstGeom>
          <a:solidFill>
            <a:srgbClr val="6E0000"/>
          </a:solidFill>
          <a:ln w="8890">
            <a:solidFill>
              <a:srgbClr val="C41010"/>
            </a:solidFill>
            <a:prstDash val="solid"/>
          </a:ln>
          <a:effectLst>
            <a:outerShdw blurRad="127000" dist="38100" dir="8100000" algn="bl" rotWithShape="0">
              <a:srgbClr val="000000">
                <a:alpha val="45000"/>
              </a:srgbClr>
            </a:outerShdw>
          </a:effectLst>
        </p:spPr>
      </p:sp>
      <p:sp>
        <p:nvSpPr>
          <p:cNvPr id="27" name="Text 25"/>
          <p:cNvSpPr/>
          <p:nvPr/>
        </p:nvSpPr>
        <p:spPr>
          <a:xfrm>
            <a:off x="5367528" y="4773168"/>
            <a:ext cx="1655064" cy="182880"/>
          </a:xfrm>
          <a:prstGeom prst="rect">
            <a:avLst/>
          </a:prstGeom>
          <a:noFill/>
          <a:ln/>
        </p:spPr>
        <p:txBody>
          <a:bodyPr wrap="square" lIns="0" tIns="0" rIns="0" bIns="0" rtlCol="0" anchor="ctr"/>
          <a:lstStyle/>
          <a:p>
            <a:pPr marL="0" indent="0" algn="ctr">
              <a:buNone/>
            </a:pPr>
            <a:r>
              <a:rPr lang="en-US" sz="950" b="1" dirty="0">
                <a:solidFill>
                  <a:srgbClr val="FFFFFF"/>
                </a:solidFill>
                <a:latin typeface="Times New Roman" pitchFamily="34" charset="0"/>
                <a:ea typeface="Times New Roman" pitchFamily="34" charset="-122"/>
                <a:cs typeface="Times New Roman" pitchFamily="34" charset="-120"/>
              </a:rPr>
              <a:t>GRC Intelligence</a:t>
            </a:r>
            <a:endParaRPr lang="en-US" sz="950" dirty="0"/>
          </a:p>
        </p:txBody>
      </p:sp>
      <p:sp>
        <p:nvSpPr>
          <p:cNvPr id="28" name="Shape 26"/>
          <p:cNvSpPr/>
          <p:nvPr/>
        </p:nvSpPr>
        <p:spPr>
          <a:xfrm>
            <a:off x="7223760" y="4773168"/>
            <a:ext cx="1691640" cy="182880"/>
          </a:xfrm>
          <a:prstGeom prst="rect">
            <a:avLst/>
          </a:prstGeom>
          <a:solidFill>
            <a:srgbClr val="6E0000"/>
          </a:solidFill>
          <a:ln w="8890">
            <a:solidFill>
              <a:srgbClr val="C41010"/>
            </a:solidFill>
            <a:prstDash val="solid"/>
          </a:ln>
          <a:effectLst>
            <a:outerShdw blurRad="127000" dist="38100" dir="8100000" algn="bl" rotWithShape="0">
              <a:srgbClr val="000000">
                <a:alpha val="45000"/>
              </a:srgbClr>
            </a:outerShdw>
          </a:effectLst>
        </p:spPr>
      </p:sp>
      <p:sp>
        <p:nvSpPr>
          <p:cNvPr id="29" name="Text 27"/>
          <p:cNvSpPr/>
          <p:nvPr/>
        </p:nvSpPr>
        <p:spPr>
          <a:xfrm>
            <a:off x="7242048" y="4773168"/>
            <a:ext cx="1655064" cy="182880"/>
          </a:xfrm>
          <a:prstGeom prst="rect">
            <a:avLst/>
          </a:prstGeom>
          <a:noFill/>
          <a:ln/>
        </p:spPr>
        <p:txBody>
          <a:bodyPr wrap="square" lIns="0" tIns="0" rIns="0" bIns="0" rtlCol="0" anchor="ctr"/>
          <a:lstStyle/>
          <a:p>
            <a:pPr marL="0" indent="0" algn="ctr">
              <a:buNone/>
            </a:pPr>
            <a:r>
              <a:rPr lang="en-US" sz="950" b="1" dirty="0">
                <a:solidFill>
                  <a:srgbClr val="FFFFFF"/>
                </a:solidFill>
                <a:latin typeface="Times New Roman" pitchFamily="34" charset="0"/>
                <a:ea typeface="Times New Roman" pitchFamily="34" charset="-122"/>
                <a:cs typeface="Times New Roman" pitchFamily="34" charset="-120"/>
              </a:rPr>
              <a:t>Audit Report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6E0000"/>
          </a:solidFill>
          <a:ln w="12700">
            <a:solidFill>
              <a:srgbClr val="6E0000"/>
            </a:solidFill>
            <a:prstDash val="solid"/>
          </a:ln>
        </p:spPr>
      </p:sp>
      <p:sp>
        <p:nvSpPr>
          <p:cNvPr id="3" name="Shape 1"/>
          <p:cNvSpPr/>
          <p:nvPr/>
        </p:nvSpPr>
        <p:spPr>
          <a:xfrm>
            <a:off x="0" y="4983480"/>
            <a:ext cx="9144000" cy="160020"/>
          </a:xfrm>
          <a:prstGeom prst="rect">
            <a:avLst/>
          </a:prstGeom>
          <a:solidFill>
            <a:srgbClr val="6E0000"/>
          </a:solidFill>
          <a:ln w="12700">
            <a:solidFill>
              <a:srgbClr val="6E0000"/>
            </a:solidFill>
            <a:prstDash val="solid"/>
          </a:ln>
        </p:spPr>
      </p:sp>
      <p:sp>
        <p:nvSpPr>
          <p:cNvPr id="4" name="Text 2"/>
          <p:cNvSpPr/>
          <p:nvPr/>
        </p:nvSpPr>
        <p:spPr>
          <a:xfrm>
            <a:off x="365760" y="64008"/>
            <a:ext cx="7863840" cy="438912"/>
          </a:xfrm>
          <a:prstGeom prst="rect">
            <a:avLst/>
          </a:prstGeom>
          <a:noFill/>
          <a:ln/>
        </p:spPr>
        <p:txBody>
          <a:bodyPr wrap="square" lIns="0" tIns="0" rIns="0" bIns="0" rtlCol="0" anchor="ctr"/>
          <a:lstStyle/>
          <a:p>
            <a:pPr marL="0" indent="0">
              <a:buNone/>
            </a:pPr>
            <a:r>
              <a:rPr lang="en-US" sz="2100" b="1" dirty="0">
                <a:solidFill>
                  <a:srgbClr val="FFFFFF"/>
                </a:solidFill>
                <a:latin typeface="Times New Roman" pitchFamily="34" charset="0"/>
                <a:ea typeface="Times New Roman" pitchFamily="34" charset="-122"/>
                <a:cs typeface="Times New Roman" pitchFamily="34" charset="-120"/>
              </a:rPr>
              <a:t>Role-Based Workflow — Four Workspaces</a:t>
            </a:r>
            <a:endParaRPr lang="en-US" sz="2100" dirty="0"/>
          </a:p>
        </p:txBody>
      </p:sp>
      <p:sp>
        <p:nvSpPr>
          <p:cNvPr id="5" name="Text 3"/>
          <p:cNvSpPr/>
          <p:nvPr/>
        </p:nvSpPr>
        <p:spPr>
          <a:xfrm>
            <a:off x="7955280" y="64008"/>
            <a:ext cx="914400" cy="438912"/>
          </a:xfrm>
          <a:prstGeom prst="rect">
            <a:avLst/>
          </a:prstGeom>
          <a:noFill/>
          <a:ln/>
        </p:spPr>
        <p:txBody>
          <a:bodyPr wrap="square" lIns="0" tIns="0" rIns="0" bIns="0" rtlCol="0" anchor="ctr"/>
          <a:lstStyle/>
          <a:p>
            <a:pPr marL="0" indent="0" algn="r">
              <a:buNone/>
            </a:pPr>
            <a:r>
              <a:rPr lang="en-US" sz="1100" dirty="0">
                <a:solidFill>
                  <a:srgbClr val="C8C8C8"/>
                </a:solidFill>
                <a:latin typeface="Times New Roman" pitchFamily="34" charset="0"/>
                <a:ea typeface="Times New Roman" pitchFamily="34" charset="-122"/>
                <a:cs typeface="Times New Roman" pitchFamily="34" charset="-120"/>
              </a:rPr>
              <a:t>6/12</a:t>
            </a:r>
            <a:endParaRPr lang="en-US" sz="1100" dirty="0"/>
          </a:p>
        </p:txBody>
      </p:sp>
      <p:sp>
        <p:nvSpPr>
          <p:cNvPr id="6" name="Text 4"/>
          <p:cNvSpPr/>
          <p:nvPr/>
        </p:nvSpPr>
        <p:spPr>
          <a:xfrm>
            <a:off x="365760" y="4983480"/>
            <a:ext cx="8412480" cy="160020"/>
          </a:xfrm>
          <a:prstGeom prst="rect">
            <a:avLst/>
          </a:prstGeom>
          <a:noFill/>
          <a:ln/>
        </p:spPr>
        <p:txBody>
          <a:bodyPr wrap="square" lIns="0" tIns="0" rIns="0" bIns="0" rtlCol="0" anchor="ctr"/>
          <a:lstStyle/>
          <a:p>
            <a:pPr marL="0" indent="0">
              <a:buNone/>
            </a:pPr>
            <a:r>
              <a:rPr lang="en-US" sz="800" dirty="0">
                <a:solidFill>
                  <a:srgbClr val="C8C8C8"/>
                </a:solidFill>
                <a:latin typeface="Times New Roman" pitchFamily="34" charset="0"/>
                <a:ea typeface="Times New Roman" pitchFamily="34" charset="-122"/>
                <a:cs typeface="Times New Roman" pitchFamily="34" charset="-120"/>
              </a:rPr>
              <a:t>RiskWaiver360  ·  GRC Exception &amp; Policy Waiver Management  ·  RVCE 2026</a:t>
            </a:r>
            <a:endParaRPr lang="en-US" sz="800" dirty="0"/>
          </a:p>
        </p:txBody>
      </p:sp>
      <p:sp>
        <p:nvSpPr>
          <p:cNvPr id="7" name="Shape 5"/>
          <p:cNvSpPr/>
          <p:nvPr/>
        </p:nvSpPr>
        <p:spPr>
          <a:xfrm>
            <a:off x="228600" y="658368"/>
            <a:ext cx="2029968" cy="548640"/>
          </a:xfrm>
          <a:prstGeom prst="rect">
            <a:avLst/>
          </a:prstGeom>
          <a:solidFill>
            <a:srgbClr val="003080"/>
          </a:solidFill>
          <a:ln w="25400">
            <a:solidFill>
              <a:srgbClr val="1E5FA8"/>
            </a:solidFill>
            <a:prstDash val="solid"/>
          </a:ln>
          <a:effectLst>
            <a:outerShdw blurRad="127000" dist="38100" dir="8100000" algn="bl" rotWithShape="0">
              <a:srgbClr val="000000">
                <a:alpha val="45000"/>
              </a:srgbClr>
            </a:outerShdw>
          </a:effectLst>
        </p:spPr>
      </p:sp>
      <p:sp>
        <p:nvSpPr>
          <p:cNvPr id="8" name="Text 6"/>
          <p:cNvSpPr/>
          <p:nvPr/>
        </p:nvSpPr>
        <p:spPr>
          <a:xfrm>
            <a:off x="283464" y="658368"/>
            <a:ext cx="19202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Requester</a:t>
            </a:r>
            <a:endParaRPr lang="en-US" sz="1300" dirty="0"/>
          </a:p>
        </p:txBody>
      </p:sp>
      <p:sp>
        <p:nvSpPr>
          <p:cNvPr id="9" name="Shape 7"/>
          <p:cNvSpPr/>
          <p:nvPr/>
        </p:nvSpPr>
        <p:spPr>
          <a:xfrm>
            <a:off x="228600" y="1234440"/>
            <a:ext cx="2029968" cy="2423160"/>
          </a:xfrm>
          <a:prstGeom prst="rect">
            <a:avLst/>
          </a:prstGeom>
          <a:solidFill>
            <a:srgbClr val="141414"/>
          </a:solidFill>
          <a:ln w="12700">
            <a:solidFill>
              <a:srgbClr val="1E5FA8"/>
            </a:solidFill>
            <a:prstDash val="solid"/>
          </a:ln>
          <a:effectLst>
            <a:outerShdw blurRad="127000" dist="38100" dir="8100000" algn="bl" rotWithShape="0">
              <a:srgbClr val="000000">
                <a:alpha val="45000"/>
              </a:srgbClr>
            </a:outerShdw>
          </a:effectLst>
        </p:spPr>
      </p:sp>
      <p:sp>
        <p:nvSpPr>
          <p:cNvPr id="10" name="Text 8"/>
          <p:cNvSpPr/>
          <p:nvPr/>
        </p:nvSpPr>
        <p:spPr>
          <a:xfrm>
            <a:off x="320040" y="1325880"/>
            <a:ext cx="1847088" cy="658368"/>
          </a:xfrm>
          <a:prstGeom prst="rect">
            <a:avLst/>
          </a:prstGeom>
          <a:noFill/>
          <a:ln/>
        </p:spPr>
        <p:txBody>
          <a:bodyPr wrap="square" lIns="0" tIns="0" rIns="0" bIns="0" rtlCol="0" anchor="ctr"/>
          <a:lstStyle/>
          <a:p>
            <a:pPr marL="0" indent="0">
              <a:buNone/>
            </a:pPr>
            <a:r>
              <a:rPr lang="en-US" sz="1200" dirty="0">
                <a:solidFill>
                  <a:srgbClr val="C8C8C8"/>
                </a:solidFill>
                <a:latin typeface="Times New Roman" pitchFamily="34" charset="0"/>
                <a:ea typeface="Times New Roman" pitchFamily="34" charset="-122"/>
                <a:cs typeface="Times New Roman" pitchFamily="34" charset="-120"/>
              </a:rPr>
              <a:t>›  Submit policy exception requests</a:t>
            </a:r>
            <a:endParaRPr lang="en-US" sz="1200" dirty="0"/>
          </a:p>
        </p:txBody>
      </p:sp>
      <p:sp>
        <p:nvSpPr>
          <p:cNvPr id="11" name="Text 9"/>
          <p:cNvSpPr/>
          <p:nvPr/>
        </p:nvSpPr>
        <p:spPr>
          <a:xfrm>
            <a:off x="320040" y="2075688"/>
            <a:ext cx="1847088" cy="658368"/>
          </a:xfrm>
          <a:prstGeom prst="rect">
            <a:avLst/>
          </a:prstGeom>
          <a:noFill/>
          <a:ln/>
        </p:spPr>
        <p:txBody>
          <a:bodyPr wrap="square" lIns="0" tIns="0" rIns="0" bIns="0" rtlCol="0" anchor="ctr"/>
          <a:lstStyle/>
          <a:p>
            <a:pPr marL="0" indent="0">
              <a:buNone/>
            </a:pPr>
            <a:r>
              <a:rPr lang="en-US" sz="1200" dirty="0">
                <a:solidFill>
                  <a:srgbClr val="C8C8C8"/>
                </a:solidFill>
                <a:latin typeface="Times New Roman" pitchFamily="34" charset="0"/>
                <a:ea typeface="Times New Roman" pitchFamily="34" charset="-122"/>
                <a:cs typeface="Times New Roman" pitchFamily="34" charset="-120"/>
              </a:rPr>
              <a:t>›  Track exception status &amp; history</a:t>
            </a:r>
            <a:endParaRPr lang="en-US" sz="1200" dirty="0"/>
          </a:p>
        </p:txBody>
      </p:sp>
      <p:sp>
        <p:nvSpPr>
          <p:cNvPr id="12" name="Text 10"/>
          <p:cNvSpPr/>
          <p:nvPr/>
        </p:nvSpPr>
        <p:spPr>
          <a:xfrm>
            <a:off x="320040" y="2825496"/>
            <a:ext cx="1847088" cy="658368"/>
          </a:xfrm>
          <a:prstGeom prst="rect">
            <a:avLst/>
          </a:prstGeom>
          <a:noFill/>
          <a:ln/>
        </p:spPr>
        <p:txBody>
          <a:bodyPr wrap="square" lIns="0" tIns="0" rIns="0" bIns="0" rtlCol="0" anchor="ctr"/>
          <a:lstStyle/>
          <a:p>
            <a:pPr marL="0" indent="0">
              <a:buNone/>
            </a:pPr>
            <a:r>
              <a:rPr lang="en-US" sz="1200" dirty="0">
                <a:solidFill>
                  <a:srgbClr val="C8C8C8"/>
                </a:solidFill>
                <a:latin typeface="Times New Roman" pitchFamily="34" charset="0"/>
                <a:ea typeface="Times New Roman" pitchFamily="34" charset="-122"/>
                <a:cs typeface="Times New Roman" pitchFamily="34" charset="-120"/>
              </a:rPr>
              <a:t>›  View own risk scores</a:t>
            </a:r>
            <a:endParaRPr lang="en-US" sz="1200" dirty="0"/>
          </a:p>
        </p:txBody>
      </p:sp>
      <p:sp>
        <p:nvSpPr>
          <p:cNvPr id="13" name="Shape 11"/>
          <p:cNvSpPr/>
          <p:nvPr/>
        </p:nvSpPr>
        <p:spPr>
          <a:xfrm>
            <a:off x="2304288" y="896112"/>
            <a:ext cx="91440" cy="91440"/>
          </a:xfrm>
          <a:prstGeom prst="rect">
            <a:avLst/>
          </a:prstGeom>
          <a:solidFill>
            <a:srgbClr val="C41010"/>
          </a:solidFill>
          <a:ln w="12700">
            <a:solidFill>
              <a:srgbClr val="C41010"/>
            </a:solidFill>
            <a:prstDash val="solid"/>
          </a:ln>
        </p:spPr>
      </p:sp>
      <p:sp>
        <p:nvSpPr>
          <p:cNvPr id="14" name="Shape 12"/>
          <p:cNvSpPr/>
          <p:nvPr/>
        </p:nvSpPr>
        <p:spPr>
          <a:xfrm>
            <a:off x="2404872" y="658368"/>
            <a:ext cx="2029968" cy="548640"/>
          </a:xfrm>
          <a:prstGeom prst="rect">
            <a:avLst/>
          </a:prstGeom>
          <a:solidFill>
            <a:srgbClr val="003320"/>
          </a:solidFill>
          <a:ln w="25400">
            <a:solidFill>
              <a:srgbClr val="1E7A40"/>
            </a:solidFill>
            <a:prstDash val="solid"/>
          </a:ln>
          <a:effectLst>
            <a:outerShdw blurRad="127000" dist="38100" dir="8100000" algn="bl" rotWithShape="0">
              <a:srgbClr val="000000">
                <a:alpha val="45000"/>
              </a:srgbClr>
            </a:outerShdw>
          </a:effectLst>
        </p:spPr>
      </p:sp>
      <p:sp>
        <p:nvSpPr>
          <p:cNvPr id="15" name="Text 13"/>
          <p:cNvSpPr/>
          <p:nvPr/>
        </p:nvSpPr>
        <p:spPr>
          <a:xfrm>
            <a:off x="2459736" y="658368"/>
            <a:ext cx="19202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Security</a:t>
            </a:r>
            <a:endParaRPr lang="en-US" sz="1300" dirty="0"/>
          </a:p>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Reviewer</a:t>
            </a:r>
            <a:endParaRPr lang="en-US" sz="1300" dirty="0"/>
          </a:p>
        </p:txBody>
      </p:sp>
      <p:sp>
        <p:nvSpPr>
          <p:cNvPr id="16" name="Shape 14"/>
          <p:cNvSpPr/>
          <p:nvPr/>
        </p:nvSpPr>
        <p:spPr>
          <a:xfrm>
            <a:off x="2404872" y="1234440"/>
            <a:ext cx="2029968" cy="2423160"/>
          </a:xfrm>
          <a:prstGeom prst="rect">
            <a:avLst/>
          </a:prstGeom>
          <a:solidFill>
            <a:srgbClr val="141414"/>
          </a:solidFill>
          <a:ln w="12700">
            <a:solidFill>
              <a:srgbClr val="1E7A40"/>
            </a:solidFill>
            <a:prstDash val="solid"/>
          </a:ln>
          <a:effectLst>
            <a:outerShdw blurRad="127000" dist="38100" dir="8100000" algn="bl" rotWithShape="0">
              <a:srgbClr val="000000">
                <a:alpha val="45000"/>
              </a:srgbClr>
            </a:outerShdw>
          </a:effectLst>
        </p:spPr>
      </p:sp>
      <p:sp>
        <p:nvSpPr>
          <p:cNvPr id="17" name="Text 15"/>
          <p:cNvSpPr/>
          <p:nvPr/>
        </p:nvSpPr>
        <p:spPr>
          <a:xfrm>
            <a:off x="2496312" y="1325880"/>
            <a:ext cx="1847088" cy="658368"/>
          </a:xfrm>
          <a:prstGeom prst="rect">
            <a:avLst/>
          </a:prstGeom>
          <a:noFill/>
          <a:ln/>
        </p:spPr>
        <p:txBody>
          <a:bodyPr wrap="square" lIns="0" tIns="0" rIns="0" bIns="0" rtlCol="0" anchor="ctr"/>
          <a:lstStyle/>
          <a:p>
            <a:pPr marL="0" indent="0">
              <a:buNone/>
            </a:pPr>
            <a:r>
              <a:rPr lang="en-US" sz="1200" dirty="0">
                <a:solidFill>
                  <a:srgbClr val="C8C8C8"/>
                </a:solidFill>
                <a:latin typeface="Times New Roman" pitchFamily="34" charset="0"/>
                <a:ea typeface="Times New Roman" pitchFamily="34" charset="-122"/>
                <a:cs typeface="Times New Roman" pitchFamily="34" charset="-120"/>
              </a:rPr>
              <a:t>›  Review submitted exceptions</a:t>
            </a:r>
            <a:endParaRPr lang="en-US" sz="1200" dirty="0"/>
          </a:p>
        </p:txBody>
      </p:sp>
      <p:sp>
        <p:nvSpPr>
          <p:cNvPr id="18" name="Text 16"/>
          <p:cNvSpPr/>
          <p:nvPr/>
        </p:nvSpPr>
        <p:spPr>
          <a:xfrm>
            <a:off x="2496312" y="2075688"/>
            <a:ext cx="1847088" cy="658368"/>
          </a:xfrm>
          <a:prstGeom prst="rect">
            <a:avLst/>
          </a:prstGeom>
          <a:noFill/>
          <a:ln/>
        </p:spPr>
        <p:txBody>
          <a:bodyPr wrap="square" lIns="0" tIns="0" rIns="0" bIns="0" rtlCol="0" anchor="ctr"/>
          <a:lstStyle/>
          <a:p>
            <a:pPr marL="0" indent="0">
              <a:buNone/>
            </a:pPr>
            <a:r>
              <a:rPr lang="en-US" sz="1200" dirty="0">
                <a:solidFill>
                  <a:srgbClr val="C8C8C8"/>
                </a:solidFill>
                <a:latin typeface="Times New Roman" pitchFamily="34" charset="0"/>
                <a:ea typeface="Times New Roman" pitchFamily="34" charset="-122"/>
                <a:cs typeface="Times New Roman" pitchFamily="34" charset="-120"/>
              </a:rPr>
              <a:t>›  Assess risk and controls</a:t>
            </a:r>
            <a:endParaRPr lang="en-US" sz="1200" dirty="0"/>
          </a:p>
        </p:txBody>
      </p:sp>
      <p:sp>
        <p:nvSpPr>
          <p:cNvPr id="19" name="Text 17"/>
          <p:cNvSpPr/>
          <p:nvPr/>
        </p:nvSpPr>
        <p:spPr>
          <a:xfrm>
            <a:off x="2496312" y="2825496"/>
            <a:ext cx="1847088" cy="658368"/>
          </a:xfrm>
          <a:prstGeom prst="rect">
            <a:avLst/>
          </a:prstGeom>
          <a:noFill/>
          <a:ln/>
        </p:spPr>
        <p:txBody>
          <a:bodyPr wrap="square" lIns="0" tIns="0" rIns="0" bIns="0" rtlCol="0" anchor="ctr"/>
          <a:lstStyle/>
          <a:p>
            <a:pPr marL="0" indent="0">
              <a:buNone/>
            </a:pPr>
            <a:r>
              <a:rPr lang="en-US" sz="1200" dirty="0">
                <a:solidFill>
                  <a:srgbClr val="C8C8C8"/>
                </a:solidFill>
                <a:latin typeface="Times New Roman" pitchFamily="34" charset="0"/>
                <a:ea typeface="Times New Roman" pitchFamily="34" charset="-122"/>
                <a:cs typeface="Times New Roman" pitchFamily="34" charset="-120"/>
              </a:rPr>
              <a:t>›  Request clarification or escalate</a:t>
            </a:r>
            <a:endParaRPr lang="en-US" sz="1200" dirty="0"/>
          </a:p>
        </p:txBody>
      </p:sp>
      <p:sp>
        <p:nvSpPr>
          <p:cNvPr id="20" name="Shape 18"/>
          <p:cNvSpPr/>
          <p:nvPr/>
        </p:nvSpPr>
        <p:spPr>
          <a:xfrm>
            <a:off x="4480560" y="896112"/>
            <a:ext cx="91440" cy="91440"/>
          </a:xfrm>
          <a:prstGeom prst="rect">
            <a:avLst/>
          </a:prstGeom>
          <a:solidFill>
            <a:srgbClr val="C41010"/>
          </a:solidFill>
          <a:ln w="12700">
            <a:solidFill>
              <a:srgbClr val="C41010"/>
            </a:solidFill>
            <a:prstDash val="solid"/>
          </a:ln>
        </p:spPr>
      </p:sp>
      <p:sp>
        <p:nvSpPr>
          <p:cNvPr id="21" name="Shape 19"/>
          <p:cNvSpPr/>
          <p:nvPr/>
        </p:nvSpPr>
        <p:spPr>
          <a:xfrm>
            <a:off x="4581144" y="658368"/>
            <a:ext cx="2029968" cy="548640"/>
          </a:xfrm>
          <a:prstGeom prst="rect">
            <a:avLst/>
          </a:prstGeom>
          <a:solidFill>
            <a:srgbClr val="302000"/>
          </a:solidFill>
          <a:ln w="25400">
            <a:solidFill>
              <a:srgbClr val="A07010"/>
            </a:solidFill>
            <a:prstDash val="solid"/>
          </a:ln>
          <a:effectLst>
            <a:outerShdw blurRad="127000" dist="38100" dir="8100000" algn="bl" rotWithShape="0">
              <a:srgbClr val="000000">
                <a:alpha val="45000"/>
              </a:srgbClr>
            </a:outerShdw>
          </a:effectLst>
        </p:spPr>
      </p:sp>
      <p:sp>
        <p:nvSpPr>
          <p:cNvPr id="22" name="Text 20"/>
          <p:cNvSpPr/>
          <p:nvPr/>
        </p:nvSpPr>
        <p:spPr>
          <a:xfrm>
            <a:off x="4636008" y="658368"/>
            <a:ext cx="19202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Approver</a:t>
            </a:r>
            <a:endParaRPr lang="en-US" sz="1300" dirty="0"/>
          </a:p>
        </p:txBody>
      </p:sp>
      <p:sp>
        <p:nvSpPr>
          <p:cNvPr id="23" name="Shape 21"/>
          <p:cNvSpPr/>
          <p:nvPr/>
        </p:nvSpPr>
        <p:spPr>
          <a:xfrm>
            <a:off x="4581144" y="1234440"/>
            <a:ext cx="2029968" cy="2423160"/>
          </a:xfrm>
          <a:prstGeom prst="rect">
            <a:avLst/>
          </a:prstGeom>
          <a:solidFill>
            <a:srgbClr val="141414"/>
          </a:solidFill>
          <a:ln w="12700">
            <a:solidFill>
              <a:srgbClr val="A07010"/>
            </a:solidFill>
            <a:prstDash val="solid"/>
          </a:ln>
          <a:effectLst>
            <a:outerShdw blurRad="127000" dist="38100" dir="8100000" algn="bl" rotWithShape="0">
              <a:srgbClr val="000000">
                <a:alpha val="45000"/>
              </a:srgbClr>
            </a:outerShdw>
          </a:effectLst>
        </p:spPr>
      </p:sp>
      <p:sp>
        <p:nvSpPr>
          <p:cNvPr id="24" name="Text 22"/>
          <p:cNvSpPr/>
          <p:nvPr/>
        </p:nvSpPr>
        <p:spPr>
          <a:xfrm>
            <a:off x="4672584" y="1325880"/>
            <a:ext cx="1847088" cy="658368"/>
          </a:xfrm>
          <a:prstGeom prst="rect">
            <a:avLst/>
          </a:prstGeom>
          <a:noFill/>
          <a:ln/>
        </p:spPr>
        <p:txBody>
          <a:bodyPr wrap="square" lIns="0" tIns="0" rIns="0" bIns="0" rtlCol="0" anchor="ctr"/>
          <a:lstStyle/>
          <a:p>
            <a:pPr marL="0" indent="0">
              <a:buNone/>
            </a:pPr>
            <a:r>
              <a:rPr lang="en-US" sz="1200" dirty="0">
                <a:solidFill>
                  <a:srgbClr val="C8C8C8"/>
                </a:solidFill>
                <a:latin typeface="Times New Roman" pitchFamily="34" charset="0"/>
                <a:ea typeface="Times New Roman" pitchFamily="34" charset="-122"/>
                <a:cs typeface="Times New Roman" pitchFamily="34" charset="-120"/>
              </a:rPr>
              <a:t>›  Approve, reject, or revoke exceptions</a:t>
            </a:r>
            <a:endParaRPr lang="en-US" sz="1200" dirty="0"/>
          </a:p>
        </p:txBody>
      </p:sp>
      <p:sp>
        <p:nvSpPr>
          <p:cNvPr id="25" name="Text 23"/>
          <p:cNvSpPr/>
          <p:nvPr/>
        </p:nvSpPr>
        <p:spPr>
          <a:xfrm>
            <a:off x="4672584" y="2075688"/>
            <a:ext cx="1847088" cy="658368"/>
          </a:xfrm>
          <a:prstGeom prst="rect">
            <a:avLst/>
          </a:prstGeom>
          <a:noFill/>
          <a:ln/>
        </p:spPr>
        <p:txBody>
          <a:bodyPr wrap="square" lIns="0" tIns="0" rIns="0" bIns="0" rtlCol="0" anchor="ctr"/>
          <a:lstStyle/>
          <a:p>
            <a:pPr marL="0" indent="0">
              <a:buNone/>
            </a:pPr>
            <a:r>
              <a:rPr lang="en-US" sz="1200" dirty="0">
                <a:solidFill>
                  <a:srgbClr val="C8C8C8"/>
                </a:solidFill>
                <a:latin typeface="Times New Roman" pitchFamily="34" charset="0"/>
                <a:ea typeface="Times New Roman" pitchFamily="34" charset="-122"/>
                <a:cs typeface="Times New Roman" pitchFamily="34" charset="-120"/>
              </a:rPr>
              <a:t>›  Add governance comments</a:t>
            </a:r>
            <a:endParaRPr lang="en-US" sz="1200" dirty="0"/>
          </a:p>
        </p:txBody>
      </p:sp>
      <p:sp>
        <p:nvSpPr>
          <p:cNvPr id="26" name="Text 24"/>
          <p:cNvSpPr/>
          <p:nvPr/>
        </p:nvSpPr>
        <p:spPr>
          <a:xfrm>
            <a:off x="4672584" y="2825496"/>
            <a:ext cx="1847088" cy="658368"/>
          </a:xfrm>
          <a:prstGeom prst="rect">
            <a:avLst/>
          </a:prstGeom>
          <a:noFill/>
          <a:ln/>
        </p:spPr>
        <p:txBody>
          <a:bodyPr wrap="square" lIns="0" tIns="0" rIns="0" bIns="0" rtlCol="0" anchor="ctr"/>
          <a:lstStyle/>
          <a:p>
            <a:pPr marL="0" indent="0">
              <a:buNone/>
            </a:pPr>
            <a:r>
              <a:rPr lang="en-US" sz="1200" dirty="0">
                <a:solidFill>
                  <a:srgbClr val="C8C8C8"/>
                </a:solidFill>
                <a:latin typeface="Times New Roman" pitchFamily="34" charset="0"/>
                <a:ea typeface="Times New Roman" pitchFamily="34" charset="-122"/>
                <a:cs typeface="Times New Roman" pitchFamily="34" charset="-120"/>
              </a:rPr>
              <a:t>›  Focus on critical / high risk items</a:t>
            </a:r>
            <a:endParaRPr lang="en-US" sz="1200" dirty="0"/>
          </a:p>
        </p:txBody>
      </p:sp>
      <p:sp>
        <p:nvSpPr>
          <p:cNvPr id="27" name="Shape 25"/>
          <p:cNvSpPr/>
          <p:nvPr/>
        </p:nvSpPr>
        <p:spPr>
          <a:xfrm>
            <a:off x="6656832" y="896112"/>
            <a:ext cx="91440" cy="91440"/>
          </a:xfrm>
          <a:prstGeom prst="rect">
            <a:avLst/>
          </a:prstGeom>
          <a:solidFill>
            <a:srgbClr val="C41010"/>
          </a:solidFill>
          <a:ln w="12700">
            <a:solidFill>
              <a:srgbClr val="C41010"/>
            </a:solidFill>
            <a:prstDash val="solid"/>
          </a:ln>
        </p:spPr>
      </p:sp>
      <p:sp>
        <p:nvSpPr>
          <p:cNvPr id="28" name="Shape 26"/>
          <p:cNvSpPr/>
          <p:nvPr/>
        </p:nvSpPr>
        <p:spPr>
          <a:xfrm>
            <a:off x="6757416" y="658368"/>
            <a:ext cx="2029968" cy="548640"/>
          </a:xfrm>
          <a:prstGeom prst="rect">
            <a:avLst/>
          </a:prstGeom>
          <a:solidFill>
            <a:srgbClr val="200030"/>
          </a:solidFill>
          <a:ln w="25400">
            <a:solidFill>
              <a:srgbClr val="7030A0"/>
            </a:solidFill>
            <a:prstDash val="solid"/>
          </a:ln>
          <a:effectLst>
            <a:outerShdw blurRad="127000" dist="38100" dir="8100000" algn="bl" rotWithShape="0">
              <a:srgbClr val="000000">
                <a:alpha val="45000"/>
              </a:srgbClr>
            </a:outerShdw>
          </a:effectLst>
        </p:spPr>
      </p:sp>
      <p:sp>
        <p:nvSpPr>
          <p:cNvPr id="29" name="Text 27"/>
          <p:cNvSpPr/>
          <p:nvPr/>
        </p:nvSpPr>
        <p:spPr>
          <a:xfrm>
            <a:off x="6812280" y="658368"/>
            <a:ext cx="19202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Auditor /</a:t>
            </a:r>
            <a:endParaRPr lang="en-US" sz="1300" dirty="0"/>
          </a:p>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Admin</a:t>
            </a:r>
            <a:endParaRPr lang="en-US" sz="1300" dirty="0"/>
          </a:p>
        </p:txBody>
      </p:sp>
      <p:sp>
        <p:nvSpPr>
          <p:cNvPr id="30" name="Shape 28"/>
          <p:cNvSpPr/>
          <p:nvPr/>
        </p:nvSpPr>
        <p:spPr>
          <a:xfrm>
            <a:off x="6757416" y="1234440"/>
            <a:ext cx="2029968" cy="2423160"/>
          </a:xfrm>
          <a:prstGeom prst="rect">
            <a:avLst/>
          </a:prstGeom>
          <a:solidFill>
            <a:srgbClr val="141414"/>
          </a:solidFill>
          <a:ln w="12700">
            <a:solidFill>
              <a:srgbClr val="7030A0"/>
            </a:solidFill>
            <a:prstDash val="solid"/>
          </a:ln>
          <a:effectLst>
            <a:outerShdw blurRad="127000" dist="38100" dir="8100000" algn="bl" rotWithShape="0">
              <a:srgbClr val="000000">
                <a:alpha val="45000"/>
              </a:srgbClr>
            </a:outerShdw>
          </a:effectLst>
        </p:spPr>
      </p:sp>
      <p:sp>
        <p:nvSpPr>
          <p:cNvPr id="31" name="Text 29"/>
          <p:cNvSpPr/>
          <p:nvPr/>
        </p:nvSpPr>
        <p:spPr>
          <a:xfrm>
            <a:off x="6848856" y="1325880"/>
            <a:ext cx="1847088" cy="658368"/>
          </a:xfrm>
          <a:prstGeom prst="rect">
            <a:avLst/>
          </a:prstGeom>
          <a:noFill/>
          <a:ln/>
        </p:spPr>
        <p:txBody>
          <a:bodyPr wrap="square" lIns="0" tIns="0" rIns="0" bIns="0" rtlCol="0" anchor="ctr"/>
          <a:lstStyle/>
          <a:p>
            <a:pPr marL="0" indent="0">
              <a:buNone/>
            </a:pPr>
            <a:r>
              <a:rPr lang="en-US" sz="1200" dirty="0">
                <a:solidFill>
                  <a:srgbClr val="C8C8C8"/>
                </a:solidFill>
                <a:latin typeface="Times New Roman" pitchFamily="34" charset="0"/>
                <a:ea typeface="Times New Roman" pitchFamily="34" charset="-122"/>
                <a:cs typeface="Times New Roman" pitchFamily="34" charset="-120"/>
              </a:rPr>
              <a:t>›  Full read-only audit access</a:t>
            </a:r>
            <a:endParaRPr lang="en-US" sz="1200" dirty="0"/>
          </a:p>
        </p:txBody>
      </p:sp>
      <p:sp>
        <p:nvSpPr>
          <p:cNvPr id="32" name="Text 30"/>
          <p:cNvSpPr/>
          <p:nvPr/>
        </p:nvSpPr>
        <p:spPr>
          <a:xfrm>
            <a:off x="6848856" y="2075688"/>
            <a:ext cx="1847088" cy="658368"/>
          </a:xfrm>
          <a:prstGeom prst="rect">
            <a:avLst/>
          </a:prstGeom>
          <a:noFill/>
          <a:ln/>
        </p:spPr>
        <p:txBody>
          <a:bodyPr wrap="square" lIns="0" tIns="0" rIns="0" bIns="0" rtlCol="0" anchor="ctr"/>
          <a:lstStyle/>
          <a:p>
            <a:pPr marL="0" indent="0">
              <a:buNone/>
            </a:pPr>
            <a:r>
              <a:rPr lang="en-US" sz="1200" dirty="0">
                <a:solidFill>
                  <a:srgbClr val="C8C8C8"/>
                </a:solidFill>
                <a:latin typeface="Times New Roman" pitchFamily="34" charset="0"/>
                <a:ea typeface="Times New Roman" pitchFamily="34" charset="-122"/>
                <a:cs typeface="Times New Roman" pitchFamily="34" charset="-120"/>
              </a:rPr>
              <a:t>›  GRC intelligence &amp; risk portfolio</a:t>
            </a:r>
            <a:endParaRPr lang="en-US" sz="1200" dirty="0"/>
          </a:p>
        </p:txBody>
      </p:sp>
      <p:sp>
        <p:nvSpPr>
          <p:cNvPr id="33" name="Text 31"/>
          <p:cNvSpPr/>
          <p:nvPr/>
        </p:nvSpPr>
        <p:spPr>
          <a:xfrm>
            <a:off x="6848856" y="2825496"/>
            <a:ext cx="1847088" cy="658368"/>
          </a:xfrm>
          <a:prstGeom prst="rect">
            <a:avLst/>
          </a:prstGeom>
          <a:noFill/>
          <a:ln/>
        </p:spPr>
        <p:txBody>
          <a:bodyPr wrap="square" lIns="0" tIns="0" rIns="0" bIns="0" rtlCol="0" anchor="ctr"/>
          <a:lstStyle/>
          <a:p>
            <a:pPr marL="0" indent="0">
              <a:buNone/>
            </a:pPr>
            <a:r>
              <a:rPr lang="en-US" sz="1200" dirty="0">
                <a:solidFill>
                  <a:srgbClr val="C8C8C8"/>
                </a:solidFill>
                <a:latin typeface="Times New Roman" pitchFamily="34" charset="0"/>
                <a:ea typeface="Times New Roman" pitchFamily="34" charset="-122"/>
                <a:cs typeface="Times New Roman" pitchFamily="34" charset="-120"/>
              </a:rPr>
              <a:t>›  Audit reports &amp; system settings</a:t>
            </a:r>
            <a:endParaRPr lang="en-US" sz="1200" dirty="0"/>
          </a:p>
        </p:txBody>
      </p:sp>
      <p:sp>
        <p:nvSpPr>
          <p:cNvPr id="34" name="Text 32"/>
          <p:cNvSpPr/>
          <p:nvPr/>
        </p:nvSpPr>
        <p:spPr>
          <a:xfrm>
            <a:off x="2258568" y="768096"/>
            <a:ext cx="228600" cy="329184"/>
          </a:xfrm>
          <a:prstGeom prst="rect">
            <a:avLst/>
          </a:prstGeom>
          <a:noFill/>
          <a:ln/>
        </p:spPr>
        <p:txBody>
          <a:bodyPr wrap="square" lIns="0" tIns="0" rIns="0" bIns="0" rtlCol="0" anchor="ctr"/>
          <a:lstStyle/>
          <a:p>
            <a:pPr marL="0" indent="0" algn="ctr">
              <a:buNone/>
            </a:pPr>
            <a:r>
              <a:rPr lang="en-US" sz="1400" dirty="0">
                <a:solidFill>
                  <a:srgbClr val="C41010"/>
                </a:solidFill>
                <a:latin typeface="Times New Roman" pitchFamily="34" charset="0"/>
                <a:ea typeface="Times New Roman" pitchFamily="34" charset="-122"/>
                <a:cs typeface="Times New Roman" pitchFamily="34" charset="-120"/>
              </a:rPr>
              <a:t>▶</a:t>
            </a:r>
            <a:endParaRPr lang="en-US" sz="1400" dirty="0"/>
          </a:p>
        </p:txBody>
      </p:sp>
      <p:sp>
        <p:nvSpPr>
          <p:cNvPr id="35" name="Text 33"/>
          <p:cNvSpPr/>
          <p:nvPr/>
        </p:nvSpPr>
        <p:spPr>
          <a:xfrm>
            <a:off x="4434840" y="768096"/>
            <a:ext cx="228600" cy="329184"/>
          </a:xfrm>
          <a:prstGeom prst="rect">
            <a:avLst/>
          </a:prstGeom>
          <a:noFill/>
          <a:ln/>
        </p:spPr>
        <p:txBody>
          <a:bodyPr wrap="square" lIns="0" tIns="0" rIns="0" bIns="0" rtlCol="0" anchor="ctr"/>
          <a:lstStyle/>
          <a:p>
            <a:pPr marL="0" indent="0" algn="ctr">
              <a:buNone/>
            </a:pPr>
            <a:r>
              <a:rPr lang="en-US" sz="1400" dirty="0">
                <a:solidFill>
                  <a:srgbClr val="C41010"/>
                </a:solidFill>
                <a:latin typeface="Times New Roman" pitchFamily="34" charset="0"/>
                <a:ea typeface="Times New Roman" pitchFamily="34" charset="-122"/>
                <a:cs typeface="Times New Roman" pitchFamily="34" charset="-120"/>
              </a:rPr>
              <a:t>▶</a:t>
            </a:r>
            <a:endParaRPr lang="en-US" sz="1400" dirty="0"/>
          </a:p>
        </p:txBody>
      </p:sp>
      <p:sp>
        <p:nvSpPr>
          <p:cNvPr id="36" name="Text 34"/>
          <p:cNvSpPr/>
          <p:nvPr/>
        </p:nvSpPr>
        <p:spPr>
          <a:xfrm>
            <a:off x="6611112" y="768096"/>
            <a:ext cx="228600" cy="329184"/>
          </a:xfrm>
          <a:prstGeom prst="rect">
            <a:avLst/>
          </a:prstGeom>
          <a:noFill/>
          <a:ln/>
        </p:spPr>
        <p:txBody>
          <a:bodyPr wrap="square" lIns="0" tIns="0" rIns="0" bIns="0" rtlCol="0" anchor="ctr"/>
          <a:lstStyle/>
          <a:p>
            <a:pPr marL="0" indent="0" algn="ctr">
              <a:buNone/>
            </a:pPr>
            <a:r>
              <a:rPr lang="en-US" sz="1400" dirty="0">
                <a:solidFill>
                  <a:srgbClr val="C41010"/>
                </a:solidFill>
                <a:latin typeface="Times New Roman" pitchFamily="34" charset="0"/>
                <a:ea typeface="Times New Roman" pitchFamily="34" charset="-122"/>
                <a:cs typeface="Times New Roman" pitchFamily="34" charset="-120"/>
              </a:rPr>
              <a:t>▶</a:t>
            </a:r>
            <a:endParaRPr lang="en-US" sz="1400" dirty="0"/>
          </a:p>
        </p:txBody>
      </p:sp>
      <p:sp>
        <p:nvSpPr>
          <p:cNvPr id="37" name="Text 35"/>
          <p:cNvSpPr/>
          <p:nvPr/>
        </p:nvSpPr>
        <p:spPr>
          <a:xfrm>
            <a:off x="228600" y="3822192"/>
            <a:ext cx="1920240" cy="320040"/>
          </a:xfrm>
          <a:prstGeom prst="rect">
            <a:avLst/>
          </a:prstGeom>
          <a:noFill/>
          <a:ln/>
        </p:spPr>
        <p:txBody>
          <a:bodyPr wrap="square" lIns="0" tIns="0" rIns="0" bIns="0" rtlCol="0" anchor="ctr"/>
          <a:lstStyle/>
          <a:p>
            <a:pPr marL="0" indent="0">
              <a:buNone/>
            </a:pPr>
            <a:r>
              <a:rPr lang="en-US" sz="1100" b="1" dirty="0">
                <a:solidFill>
                  <a:srgbClr val="888888"/>
                </a:solidFill>
                <a:latin typeface="Times New Roman" pitchFamily="34" charset="0"/>
                <a:ea typeface="Times New Roman" pitchFamily="34" charset="-122"/>
                <a:cs typeface="Times New Roman" pitchFamily="34" charset="-120"/>
              </a:rPr>
              <a:t>Exception Status Flow:</a:t>
            </a:r>
            <a:endParaRPr lang="en-US" sz="1100" dirty="0"/>
          </a:p>
        </p:txBody>
      </p:sp>
      <p:sp>
        <p:nvSpPr>
          <p:cNvPr id="38" name="Shape 36"/>
          <p:cNvSpPr/>
          <p:nvPr/>
        </p:nvSpPr>
        <p:spPr>
          <a:xfrm>
            <a:off x="2194560" y="3822192"/>
            <a:ext cx="1005840" cy="320040"/>
          </a:xfrm>
          <a:prstGeom prst="rect">
            <a:avLst/>
          </a:prstGeom>
          <a:solidFill>
            <a:srgbClr val="6E0000"/>
          </a:solidFill>
          <a:ln w="8890">
            <a:solidFill>
              <a:srgbClr val="C41010"/>
            </a:solidFill>
            <a:prstDash val="solid"/>
          </a:ln>
          <a:effectLst>
            <a:outerShdw blurRad="127000" dist="38100" dir="8100000" algn="bl" rotWithShape="0">
              <a:srgbClr val="000000">
                <a:alpha val="45000"/>
              </a:srgbClr>
            </a:outerShdw>
          </a:effectLst>
        </p:spPr>
      </p:sp>
      <p:sp>
        <p:nvSpPr>
          <p:cNvPr id="39" name="Text 37"/>
          <p:cNvSpPr/>
          <p:nvPr/>
        </p:nvSpPr>
        <p:spPr>
          <a:xfrm>
            <a:off x="2212848" y="3822192"/>
            <a:ext cx="969264"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Submit</a:t>
            </a:r>
            <a:endParaRPr lang="en-US" sz="900" dirty="0"/>
          </a:p>
        </p:txBody>
      </p:sp>
      <p:sp>
        <p:nvSpPr>
          <p:cNvPr id="40" name="Text 38"/>
          <p:cNvSpPr/>
          <p:nvPr/>
        </p:nvSpPr>
        <p:spPr>
          <a:xfrm>
            <a:off x="3200400" y="3822192"/>
            <a:ext cx="164592" cy="320040"/>
          </a:xfrm>
          <a:prstGeom prst="rect">
            <a:avLst/>
          </a:prstGeom>
          <a:noFill/>
          <a:ln/>
        </p:spPr>
        <p:txBody>
          <a:bodyPr wrap="square" lIns="0" tIns="0" rIns="0" bIns="0" rtlCol="0" anchor="ctr"/>
          <a:lstStyle/>
          <a:p>
            <a:pPr marL="0" indent="0" algn="ctr">
              <a:buNone/>
            </a:pPr>
            <a:r>
              <a:rPr lang="en-US" sz="1100" dirty="0">
                <a:solidFill>
                  <a:srgbClr val="C41010"/>
                </a:solidFill>
              </a:rPr>
              <a:t>›</a:t>
            </a:r>
            <a:endParaRPr lang="en-US" sz="1100" dirty="0"/>
          </a:p>
        </p:txBody>
      </p:sp>
      <p:sp>
        <p:nvSpPr>
          <p:cNvPr id="41" name="Shape 39"/>
          <p:cNvSpPr/>
          <p:nvPr/>
        </p:nvSpPr>
        <p:spPr>
          <a:xfrm>
            <a:off x="3337560" y="3822192"/>
            <a:ext cx="1005840" cy="320040"/>
          </a:xfrm>
          <a:prstGeom prst="rect">
            <a:avLst/>
          </a:prstGeom>
          <a:solidFill>
            <a:srgbClr val="6E0000"/>
          </a:solidFill>
          <a:ln w="8890">
            <a:solidFill>
              <a:srgbClr val="C41010"/>
            </a:solidFill>
            <a:prstDash val="solid"/>
          </a:ln>
          <a:effectLst>
            <a:outerShdw blurRad="127000" dist="38100" dir="8100000" algn="bl" rotWithShape="0">
              <a:srgbClr val="000000">
                <a:alpha val="45000"/>
              </a:srgbClr>
            </a:outerShdw>
          </a:effectLst>
        </p:spPr>
      </p:sp>
      <p:sp>
        <p:nvSpPr>
          <p:cNvPr id="42" name="Text 40"/>
          <p:cNvSpPr/>
          <p:nvPr/>
        </p:nvSpPr>
        <p:spPr>
          <a:xfrm>
            <a:off x="3355848" y="3822192"/>
            <a:ext cx="969264"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Under Review</a:t>
            </a:r>
            <a:endParaRPr lang="en-US" sz="900" dirty="0"/>
          </a:p>
        </p:txBody>
      </p:sp>
      <p:sp>
        <p:nvSpPr>
          <p:cNvPr id="43" name="Text 41"/>
          <p:cNvSpPr/>
          <p:nvPr/>
        </p:nvSpPr>
        <p:spPr>
          <a:xfrm>
            <a:off x="4343400" y="3822192"/>
            <a:ext cx="164592" cy="320040"/>
          </a:xfrm>
          <a:prstGeom prst="rect">
            <a:avLst/>
          </a:prstGeom>
          <a:noFill/>
          <a:ln/>
        </p:spPr>
        <p:txBody>
          <a:bodyPr wrap="square" lIns="0" tIns="0" rIns="0" bIns="0" rtlCol="0" anchor="ctr"/>
          <a:lstStyle/>
          <a:p>
            <a:pPr marL="0" indent="0" algn="ctr">
              <a:buNone/>
            </a:pPr>
            <a:r>
              <a:rPr lang="en-US" sz="1100" dirty="0">
                <a:solidFill>
                  <a:srgbClr val="C41010"/>
                </a:solidFill>
              </a:rPr>
              <a:t>›</a:t>
            </a:r>
            <a:endParaRPr lang="en-US" sz="1100" dirty="0"/>
          </a:p>
        </p:txBody>
      </p:sp>
      <p:sp>
        <p:nvSpPr>
          <p:cNvPr id="44" name="Shape 42"/>
          <p:cNvSpPr/>
          <p:nvPr/>
        </p:nvSpPr>
        <p:spPr>
          <a:xfrm>
            <a:off x="4480560" y="3822192"/>
            <a:ext cx="1005840" cy="320040"/>
          </a:xfrm>
          <a:prstGeom prst="rect">
            <a:avLst/>
          </a:prstGeom>
          <a:solidFill>
            <a:srgbClr val="6E0000"/>
          </a:solidFill>
          <a:ln w="8890">
            <a:solidFill>
              <a:srgbClr val="C41010"/>
            </a:solidFill>
            <a:prstDash val="solid"/>
          </a:ln>
          <a:effectLst>
            <a:outerShdw blurRad="127000" dist="38100" dir="8100000" algn="bl" rotWithShape="0">
              <a:srgbClr val="000000">
                <a:alpha val="45000"/>
              </a:srgbClr>
            </a:outerShdw>
          </a:effectLst>
        </p:spPr>
      </p:sp>
      <p:sp>
        <p:nvSpPr>
          <p:cNvPr id="45" name="Text 43"/>
          <p:cNvSpPr/>
          <p:nvPr/>
        </p:nvSpPr>
        <p:spPr>
          <a:xfrm>
            <a:off x="4498848" y="3822192"/>
            <a:ext cx="969264"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Pending Approval</a:t>
            </a:r>
            <a:endParaRPr lang="en-US" sz="900" dirty="0"/>
          </a:p>
        </p:txBody>
      </p:sp>
      <p:sp>
        <p:nvSpPr>
          <p:cNvPr id="46" name="Text 44"/>
          <p:cNvSpPr/>
          <p:nvPr/>
        </p:nvSpPr>
        <p:spPr>
          <a:xfrm>
            <a:off x="5486400" y="3822192"/>
            <a:ext cx="164592" cy="320040"/>
          </a:xfrm>
          <a:prstGeom prst="rect">
            <a:avLst/>
          </a:prstGeom>
          <a:noFill/>
          <a:ln/>
        </p:spPr>
        <p:txBody>
          <a:bodyPr wrap="square" lIns="0" tIns="0" rIns="0" bIns="0" rtlCol="0" anchor="ctr"/>
          <a:lstStyle/>
          <a:p>
            <a:pPr marL="0" indent="0" algn="ctr">
              <a:buNone/>
            </a:pPr>
            <a:r>
              <a:rPr lang="en-US" sz="1100" dirty="0">
                <a:solidFill>
                  <a:srgbClr val="C41010"/>
                </a:solidFill>
              </a:rPr>
              <a:t>›</a:t>
            </a:r>
            <a:endParaRPr lang="en-US" sz="1100" dirty="0"/>
          </a:p>
        </p:txBody>
      </p:sp>
      <p:sp>
        <p:nvSpPr>
          <p:cNvPr id="47" name="Shape 45"/>
          <p:cNvSpPr/>
          <p:nvPr/>
        </p:nvSpPr>
        <p:spPr>
          <a:xfrm>
            <a:off x="5623560" y="3822192"/>
            <a:ext cx="1005840" cy="320040"/>
          </a:xfrm>
          <a:prstGeom prst="rect">
            <a:avLst/>
          </a:prstGeom>
          <a:solidFill>
            <a:srgbClr val="6E0000"/>
          </a:solidFill>
          <a:ln w="8890">
            <a:solidFill>
              <a:srgbClr val="C41010"/>
            </a:solidFill>
            <a:prstDash val="solid"/>
          </a:ln>
          <a:effectLst>
            <a:outerShdw blurRad="127000" dist="38100" dir="8100000" algn="bl" rotWithShape="0">
              <a:srgbClr val="000000">
                <a:alpha val="45000"/>
              </a:srgbClr>
            </a:outerShdw>
          </a:effectLst>
        </p:spPr>
      </p:sp>
      <p:sp>
        <p:nvSpPr>
          <p:cNvPr id="48" name="Text 46"/>
          <p:cNvSpPr/>
          <p:nvPr/>
        </p:nvSpPr>
        <p:spPr>
          <a:xfrm>
            <a:off x="5641848" y="3822192"/>
            <a:ext cx="969264"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Active / Rejected</a:t>
            </a:r>
            <a:endParaRPr lang="en-US" sz="900" dirty="0"/>
          </a:p>
        </p:txBody>
      </p:sp>
      <p:sp>
        <p:nvSpPr>
          <p:cNvPr id="49" name="Text 47"/>
          <p:cNvSpPr/>
          <p:nvPr/>
        </p:nvSpPr>
        <p:spPr>
          <a:xfrm>
            <a:off x="6629400" y="3822192"/>
            <a:ext cx="164592" cy="320040"/>
          </a:xfrm>
          <a:prstGeom prst="rect">
            <a:avLst/>
          </a:prstGeom>
          <a:noFill/>
          <a:ln/>
        </p:spPr>
        <p:txBody>
          <a:bodyPr wrap="square" lIns="0" tIns="0" rIns="0" bIns="0" rtlCol="0" anchor="ctr"/>
          <a:lstStyle/>
          <a:p>
            <a:pPr marL="0" indent="0" algn="ctr">
              <a:buNone/>
            </a:pPr>
            <a:r>
              <a:rPr lang="en-US" sz="1100" dirty="0">
                <a:solidFill>
                  <a:srgbClr val="C41010"/>
                </a:solidFill>
              </a:rPr>
              <a:t>›</a:t>
            </a:r>
            <a:endParaRPr lang="en-US" sz="1100" dirty="0"/>
          </a:p>
        </p:txBody>
      </p:sp>
      <p:sp>
        <p:nvSpPr>
          <p:cNvPr id="50" name="Shape 48"/>
          <p:cNvSpPr/>
          <p:nvPr/>
        </p:nvSpPr>
        <p:spPr>
          <a:xfrm>
            <a:off x="6766560" y="3822192"/>
            <a:ext cx="1005840" cy="320040"/>
          </a:xfrm>
          <a:prstGeom prst="rect">
            <a:avLst/>
          </a:prstGeom>
          <a:solidFill>
            <a:srgbClr val="6E0000"/>
          </a:solidFill>
          <a:ln w="8890">
            <a:solidFill>
              <a:srgbClr val="C41010"/>
            </a:solidFill>
            <a:prstDash val="solid"/>
          </a:ln>
          <a:effectLst>
            <a:outerShdw blurRad="127000" dist="38100" dir="8100000" algn="bl" rotWithShape="0">
              <a:srgbClr val="000000">
                <a:alpha val="45000"/>
              </a:srgbClr>
            </a:outerShdw>
          </a:effectLst>
        </p:spPr>
      </p:sp>
      <p:sp>
        <p:nvSpPr>
          <p:cNvPr id="51" name="Text 49"/>
          <p:cNvSpPr/>
          <p:nvPr/>
        </p:nvSpPr>
        <p:spPr>
          <a:xfrm>
            <a:off x="6784848" y="3822192"/>
            <a:ext cx="969264"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Monitored</a:t>
            </a:r>
            <a:endParaRPr lang="en-US" sz="900" dirty="0"/>
          </a:p>
        </p:txBody>
      </p:sp>
      <p:sp>
        <p:nvSpPr>
          <p:cNvPr id="52" name="Text 50"/>
          <p:cNvSpPr/>
          <p:nvPr/>
        </p:nvSpPr>
        <p:spPr>
          <a:xfrm>
            <a:off x="7772400" y="3822192"/>
            <a:ext cx="164592" cy="320040"/>
          </a:xfrm>
          <a:prstGeom prst="rect">
            <a:avLst/>
          </a:prstGeom>
          <a:noFill/>
          <a:ln/>
        </p:spPr>
        <p:txBody>
          <a:bodyPr wrap="square" lIns="0" tIns="0" rIns="0" bIns="0" rtlCol="0" anchor="ctr"/>
          <a:lstStyle/>
          <a:p>
            <a:pPr marL="0" indent="0" algn="ctr">
              <a:buNone/>
            </a:pPr>
            <a:r>
              <a:rPr lang="en-US" sz="1100" dirty="0">
                <a:solidFill>
                  <a:srgbClr val="C41010"/>
                </a:solidFill>
              </a:rPr>
              <a:t>›</a:t>
            </a:r>
            <a:endParaRPr lang="en-US" sz="1100" dirty="0"/>
          </a:p>
        </p:txBody>
      </p:sp>
      <p:sp>
        <p:nvSpPr>
          <p:cNvPr id="53" name="Shape 51"/>
          <p:cNvSpPr/>
          <p:nvPr/>
        </p:nvSpPr>
        <p:spPr>
          <a:xfrm>
            <a:off x="7909560" y="3822192"/>
            <a:ext cx="1005840" cy="320040"/>
          </a:xfrm>
          <a:prstGeom prst="rect">
            <a:avLst/>
          </a:prstGeom>
          <a:solidFill>
            <a:srgbClr val="6E0000"/>
          </a:solidFill>
          <a:ln w="8890">
            <a:solidFill>
              <a:srgbClr val="C41010"/>
            </a:solidFill>
            <a:prstDash val="solid"/>
          </a:ln>
          <a:effectLst>
            <a:outerShdw blurRad="127000" dist="38100" dir="8100000" algn="bl" rotWithShape="0">
              <a:srgbClr val="000000">
                <a:alpha val="45000"/>
              </a:srgbClr>
            </a:outerShdw>
          </a:effectLst>
        </p:spPr>
      </p:sp>
      <p:sp>
        <p:nvSpPr>
          <p:cNvPr id="54" name="Text 52"/>
          <p:cNvSpPr/>
          <p:nvPr/>
        </p:nvSpPr>
        <p:spPr>
          <a:xfrm>
            <a:off x="7927848" y="3822192"/>
            <a:ext cx="969264"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Audited</a:t>
            </a:r>
            <a:endParaRPr lang="en-US" sz="900" dirty="0"/>
          </a:p>
        </p:txBody>
      </p:sp>
      <p:sp>
        <p:nvSpPr>
          <p:cNvPr id="55" name="Text 53"/>
          <p:cNvSpPr/>
          <p:nvPr/>
        </p:nvSpPr>
        <p:spPr>
          <a:xfrm>
            <a:off x="228600" y="4315968"/>
            <a:ext cx="8686800" cy="502920"/>
          </a:xfrm>
          <a:prstGeom prst="rect">
            <a:avLst/>
          </a:prstGeom>
          <a:noFill/>
          <a:ln/>
        </p:spPr>
        <p:txBody>
          <a:bodyPr wrap="square" lIns="0" tIns="0" rIns="0" bIns="0" rtlCol="0" anchor="ctr"/>
          <a:lstStyle/>
          <a:p>
            <a:pPr marL="0" indent="0" algn="ctr">
              <a:buNone/>
            </a:pPr>
            <a:r>
              <a:rPr lang="en-US" sz="1200" i="1" dirty="0">
                <a:solidFill>
                  <a:srgbClr val="888888"/>
                </a:solidFill>
                <a:latin typeface="Times New Roman" pitchFamily="34" charset="0"/>
                <a:ea typeface="Times New Roman" pitchFamily="34" charset="-122"/>
                <a:cs typeface="Times New Roman" pitchFamily="34" charset="-120"/>
              </a:rPr>
              <a:t>Every action is timestamped and stored in the exception history for audit evidence.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6E0000"/>
          </a:solidFill>
          <a:ln w="12700">
            <a:solidFill>
              <a:srgbClr val="6E0000"/>
            </a:solidFill>
            <a:prstDash val="solid"/>
          </a:ln>
        </p:spPr>
      </p:sp>
      <p:sp>
        <p:nvSpPr>
          <p:cNvPr id="3" name="Shape 1"/>
          <p:cNvSpPr/>
          <p:nvPr/>
        </p:nvSpPr>
        <p:spPr>
          <a:xfrm>
            <a:off x="0" y="4983480"/>
            <a:ext cx="9144000" cy="160020"/>
          </a:xfrm>
          <a:prstGeom prst="rect">
            <a:avLst/>
          </a:prstGeom>
          <a:solidFill>
            <a:srgbClr val="6E0000"/>
          </a:solidFill>
          <a:ln w="12700">
            <a:solidFill>
              <a:srgbClr val="6E0000"/>
            </a:solidFill>
            <a:prstDash val="solid"/>
          </a:ln>
        </p:spPr>
      </p:sp>
      <p:sp>
        <p:nvSpPr>
          <p:cNvPr id="4" name="Text 2"/>
          <p:cNvSpPr/>
          <p:nvPr/>
        </p:nvSpPr>
        <p:spPr>
          <a:xfrm>
            <a:off x="365760" y="64008"/>
            <a:ext cx="7863840" cy="438912"/>
          </a:xfrm>
          <a:prstGeom prst="rect">
            <a:avLst/>
          </a:prstGeom>
          <a:noFill/>
          <a:ln/>
        </p:spPr>
        <p:txBody>
          <a:bodyPr wrap="square" lIns="0" tIns="0" rIns="0" bIns="0" rtlCol="0" anchor="ctr"/>
          <a:lstStyle/>
          <a:p>
            <a:pPr marL="0" indent="0">
              <a:buNone/>
            </a:pPr>
            <a:r>
              <a:rPr lang="en-US" sz="2100" b="1" dirty="0">
                <a:solidFill>
                  <a:srgbClr val="FFFFFF"/>
                </a:solidFill>
                <a:latin typeface="Times New Roman" pitchFamily="34" charset="0"/>
                <a:ea typeface="Times New Roman" pitchFamily="34" charset="-122"/>
                <a:cs typeface="Times New Roman" pitchFamily="34" charset="-120"/>
              </a:rPr>
              <a:t>Core Platform Features</a:t>
            </a:r>
            <a:endParaRPr lang="en-US" sz="2100" dirty="0"/>
          </a:p>
        </p:txBody>
      </p:sp>
      <p:sp>
        <p:nvSpPr>
          <p:cNvPr id="5" name="Text 3"/>
          <p:cNvSpPr/>
          <p:nvPr/>
        </p:nvSpPr>
        <p:spPr>
          <a:xfrm>
            <a:off x="7955280" y="64008"/>
            <a:ext cx="914400" cy="438912"/>
          </a:xfrm>
          <a:prstGeom prst="rect">
            <a:avLst/>
          </a:prstGeom>
          <a:noFill/>
          <a:ln/>
        </p:spPr>
        <p:txBody>
          <a:bodyPr wrap="square" lIns="0" tIns="0" rIns="0" bIns="0" rtlCol="0" anchor="ctr"/>
          <a:lstStyle/>
          <a:p>
            <a:pPr marL="0" indent="0" algn="r">
              <a:buNone/>
            </a:pPr>
            <a:r>
              <a:rPr lang="en-US" sz="1100" dirty="0">
                <a:solidFill>
                  <a:srgbClr val="C8C8C8"/>
                </a:solidFill>
                <a:latin typeface="Times New Roman" pitchFamily="34" charset="0"/>
                <a:ea typeface="Times New Roman" pitchFamily="34" charset="-122"/>
                <a:cs typeface="Times New Roman" pitchFamily="34" charset="-120"/>
              </a:rPr>
              <a:t>7/12</a:t>
            </a:r>
            <a:endParaRPr lang="en-US" sz="1100" dirty="0"/>
          </a:p>
        </p:txBody>
      </p:sp>
      <p:sp>
        <p:nvSpPr>
          <p:cNvPr id="6" name="Text 4"/>
          <p:cNvSpPr/>
          <p:nvPr/>
        </p:nvSpPr>
        <p:spPr>
          <a:xfrm>
            <a:off x="365760" y="4983480"/>
            <a:ext cx="8412480" cy="160020"/>
          </a:xfrm>
          <a:prstGeom prst="rect">
            <a:avLst/>
          </a:prstGeom>
          <a:noFill/>
          <a:ln/>
        </p:spPr>
        <p:txBody>
          <a:bodyPr wrap="square" lIns="0" tIns="0" rIns="0" bIns="0" rtlCol="0" anchor="ctr"/>
          <a:lstStyle/>
          <a:p>
            <a:pPr marL="0" indent="0">
              <a:buNone/>
            </a:pPr>
            <a:r>
              <a:rPr lang="en-US" sz="800" dirty="0">
                <a:solidFill>
                  <a:srgbClr val="C8C8C8"/>
                </a:solidFill>
                <a:latin typeface="Times New Roman" pitchFamily="34" charset="0"/>
                <a:ea typeface="Times New Roman" pitchFamily="34" charset="-122"/>
                <a:cs typeface="Times New Roman" pitchFamily="34" charset="-120"/>
              </a:rPr>
              <a:t>RiskWaiver360  ·  GRC Exception &amp; Policy Waiver Management  ·  RVCE 2026</a:t>
            </a:r>
            <a:endParaRPr lang="en-US" sz="800" dirty="0"/>
          </a:p>
        </p:txBody>
      </p:sp>
      <p:sp>
        <p:nvSpPr>
          <p:cNvPr id="7" name="Shape 5"/>
          <p:cNvSpPr/>
          <p:nvPr/>
        </p:nvSpPr>
        <p:spPr>
          <a:xfrm>
            <a:off x="201168" y="658368"/>
            <a:ext cx="2816352" cy="1353312"/>
          </a:xfrm>
          <a:prstGeom prst="rect">
            <a:avLst/>
          </a:prstGeom>
          <a:solidFill>
            <a:srgbClr val="141414"/>
          </a:solidFill>
          <a:ln w="10160">
            <a:solidFill>
              <a:srgbClr val="C41010"/>
            </a:solidFill>
            <a:prstDash val="solid"/>
          </a:ln>
          <a:effectLst>
            <a:outerShdw blurRad="127000" dist="38100" dir="8100000" algn="bl" rotWithShape="0">
              <a:srgbClr val="000000">
                <a:alpha val="45000"/>
              </a:srgbClr>
            </a:outerShdw>
          </a:effectLst>
        </p:spPr>
      </p:sp>
      <p:sp>
        <p:nvSpPr>
          <p:cNvPr id="8" name="Shape 6"/>
          <p:cNvSpPr/>
          <p:nvPr/>
        </p:nvSpPr>
        <p:spPr>
          <a:xfrm>
            <a:off x="201168" y="658368"/>
            <a:ext cx="402336" cy="329184"/>
          </a:xfrm>
          <a:prstGeom prst="rect">
            <a:avLst/>
          </a:prstGeom>
          <a:solidFill>
            <a:srgbClr val="C41010"/>
          </a:solidFill>
          <a:ln w="12700">
            <a:solidFill>
              <a:srgbClr val="C41010"/>
            </a:solidFill>
            <a:prstDash val="solid"/>
          </a:ln>
        </p:spPr>
      </p:sp>
      <p:sp>
        <p:nvSpPr>
          <p:cNvPr id="9" name="Text 7"/>
          <p:cNvSpPr/>
          <p:nvPr/>
        </p:nvSpPr>
        <p:spPr>
          <a:xfrm>
            <a:off x="201168" y="658368"/>
            <a:ext cx="40233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01</a:t>
            </a:r>
            <a:endParaRPr lang="en-US" sz="1100" dirty="0"/>
          </a:p>
        </p:txBody>
      </p:sp>
      <p:sp>
        <p:nvSpPr>
          <p:cNvPr id="10" name="Text 8"/>
          <p:cNvSpPr/>
          <p:nvPr/>
        </p:nvSpPr>
        <p:spPr>
          <a:xfrm>
            <a:off x="658368" y="713232"/>
            <a:ext cx="2267712" cy="347472"/>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itchFamily="34" charset="0"/>
                <a:ea typeface="Times New Roman" pitchFamily="34" charset="-122"/>
                <a:cs typeface="Times New Roman" pitchFamily="34" charset="-120"/>
              </a:rPr>
              <a:t>Exception Risk Register</a:t>
            </a:r>
            <a:endParaRPr lang="en-US" sz="1200" dirty="0"/>
          </a:p>
        </p:txBody>
      </p:sp>
      <p:sp>
        <p:nvSpPr>
          <p:cNvPr id="11" name="Text 9"/>
          <p:cNvSpPr/>
          <p:nvPr/>
        </p:nvSpPr>
        <p:spPr>
          <a:xfrm>
            <a:off x="274320" y="1133856"/>
            <a:ext cx="2670048" cy="804672"/>
          </a:xfrm>
          <a:prstGeom prst="rect">
            <a:avLst/>
          </a:prstGeom>
          <a:noFill/>
          <a:ln/>
        </p:spPr>
        <p:txBody>
          <a:bodyPr wrap="square" lIns="0" tIns="0" rIns="0" bIns="0" rtlCol="0" anchor="ctr"/>
          <a:lstStyle/>
          <a:p>
            <a:pPr marL="0" indent="0">
              <a:buNone/>
            </a:pPr>
            <a:r>
              <a:rPr lang="en-US" sz="1050" dirty="0">
                <a:solidFill>
                  <a:srgbClr val="C8C8C8"/>
                </a:solidFill>
                <a:latin typeface="Times New Roman" pitchFamily="34" charset="0"/>
                <a:ea typeface="Times New Roman" pitchFamily="34" charset="-122"/>
                <a:cs typeface="Times New Roman" pitchFamily="34" charset="-120"/>
              </a:rPr>
              <a:t>Filterable registry of all 600 exceptions. Search, filter by dept, status, risk, type.</a:t>
            </a:r>
            <a:endParaRPr lang="en-US" sz="1050" dirty="0"/>
          </a:p>
        </p:txBody>
      </p:sp>
      <p:sp>
        <p:nvSpPr>
          <p:cNvPr id="12" name="Shape 10"/>
          <p:cNvSpPr/>
          <p:nvPr/>
        </p:nvSpPr>
        <p:spPr>
          <a:xfrm>
            <a:off x="3191256" y="658368"/>
            <a:ext cx="2816352" cy="1353312"/>
          </a:xfrm>
          <a:prstGeom prst="rect">
            <a:avLst/>
          </a:prstGeom>
          <a:solidFill>
            <a:srgbClr val="141414"/>
          </a:solidFill>
          <a:ln w="10160">
            <a:solidFill>
              <a:srgbClr val="C41010"/>
            </a:solidFill>
            <a:prstDash val="solid"/>
          </a:ln>
          <a:effectLst>
            <a:outerShdw blurRad="127000" dist="38100" dir="8100000" algn="bl" rotWithShape="0">
              <a:srgbClr val="000000">
                <a:alpha val="45000"/>
              </a:srgbClr>
            </a:outerShdw>
          </a:effectLst>
        </p:spPr>
      </p:sp>
      <p:sp>
        <p:nvSpPr>
          <p:cNvPr id="13" name="Shape 11"/>
          <p:cNvSpPr/>
          <p:nvPr/>
        </p:nvSpPr>
        <p:spPr>
          <a:xfrm>
            <a:off x="3191256" y="658368"/>
            <a:ext cx="402336" cy="329184"/>
          </a:xfrm>
          <a:prstGeom prst="rect">
            <a:avLst/>
          </a:prstGeom>
          <a:solidFill>
            <a:srgbClr val="C41010"/>
          </a:solidFill>
          <a:ln w="12700">
            <a:solidFill>
              <a:srgbClr val="C41010"/>
            </a:solidFill>
            <a:prstDash val="solid"/>
          </a:ln>
        </p:spPr>
      </p:sp>
      <p:sp>
        <p:nvSpPr>
          <p:cNvPr id="14" name="Text 12"/>
          <p:cNvSpPr/>
          <p:nvPr/>
        </p:nvSpPr>
        <p:spPr>
          <a:xfrm>
            <a:off x="3191256" y="658368"/>
            <a:ext cx="40233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02</a:t>
            </a:r>
            <a:endParaRPr lang="en-US" sz="1100" dirty="0"/>
          </a:p>
        </p:txBody>
      </p:sp>
      <p:sp>
        <p:nvSpPr>
          <p:cNvPr id="15" name="Text 13"/>
          <p:cNvSpPr/>
          <p:nvPr/>
        </p:nvSpPr>
        <p:spPr>
          <a:xfrm>
            <a:off x="3648456" y="713232"/>
            <a:ext cx="2267712" cy="347472"/>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itchFamily="34" charset="0"/>
                <a:ea typeface="Times New Roman" pitchFamily="34" charset="-122"/>
                <a:cs typeface="Times New Roman" pitchFamily="34" charset="-120"/>
              </a:rPr>
              <a:t>Structured GRC Intake</a:t>
            </a:r>
            <a:endParaRPr lang="en-US" sz="1200" dirty="0"/>
          </a:p>
        </p:txBody>
      </p:sp>
      <p:sp>
        <p:nvSpPr>
          <p:cNvPr id="16" name="Text 14"/>
          <p:cNvSpPr/>
          <p:nvPr/>
        </p:nvSpPr>
        <p:spPr>
          <a:xfrm>
            <a:off x="3264408" y="1133856"/>
            <a:ext cx="2670048" cy="804672"/>
          </a:xfrm>
          <a:prstGeom prst="rect">
            <a:avLst/>
          </a:prstGeom>
          <a:noFill/>
          <a:ln/>
        </p:spPr>
        <p:txBody>
          <a:bodyPr wrap="square" lIns="0" tIns="0" rIns="0" bIns="0" rtlCol="0" anchor="ctr"/>
          <a:lstStyle/>
          <a:p>
            <a:pPr marL="0" indent="0">
              <a:buNone/>
            </a:pPr>
            <a:r>
              <a:rPr lang="en-US" sz="1050" dirty="0">
                <a:solidFill>
                  <a:srgbClr val="C8C8C8"/>
                </a:solidFill>
                <a:latin typeface="Times New Roman" pitchFamily="34" charset="0"/>
                <a:ea typeface="Times New Roman" pitchFamily="34" charset="-122"/>
                <a:cs typeface="Times New Roman" pitchFamily="34" charset="-120"/>
              </a:rPr>
              <a:t>Validated intake form: exception type, asset, policy, CIA, owner, justification.</a:t>
            </a:r>
            <a:endParaRPr lang="en-US" sz="1050" dirty="0"/>
          </a:p>
        </p:txBody>
      </p:sp>
      <p:sp>
        <p:nvSpPr>
          <p:cNvPr id="17" name="Shape 15"/>
          <p:cNvSpPr/>
          <p:nvPr/>
        </p:nvSpPr>
        <p:spPr>
          <a:xfrm>
            <a:off x="6181344" y="658368"/>
            <a:ext cx="2816352" cy="1353312"/>
          </a:xfrm>
          <a:prstGeom prst="rect">
            <a:avLst/>
          </a:prstGeom>
          <a:solidFill>
            <a:srgbClr val="141414"/>
          </a:solidFill>
          <a:ln w="10160">
            <a:solidFill>
              <a:srgbClr val="C41010"/>
            </a:solidFill>
            <a:prstDash val="solid"/>
          </a:ln>
          <a:effectLst>
            <a:outerShdw blurRad="127000" dist="38100" dir="8100000" algn="bl" rotWithShape="0">
              <a:srgbClr val="000000">
                <a:alpha val="45000"/>
              </a:srgbClr>
            </a:outerShdw>
          </a:effectLst>
        </p:spPr>
      </p:sp>
      <p:sp>
        <p:nvSpPr>
          <p:cNvPr id="18" name="Shape 16"/>
          <p:cNvSpPr/>
          <p:nvPr/>
        </p:nvSpPr>
        <p:spPr>
          <a:xfrm>
            <a:off x="6181344" y="658368"/>
            <a:ext cx="402336" cy="329184"/>
          </a:xfrm>
          <a:prstGeom prst="rect">
            <a:avLst/>
          </a:prstGeom>
          <a:solidFill>
            <a:srgbClr val="C41010"/>
          </a:solidFill>
          <a:ln w="12700">
            <a:solidFill>
              <a:srgbClr val="C41010"/>
            </a:solidFill>
            <a:prstDash val="solid"/>
          </a:ln>
        </p:spPr>
      </p:sp>
      <p:sp>
        <p:nvSpPr>
          <p:cNvPr id="19" name="Text 17"/>
          <p:cNvSpPr/>
          <p:nvPr/>
        </p:nvSpPr>
        <p:spPr>
          <a:xfrm>
            <a:off x="6181344" y="658368"/>
            <a:ext cx="40233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03</a:t>
            </a:r>
            <a:endParaRPr lang="en-US" sz="1100" dirty="0"/>
          </a:p>
        </p:txBody>
      </p:sp>
      <p:sp>
        <p:nvSpPr>
          <p:cNvPr id="20" name="Text 18"/>
          <p:cNvSpPr/>
          <p:nvPr/>
        </p:nvSpPr>
        <p:spPr>
          <a:xfrm>
            <a:off x="6638544" y="713232"/>
            <a:ext cx="2267712" cy="347472"/>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itchFamily="34" charset="0"/>
                <a:ea typeface="Times New Roman" pitchFamily="34" charset="-122"/>
                <a:cs typeface="Times New Roman" pitchFamily="34" charset="-120"/>
              </a:rPr>
              <a:t>Security Review Queue</a:t>
            </a:r>
            <a:endParaRPr lang="en-US" sz="1200" dirty="0"/>
          </a:p>
        </p:txBody>
      </p:sp>
      <p:sp>
        <p:nvSpPr>
          <p:cNvPr id="21" name="Text 19"/>
          <p:cNvSpPr/>
          <p:nvPr/>
        </p:nvSpPr>
        <p:spPr>
          <a:xfrm>
            <a:off x="6254496" y="1133856"/>
            <a:ext cx="2670048" cy="804672"/>
          </a:xfrm>
          <a:prstGeom prst="rect">
            <a:avLst/>
          </a:prstGeom>
          <a:noFill/>
          <a:ln/>
        </p:spPr>
        <p:txBody>
          <a:bodyPr wrap="square" lIns="0" tIns="0" rIns="0" bIns="0" rtlCol="0" anchor="ctr"/>
          <a:lstStyle/>
          <a:p>
            <a:pPr marL="0" indent="0">
              <a:buNone/>
            </a:pPr>
            <a:r>
              <a:rPr lang="en-US" sz="1050" dirty="0">
                <a:solidFill>
                  <a:srgbClr val="C8C8C8"/>
                </a:solidFill>
                <a:latin typeface="Times New Roman" pitchFamily="34" charset="0"/>
                <a:ea typeface="Times New Roman" pitchFamily="34" charset="-122"/>
                <a:cs typeface="Times New Roman" pitchFamily="34" charset="-120"/>
              </a:rPr>
              <a:t>Prioritized queue for reviewers. Checklist, risk bands, action buttons.</a:t>
            </a:r>
            <a:endParaRPr lang="en-US" sz="1050" dirty="0"/>
          </a:p>
        </p:txBody>
      </p:sp>
      <p:sp>
        <p:nvSpPr>
          <p:cNvPr id="22" name="Shape 20"/>
          <p:cNvSpPr/>
          <p:nvPr/>
        </p:nvSpPr>
        <p:spPr>
          <a:xfrm>
            <a:off x="201168" y="2121408"/>
            <a:ext cx="2816352" cy="1353312"/>
          </a:xfrm>
          <a:prstGeom prst="rect">
            <a:avLst/>
          </a:prstGeom>
          <a:solidFill>
            <a:srgbClr val="141414"/>
          </a:solidFill>
          <a:ln w="10160">
            <a:solidFill>
              <a:srgbClr val="C41010"/>
            </a:solidFill>
            <a:prstDash val="solid"/>
          </a:ln>
          <a:effectLst>
            <a:outerShdw blurRad="127000" dist="38100" dir="8100000" algn="bl" rotWithShape="0">
              <a:srgbClr val="000000">
                <a:alpha val="45000"/>
              </a:srgbClr>
            </a:outerShdw>
          </a:effectLst>
        </p:spPr>
      </p:sp>
      <p:sp>
        <p:nvSpPr>
          <p:cNvPr id="23" name="Shape 21"/>
          <p:cNvSpPr/>
          <p:nvPr/>
        </p:nvSpPr>
        <p:spPr>
          <a:xfrm>
            <a:off x="201168" y="2121408"/>
            <a:ext cx="402336" cy="329184"/>
          </a:xfrm>
          <a:prstGeom prst="rect">
            <a:avLst/>
          </a:prstGeom>
          <a:solidFill>
            <a:srgbClr val="C41010"/>
          </a:solidFill>
          <a:ln w="12700">
            <a:solidFill>
              <a:srgbClr val="C41010"/>
            </a:solidFill>
            <a:prstDash val="solid"/>
          </a:ln>
        </p:spPr>
      </p:sp>
      <p:sp>
        <p:nvSpPr>
          <p:cNvPr id="24" name="Text 22"/>
          <p:cNvSpPr/>
          <p:nvPr/>
        </p:nvSpPr>
        <p:spPr>
          <a:xfrm>
            <a:off x="201168" y="2121408"/>
            <a:ext cx="40233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04</a:t>
            </a:r>
            <a:endParaRPr lang="en-US" sz="1100" dirty="0"/>
          </a:p>
        </p:txBody>
      </p:sp>
      <p:sp>
        <p:nvSpPr>
          <p:cNvPr id="25" name="Text 23"/>
          <p:cNvSpPr/>
          <p:nvPr/>
        </p:nvSpPr>
        <p:spPr>
          <a:xfrm>
            <a:off x="658368" y="2176272"/>
            <a:ext cx="2267712" cy="347472"/>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itchFamily="34" charset="0"/>
                <a:ea typeface="Times New Roman" pitchFamily="34" charset="-122"/>
                <a:cs typeface="Times New Roman" pitchFamily="34" charset="-120"/>
              </a:rPr>
              <a:t>Exception Evidence File</a:t>
            </a:r>
            <a:endParaRPr lang="en-US" sz="1200" dirty="0"/>
          </a:p>
        </p:txBody>
      </p:sp>
      <p:sp>
        <p:nvSpPr>
          <p:cNvPr id="26" name="Text 24"/>
          <p:cNvSpPr/>
          <p:nvPr/>
        </p:nvSpPr>
        <p:spPr>
          <a:xfrm>
            <a:off x="274320" y="2596896"/>
            <a:ext cx="2670048" cy="804672"/>
          </a:xfrm>
          <a:prstGeom prst="rect">
            <a:avLst/>
          </a:prstGeom>
          <a:noFill/>
          <a:ln/>
        </p:spPr>
        <p:txBody>
          <a:bodyPr wrap="square" lIns="0" tIns="0" rIns="0" bIns="0" rtlCol="0" anchor="ctr"/>
          <a:lstStyle/>
          <a:p>
            <a:pPr marL="0" indent="0">
              <a:buNone/>
            </a:pPr>
            <a:r>
              <a:rPr lang="en-US" sz="1050" dirty="0">
                <a:solidFill>
                  <a:srgbClr val="C8C8C8"/>
                </a:solidFill>
                <a:latin typeface="Times New Roman" pitchFamily="34" charset="0"/>
                <a:ea typeface="Times New Roman" pitchFamily="34" charset="-122"/>
                <a:cs typeface="Times New Roman" pitchFamily="34" charset="-120"/>
              </a:rPr>
              <a:t>Full exception detail: lifecycle, approvals, history, GRC conflicts, risk score.</a:t>
            </a:r>
            <a:endParaRPr lang="en-US" sz="1050" dirty="0"/>
          </a:p>
        </p:txBody>
      </p:sp>
      <p:sp>
        <p:nvSpPr>
          <p:cNvPr id="27" name="Shape 25"/>
          <p:cNvSpPr/>
          <p:nvPr/>
        </p:nvSpPr>
        <p:spPr>
          <a:xfrm>
            <a:off x="3191256" y="2121408"/>
            <a:ext cx="2816352" cy="1353312"/>
          </a:xfrm>
          <a:prstGeom prst="rect">
            <a:avLst/>
          </a:prstGeom>
          <a:solidFill>
            <a:srgbClr val="141414"/>
          </a:solidFill>
          <a:ln w="10160">
            <a:solidFill>
              <a:srgbClr val="C41010"/>
            </a:solidFill>
            <a:prstDash val="solid"/>
          </a:ln>
          <a:effectLst>
            <a:outerShdw blurRad="127000" dist="38100" dir="8100000" algn="bl" rotWithShape="0">
              <a:srgbClr val="000000">
                <a:alpha val="45000"/>
              </a:srgbClr>
            </a:outerShdw>
          </a:effectLst>
        </p:spPr>
      </p:sp>
      <p:sp>
        <p:nvSpPr>
          <p:cNvPr id="28" name="Shape 26"/>
          <p:cNvSpPr/>
          <p:nvPr/>
        </p:nvSpPr>
        <p:spPr>
          <a:xfrm>
            <a:off x="3191256" y="2121408"/>
            <a:ext cx="402336" cy="329184"/>
          </a:xfrm>
          <a:prstGeom prst="rect">
            <a:avLst/>
          </a:prstGeom>
          <a:solidFill>
            <a:srgbClr val="C41010"/>
          </a:solidFill>
          <a:ln w="12700">
            <a:solidFill>
              <a:srgbClr val="C41010"/>
            </a:solidFill>
            <a:prstDash val="solid"/>
          </a:ln>
        </p:spPr>
      </p:sp>
      <p:sp>
        <p:nvSpPr>
          <p:cNvPr id="29" name="Text 27"/>
          <p:cNvSpPr/>
          <p:nvPr/>
        </p:nvSpPr>
        <p:spPr>
          <a:xfrm>
            <a:off x="3191256" y="2121408"/>
            <a:ext cx="40233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05</a:t>
            </a:r>
            <a:endParaRPr lang="en-US" sz="1100" dirty="0"/>
          </a:p>
        </p:txBody>
      </p:sp>
      <p:sp>
        <p:nvSpPr>
          <p:cNvPr id="30" name="Text 28"/>
          <p:cNvSpPr/>
          <p:nvPr/>
        </p:nvSpPr>
        <p:spPr>
          <a:xfrm>
            <a:off x="3648456" y="2176272"/>
            <a:ext cx="2267712" cy="347472"/>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itchFamily="34" charset="0"/>
                <a:ea typeface="Times New Roman" pitchFamily="34" charset="-122"/>
                <a:cs typeface="Times New Roman" pitchFamily="34" charset="-120"/>
              </a:rPr>
              <a:t>Risk Scoring Engine</a:t>
            </a:r>
            <a:endParaRPr lang="en-US" sz="1200" dirty="0"/>
          </a:p>
        </p:txBody>
      </p:sp>
      <p:sp>
        <p:nvSpPr>
          <p:cNvPr id="31" name="Text 29"/>
          <p:cNvSpPr/>
          <p:nvPr/>
        </p:nvSpPr>
        <p:spPr>
          <a:xfrm>
            <a:off x="3264408" y="2596896"/>
            <a:ext cx="2670048" cy="804672"/>
          </a:xfrm>
          <a:prstGeom prst="rect">
            <a:avLst/>
          </a:prstGeom>
          <a:noFill/>
          <a:ln/>
        </p:spPr>
        <p:txBody>
          <a:bodyPr wrap="square" lIns="0" tIns="0" rIns="0" bIns="0" rtlCol="0" anchor="ctr"/>
          <a:lstStyle/>
          <a:p>
            <a:pPr marL="0" indent="0">
              <a:buNone/>
            </a:pPr>
            <a:r>
              <a:rPr lang="en-US" sz="1050" dirty="0">
                <a:solidFill>
                  <a:srgbClr val="C8C8C8"/>
                </a:solidFill>
                <a:latin typeface="Times New Roman" pitchFamily="34" charset="0"/>
                <a:ea typeface="Times New Roman" pitchFamily="34" charset="-122"/>
                <a:cs typeface="Times New Roman" pitchFamily="34" charset="-120"/>
              </a:rPr>
              <a:t>Rule-based score (0-100). Type + Asset + Duration + Expiry + Review - Controls.</a:t>
            </a:r>
            <a:endParaRPr lang="en-US" sz="1050" dirty="0"/>
          </a:p>
        </p:txBody>
      </p:sp>
      <p:sp>
        <p:nvSpPr>
          <p:cNvPr id="32" name="Shape 30"/>
          <p:cNvSpPr/>
          <p:nvPr/>
        </p:nvSpPr>
        <p:spPr>
          <a:xfrm>
            <a:off x="6181344" y="2121408"/>
            <a:ext cx="2816352" cy="1353312"/>
          </a:xfrm>
          <a:prstGeom prst="rect">
            <a:avLst/>
          </a:prstGeom>
          <a:solidFill>
            <a:srgbClr val="141414"/>
          </a:solidFill>
          <a:ln w="10160">
            <a:solidFill>
              <a:srgbClr val="C41010"/>
            </a:solidFill>
            <a:prstDash val="solid"/>
          </a:ln>
          <a:effectLst>
            <a:outerShdw blurRad="127000" dist="38100" dir="8100000" algn="bl" rotWithShape="0">
              <a:srgbClr val="000000">
                <a:alpha val="45000"/>
              </a:srgbClr>
            </a:outerShdw>
          </a:effectLst>
        </p:spPr>
      </p:sp>
      <p:sp>
        <p:nvSpPr>
          <p:cNvPr id="33" name="Shape 31"/>
          <p:cNvSpPr/>
          <p:nvPr/>
        </p:nvSpPr>
        <p:spPr>
          <a:xfrm>
            <a:off x="6181344" y="2121408"/>
            <a:ext cx="402336" cy="329184"/>
          </a:xfrm>
          <a:prstGeom prst="rect">
            <a:avLst/>
          </a:prstGeom>
          <a:solidFill>
            <a:srgbClr val="C41010"/>
          </a:solidFill>
          <a:ln w="12700">
            <a:solidFill>
              <a:srgbClr val="C41010"/>
            </a:solidFill>
            <a:prstDash val="solid"/>
          </a:ln>
        </p:spPr>
      </p:sp>
      <p:sp>
        <p:nvSpPr>
          <p:cNvPr id="34" name="Text 32"/>
          <p:cNvSpPr/>
          <p:nvPr/>
        </p:nvSpPr>
        <p:spPr>
          <a:xfrm>
            <a:off x="6181344" y="2121408"/>
            <a:ext cx="40233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06</a:t>
            </a:r>
            <a:endParaRPr lang="en-US" sz="1100" dirty="0"/>
          </a:p>
        </p:txBody>
      </p:sp>
      <p:sp>
        <p:nvSpPr>
          <p:cNvPr id="35" name="Text 33"/>
          <p:cNvSpPr/>
          <p:nvPr/>
        </p:nvSpPr>
        <p:spPr>
          <a:xfrm>
            <a:off x="6638544" y="2176272"/>
            <a:ext cx="2267712" cy="347472"/>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itchFamily="34" charset="0"/>
                <a:ea typeface="Times New Roman" pitchFamily="34" charset="-122"/>
                <a:cs typeface="Times New Roman" pitchFamily="34" charset="-120"/>
              </a:rPr>
              <a:t>Continuous Monitoring</a:t>
            </a:r>
            <a:endParaRPr lang="en-US" sz="1200" dirty="0"/>
          </a:p>
        </p:txBody>
      </p:sp>
      <p:sp>
        <p:nvSpPr>
          <p:cNvPr id="36" name="Text 34"/>
          <p:cNvSpPr/>
          <p:nvPr/>
        </p:nvSpPr>
        <p:spPr>
          <a:xfrm>
            <a:off x="6254496" y="2596896"/>
            <a:ext cx="2670048" cy="804672"/>
          </a:xfrm>
          <a:prstGeom prst="rect">
            <a:avLst/>
          </a:prstGeom>
          <a:noFill/>
          <a:ln/>
        </p:spPr>
        <p:txBody>
          <a:bodyPr wrap="square" lIns="0" tIns="0" rIns="0" bIns="0" rtlCol="0" anchor="ctr"/>
          <a:lstStyle/>
          <a:p>
            <a:pPr marL="0" indent="0">
              <a:buNone/>
            </a:pPr>
            <a:r>
              <a:rPr lang="en-US" sz="1050" dirty="0">
                <a:solidFill>
                  <a:srgbClr val="C8C8C8"/>
                </a:solidFill>
                <a:latin typeface="Times New Roman" pitchFamily="34" charset="0"/>
                <a:ea typeface="Times New Roman" pitchFamily="34" charset="-122"/>
                <a:cs typeface="Times New Roman" pitchFamily="34" charset="-120"/>
              </a:rPr>
              <a:t>682 alerts: overdue, expiring soon, orphaned owner, missing controls, review due.</a:t>
            </a:r>
            <a:endParaRPr lang="en-US" sz="1050" dirty="0"/>
          </a:p>
        </p:txBody>
      </p:sp>
      <p:sp>
        <p:nvSpPr>
          <p:cNvPr id="37" name="Shape 35"/>
          <p:cNvSpPr/>
          <p:nvPr/>
        </p:nvSpPr>
        <p:spPr>
          <a:xfrm>
            <a:off x="201168" y="3584448"/>
            <a:ext cx="2816352" cy="1353312"/>
          </a:xfrm>
          <a:prstGeom prst="rect">
            <a:avLst/>
          </a:prstGeom>
          <a:solidFill>
            <a:srgbClr val="141414"/>
          </a:solidFill>
          <a:ln w="10160">
            <a:solidFill>
              <a:srgbClr val="C41010"/>
            </a:solidFill>
            <a:prstDash val="solid"/>
          </a:ln>
          <a:effectLst>
            <a:outerShdw blurRad="127000" dist="38100" dir="8100000" algn="bl" rotWithShape="0">
              <a:srgbClr val="000000">
                <a:alpha val="45000"/>
              </a:srgbClr>
            </a:outerShdw>
          </a:effectLst>
        </p:spPr>
      </p:sp>
      <p:sp>
        <p:nvSpPr>
          <p:cNvPr id="38" name="Shape 36"/>
          <p:cNvSpPr/>
          <p:nvPr/>
        </p:nvSpPr>
        <p:spPr>
          <a:xfrm>
            <a:off x="201168" y="3584448"/>
            <a:ext cx="402336" cy="329184"/>
          </a:xfrm>
          <a:prstGeom prst="rect">
            <a:avLst/>
          </a:prstGeom>
          <a:solidFill>
            <a:srgbClr val="C41010"/>
          </a:solidFill>
          <a:ln w="12700">
            <a:solidFill>
              <a:srgbClr val="C41010"/>
            </a:solidFill>
            <a:prstDash val="solid"/>
          </a:ln>
        </p:spPr>
      </p:sp>
      <p:sp>
        <p:nvSpPr>
          <p:cNvPr id="39" name="Text 37"/>
          <p:cNvSpPr/>
          <p:nvPr/>
        </p:nvSpPr>
        <p:spPr>
          <a:xfrm>
            <a:off x="201168" y="3584448"/>
            <a:ext cx="40233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07</a:t>
            </a:r>
            <a:endParaRPr lang="en-US" sz="1100" dirty="0"/>
          </a:p>
        </p:txBody>
      </p:sp>
      <p:sp>
        <p:nvSpPr>
          <p:cNvPr id="40" name="Text 38"/>
          <p:cNvSpPr/>
          <p:nvPr/>
        </p:nvSpPr>
        <p:spPr>
          <a:xfrm>
            <a:off x="658368" y="3639312"/>
            <a:ext cx="2267712" cy="347472"/>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itchFamily="34" charset="0"/>
                <a:ea typeface="Times New Roman" pitchFamily="34" charset="-122"/>
                <a:cs typeface="Times New Roman" pitchFamily="34" charset="-120"/>
              </a:rPr>
              <a:t>GRC Intelligence Center</a:t>
            </a:r>
            <a:endParaRPr lang="en-US" sz="1200" dirty="0"/>
          </a:p>
        </p:txBody>
      </p:sp>
      <p:sp>
        <p:nvSpPr>
          <p:cNvPr id="41" name="Text 39"/>
          <p:cNvSpPr/>
          <p:nvPr/>
        </p:nvSpPr>
        <p:spPr>
          <a:xfrm>
            <a:off x="274320" y="4059936"/>
            <a:ext cx="2670048" cy="804672"/>
          </a:xfrm>
          <a:prstGeom prst="rect">
            <a:avLst/>
          </a:prstGeom>
          <a:noFill/>
          <a:ln/>
        </p:spPr>
        <p:txBody>
          <a:bodyPr wrap="square" lIns="0" tIns="0" rIns="0" bIns="0" rtlCol="0" anchor="ctr"/>
          <a:lstStyle/>
          <a:p>
            <a:pPr marL="0" indent="0">
              <a:buNone/>
            </a:pPr>
            <a:r>
              <a:rPr lang="en-US" sz="1050" dirty="0">
                <a:solidFill>
                  <a:srgbClr val="C8C8C8"/>
                </a:solidFill>
                <a:latin typeface="Times New Roman" pitchFamily="34" charset="0"/>
                <a:ea typeface="Times New Roman" pitchFamily="34" charset="-122"/>
                <a:cs typeface="Times New Roman" pitchFamily="34" charset="-120"/>
              </a:rPr>
              <a:t>Detects overlaps (90), duplicates (59), conflicts, and risk accumulation hotspots (37).</a:t>
            </a:r>
            <a:endParaRPr lang="en-US" sz="1050" dirty="0"/>
          </a:p>
        </p:txBody>
      </p:sp>
      <p:sp>
        <p:nvSpPr>
          <p:cNvPr id="42" name="Shape 40"/>
          <p:cNvSpPr/>
          <p:nvPr/>
        </p:nvSpPr>
        <p:spPr>
          <a:xfrm>
            <a:off x="3191256" y="3584448"/>
            <a:ext cx="2816352" cy="1353312"/>
          </a:xfrm>
          <a:prstGeom prst="rect">
            <a:avLst/>
          </a:prstGeom>
          <a:solidFill>
            <a:srgbClr val="141414"/>
          </a:solidFill>
          <a:ln w="10160">
            <a:solidFill>
              <a:srgbClr val="C41010"/>
            </a:solidFill>
            <a:prstDash val="solid"/>
          </a:ln>
          <a:effectLst>
            <a:outerShdw blurRad="127000" dist="38100" dir="8100000" algn="bl" rotWithShape="0">
              <a:srgbClr val="000000">
                <a:alpha val="45000"/>
              </a:srgbClr>
            </a:outerShdw>
          </a:effectLst>
        </p:spPr>
      </p:sp>
      <p:sp>
        <p:nvSpPr>
          <p:cNvPr id="43" name="Shape 41"/>
          <p:cNvSpPr/>
          <p:nvPr/>
        </p:nvSpPr>
        <p:spPr>
          <a:xfrm>
            <a:off x="3191256" y="3584448"/>
            <a:ext cx="402336" cy="329184"/>
          </a:xfrm>
          <a:prstGeom prst="rect">
            <a:avLst/>
          </a:prstGeom>
          <a:solidFill>
            <a:srgbClr val="C41010"/>
          </a:solidFill>
          <a:ln w="12700">
            <a:solidFill>
              <a:srgbClr val="C41010"/>
            </a:solidFill>
            <a:prstDash val="solid"/>
          </a:ln>
        </p:spPr>
      </p:sp>
      <p:sp>
        <p:nvSpPr>
          <p:cNvPr id="44" name="Text 42"/>
          <p:cNvSpPr/>
          <p:nvPr/>
        </p:nvSpPr>
        <p:spPr>
          <a:xfrm>
            <a:off x="3191256" y="3584448"/>
            <a:ext cx="40233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08</a:t>
            </a:r>
            <a:endParaRPr lang="en-US" sz="1100" dirty="0"/>
          </a:p>
        </p:txBody>
      </p:sp>
      <p:sp>
        <p:nvSpPr>
          <p:cNvPr id="45" name="Text 43"/>
          <p:cNvSpPr/>
          <p:nvPr/>
        </p:nvSpPr>
        <p:spPr>
          <a:xfrm>
            <a:off x="3648456" y="3639312"/>
            <a:ext cx="2267712" cy="347472"/>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itchFamily="34" charset="0"/>
                <a:ea typeface="Times New Roman" pitchFamily="34" charset="-122"/>
                <a:cs typeface="Times New Roman" pitchFamily="34" charset="-120"/>
              </a:rPr>
              <a:t>Audit-Ready Reports</a:t>
            </a:r>
            <a:endParaRPr lang="en-US" sz="1200" dirty="0"/>
          </a:p>
        </p:txBody>
      </p:sp>
      <p:sp>
        <p:nvSpPr>
          <p:cNvPr id="46" name="Text 44"/>
          <p:cNvSpPr/>
          <p:nvPr/>
        </p:nvSpPr>
        <p:spPr>
          <a:xfrm>
            <a:off x="3264408" y="4059936"/>
            <a:ext cx="2670048" cy="804672"/>
          </a:xfrm>
          <a:prstGeom prst="rect">
            <a:avLst/>
          </a:prstGeom>
          <a:noFill/>
          <a:ln/>
        </p:spPr>
        <p:txBody>
          <a:bodyPr wrap="square" lIns="0" tIns="0" rIns="0" bIns="0" rtlCol="0" anchor="ctr"/>
          <a:lstStyle/>
          <a:p>
            <a:pPr marL="0" indent="0">
              <a:buNone/>
            </a:pPr>
            <a:r>
              <a:rPr lang="en-US" sz="1050" dirty="0">
                <a:solidFill>
                  <a:srgbClr val="C8C8C8"/>
                </a:solidFill>
                <a:latin typeface="Times New Roman" pitchFamily="34" charset="0"/>
                <a:ea typeface="Times New Roman" pitchFamily="34" charset="-122"/>
                <a:cs typeface="Times New Roman" pitchFamily="34" charset="-120"/>
              </a:rPr>
              <a:t>Department &amp; risk breakdown, lifecycle analysis, printable evidence packs.</a:t>
            </a:r>
            <a:endParaRPr lang="en-US" sz="1050" dirty="0"/>
          </a:p>
        </p:txBody>
      </p:sp>
      <p:sp>
        <p:nvSpPr>
          <p:cNvPr id="47" name="Shape 45"/>
          <p:cNvSpPr/>
          <p:nvPr/>
        </p:nvSpPr>
        <p:spPr>
          <a:xfrm>
            <a:off x="6181344" y="3584448"/>
            <a:ext cx="2816352" cy="1353312"/>
          </a:xfrm>
          <a:prstGeom prst="rect">
            <a:avLst/>
          </a:prstGeom>
          <a:solidFill>
            <a:srgbClr val="141414"/>
          </a:solidFill>
          <a:ln w="10160">
            <a:solidFill>
              <a:srgbClr val="C41010"/>
            </a:solidFill>
            <a:prstDash val="solid"/>
          </a:ln>
          <a:effectLst>
            <a:outerShdw blurRad="127000" dist="38100" dir="8100000" algn="bl" rotWithShape="0">
              <a:srgbClr val="000000">
                <a:alpha val="45000"/>
              </a:srgbClr>
            </a:outerShdw>
          </a:effectLst>
        </p:spPr>
      </p:sp>
      <p:sp>
        <p:nvSpPr>
          <p:cNvPr id="48" name="Shape 46"/>
          <p:cNvSpPr/>
          <p:nvPr/>
        </p:nvSpPr>
        <p:spPr>
          <a:xfrm>
            <a:off x="6181344" y="3584448"/>
            <a:ext cx="402336" cy="329184"/>
          </a:xfrm>
          <a:prstGeom prst="rect">
            <a:avLst/>
          </a:prstGeom>
          <a:solidFill>
            <a:srgbClr val="C41010"/>
          </a:solidFill>
          <a:ln w="12700">
            <a:solidFill>
              <a:srgbClr val="C41010"/>
            </a:solidFill>
            <a:prstDash val="solid"/>
          </a:ln>
        </p:spPr>
      </p:sp>
      <p:sp>
        <p:nvSpPr>
          <p:cNvPr id="49" name="Text 47"/>
          <p:cNvSpPr/>
          <p:nvPr/>
        </p:nvSpPr>
        <p:spPr>
          <a:xfrm>
            <a:off x="6181344" y="3584448"/>
            <a:ext cx="40233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09</a:t>
            </a:r>
            <a:endParaRPr lang="en-US" sz="1100" dirty="0"/>
          </a:p>
        </p:txBody>
      </p:sp>
      <p:sp>
        <p:nvSpPr>
          <p:cNvPr id="50" name="Text 48"/>
          <p:cNvSpPr/>
          <p:nvPr/>
        </p:nvSpPr>
        <p:spPr>
          <a:xfrm>
            <a:off x="6638544" y="3639312"/>
            <a:ext cx="2267712" cy="347472"/>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itchFamily="34" charset="0"/>
                <a:ea typeface="Times New Roman" pitchFamily="34" charset="-122"/>
                <a:cs typeface="Times New Roman" pitchFamily="34" charset="-120"/>
              </a:rPr>
              <a:t>Settings &amp; Roadmap</a:t>
            </a:r>
            <a:endParaRPr lang="en-US" sz="1200" dirty="0"/>
          </a:p>
        </p:txBody>
      </p:sp>
      <p:sp>
        <p:nvSpPr>
          <p:cNvPr id="51" name="Text 49"/>
          <p:cNvSpPr/>
          <p:nvPr/>
        </p:nvSpPr>
        <p:spPr>
          <a:xfrm>
            <a:off x="6254496" y="4059936"/>
            <a:ext cx="2670048" cy="804672"/>
          </a:xfrm>
          <a:prstGeom prst="rect">
            <a:avLst/>
          </a:prstGeom>
          <a:noFill/>
          <a:ln/>
        </p:spPr>
        <p:txBody>
          <a:bodyPr wrap="square" lIns="0" tIns="0" rIns="0" bIns="0" rtlCol="0" anchor="ctr"/>
          <a:lstStyle/>
          <a:p>
            <a:pPr marL="0" indent="0">
              <a:buNone/>
            </a:pPr>
            <a:r>
              <a:rPr lang="en-US" sz="1050" dirty="0">
                <a:solidFill>
                  <a:srgbClr val="C8C8C8"/>
                </a:solidFill>
                <a:latin typeface="Times New Roman" pitchFamily="34" charset="0"/>
                <a:ea typeface="Times New Roman" pitchFamily="34" charset="-122"/>
                <a:cs typeface="Times New Roman" pitchFamily="34" charset="-120"/>
              </a:rPr>
              <a:t>Dataset stats, scoring config, role matrix, limitations, and production roadmap.</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6E0000"/>
          </a:solidFill>
          <a:ln w="12700">
            <a:solidFill>
              <a:srgbClr val="6E0000"/>
            </a:solidFill>
            <a:prstDash val="solid"/>
          </a:ln>
        </p:spPr>
      </p:sp>
      <p:sp>
        <p:nvSpPr>
          <p:cNvPr id="3" name="Shape 1"/>
          <p:cNvSpPr/>
          <p:nvPr/>
        </p:nvSpPr>
        <p:spPr>
          <a:xfrm>
            <a:off x="0" y="4983480"/>
            <a:ext cx="9144000" cy="160020"/>
          </a:xfrm>
          <a:prstGeom prst="rect">
            <a:avLst/>
          </a:prstGeom>
          <a:solidFill>
            <a:srgbClr val="6E0000"/>
          </a:solidFill>
          <a:ln w="12700">
            <a:solidFill>
              <a:srgbClr val="6E0000"/>
            </a:solidFill>
            <a:prstDash val="solid"/>
          </a:ln>
        </p:spPr>
      </p:sp>
      <p:sp>
        <p:nvSpPr>
          <p:cNvPr id="4" name="Text 2"/>
          <p:cNvSpPr/>
          <p:nvPr/>
        </p:nvSpPr>
        <p:spPr>
          <a:xfrm>
            <a:off x="365760" y="64008"/>
            <a:ext cx="7863840" cy="438912"/>
          </a:xfrm>
          <a:prstGeom prst="rect">
            <a:avLst/>
          </a:prstGeom>
          <a:noFill/>
          <a:ln/>
        </p:spPr>
        <p:txBody>
          <a:bodyPr wrap="square" lIns="0" tIns="0" rIns="0" bIns="0" rtlCol="0" anchor="ctr"/>
          <a:lstStyle/>
          <a:p>
            <a:pPr marL="0" indent="0">
              <a:buNone/>
            </a:pPr>
            <a:r>
              <a:rPr lang="en-US" sz="2100" b="1" dirty="0">
                <a:solidFill>
                  <a:srgbClr val="FFFFFF"/>
                </a:solidFill>
                <a:latin typeface="Times New Roman" pitchFamily="34" charset="0"/>
                <a:ea typeface="Times New Roman" pitchFamily="34" charset="-122"/>
                <a:cs typeface="Times New Roman" pitchFamily="34" charset="-120"/>
              </a:rPr>
              <a:t>Risk Scoring Engine — Rule-Based &amp; Explainable</a:t>
            </a:r>
            <a:endParaRPr lang="en-US" sz="2100" dirty="0"/>
          </a:p>
        </p:txBody>
      </p:sp>
      <p:sp>
        <p:nvSpPr>
          <p:cNvPr id="5" name="Text 3"/>
          <p:cNvSpPr/>
          <p:nvPr/>
        </p:nvSpPr>
        <p:spPr>
          <a:xfrm>
            <a:off x="7955280" y="64008"/>
            <a:ext cx="914400" cy="438912"/>
          </a:xfrm>
          <a:prstGeom prst="rect">
            <a:avLst/>
          </a:prstGeom>
          <a:noFill/>
          <a:ln/>
        </p:spPr>
        <p:txBody>
          <a:bodyPr wrap="square" lIns="0" tIns="0" rIns="0" bIns="0" rtlCol="0" anchor="ctr"/>
          <a:lstStyle/>
          <a:p>
            <a:pPr marL="0" indent="0" algn="r">
              <a:buNone/>
            </a:pPr>
            <a:r>
              <a:rPr lang="en-US" sz="1100" dirty="0">
                <a:solidFill>
                  <a:srgbClr val="C8C8C8"/>
                </a:solidFill>
                <a:latin typeface="Times New Roman" pitchFamily="34" charset="0"/>
                <a:ea typeface="Times New Roman" pitchFamily="34" charset="-122"/>
                <a:cs typeface="Times New Roman" pitchFamily="34" charset="-120"/>
              </a:rPr>
              <a:t>8/12</a:t>
            </a:r>
            <a:endParaRPr lang="en-US" sz="1100" dirty="0"/>
          </a:p>
        </p:txBody>
      </p:sp>
      <p:sp>
        <p:nvSpPr>
          <p:cNvPr id="6" name="Text 4"/>
          <p:cNvSpPr/>
          <p:nvPr/>
        </p:nvSpPr>
        <p:spPr>
          <a:xfrm>
            <a:off x="365760" y="4983480"/>
            <a:ext cx="8412480" cy="160020"/>
          </a:xfrm>
          <a:prstGeom prst="rect">
            <a:avLst/>
          </a:prstGeom>
          <a:noFill/>
          <a:ln/>
        </p:spPr>
        <p:txBody>
          <a:bodyPr wrap="square" lIns="0" tIns="0" rIns="0" bIns="0" rtlCol="0" anchor="ctr"/>
          <a:lstStyle/>
          <a:p>
            <a:pPr marL="0" indent="0">
              <a:buNone/>
            </a:pPr>
            <a:r>
              <a:rPr lang="en-US" sz="800" dirty="0">
                <a:solidFill>
                  <a:srgbClr val="C8C8C8"/>
                </a:solidFill>
                <a:latin typeface="Times New Roman" pitchFamily="34" charset="0"/>
                <a:ea typeface="Times New Roman" pitchFamily="34" charset="-122"/>
                <a:cs typeface="Times New Roman" pitchFamily="34" charset="-120"/>
              </a:rPr>
              <a:t>RiskWaiver360  ·  GRC Exception &amp; Policy Waiver Management  ·  RVCE 2026</a:t>
            </a:r>
            <a:endParaRPr lang="en-US" sz="800" dirty="0"/>
          </a:p>
        </p:txBody>
      </p:sp>
      <p:sp>
        <p:nvSpPr>
          <p:cNvPr id="7" name="Shape 5"/>
          <p:cNvSpPr/>
          <p:nvPr/>
        </p:nvSpPr>
        <p:spPr>
          <a:xfrm>
            <a:off x="365760" y="658368"/>
            <a:ext cx="8412480" cy="868680"/>
          </a:xfrm>
          <a:prstGeom prst="rect">
            <a:avLst/>
          </a:prstGeom>
          <a:solidFill>
            <a:srgbClr val="6E0000"/>
          </a:solidFill>
          <a:ln w="19050">
            <a:solidFill>
              <a:srgbClr val="C41010"/>
            </a:solidFill>
            <a:prstDash val="solid"/>
          </a:ln>
          <a:effectLst>
            <a:outerShdw blurRad="127000" dist="38100" dir="8100000" algn="bl" rotWithShape="0">
              <a:srgbClr val="000000">
                <a:alpha val="45000"/>
              </a:srgbClr>
            </a:outerShdw>
          </a:effectLst>
        </p:spPr>
      </p:sp>
      <p:sp>
        <p:nvSpPr>
          <p:cNvPr id="8" name="Text 6"/>
          <p:cNvSpPr/>
          <p:nvPr/>
        </p:nvSpPr>
        <p:spPr>
          <a:xfrm>
            <a:off x="502920" y="713232"/>
            <a:ext cx="8229600" cy="749808"/>
          </a:xfrm>
          <a:prstGeom prst="rect">
            <a:avLst/>
          </a:prstGeom>
          <a:noFill/>
          <a:ln/>
        </p:spPr>
        <p:txBody>
          <a:bodyPr wrap="square" lIns="0" tIns="0" rIns="0" bIns="0" rtlCol="0" anchor="ctr"/>
          <a:lstStyle/>
          <a:p>
            <a:pPr marL="0" indent="0" algn="ctr">
              <a:buNone/>
            </a:pPr>
            <a:r>
              <a:rPr lang="en-US" sz="1250" b="1" dirty="0">
                <a:solidFill>
                  <a:srgbClr val="FFFFFF"/>
                </a:solidFill>
                <a:latin typeface="Times New Roman" pitchFamily="34" charset="0"/>
                <a:ea typeface="Times New Roman" pitchFamily="34" charset="-122"/>
                <a:cs typeface="Times New Roman" pitchFamily="34" charset="-120"/>
              </a:rPr>
              <a:t>Risk Score  =  Type Weight  +  Asset Criticality  +  Duration Penalty  +  Expiry Status  +  Review Penalty  +  Owner Status  −  Control Bonus</a:t>
            </a:r>
            <a:endParaRPr lang="en-US" sz="1250" dirty="0"/>
          </a:p>
        </p:txBody>
      </p:sp>
      <p:sp>
        <p:nvSpPr>
          <p:cNvPr id="9" name="Text 7"/>
          <p:cNvSpPr/>
          <p:nvPr/>
        </p:nvSpPr>
        <p:spPr>
          <a:xfrm>
            <a:off x="365760" y="1627632"/>
            <a:ext cx="5303520" cy="320040"/>
          </a:xfrm>
          <a:prstGeom prst="rect">
            <a:avLst/>
          </a:prstGeom>
          <a:noFill/>
          <a:ln/>
        </p:spPr>
        <p:txBody>
          <a:bodyPr wrap="square" lIns="0" tIns="0" rIns="0" bIns="0" rtlCol="0" anchor="ctr"/>
          <a:lstStyle/>
          <a:p>
            <a:pPr marL="0" indent="0">
              <a:buNone/>
            </a:pPr>
            <a:r>
              <a:rPr lang="en-US" sz="1300" b="1" dirty="0">
                <a:solidFill>
                  <a:srgbClr val="C41010"/>
                </a:solidFill>
                <a:latin typeface="Times New Roman" pitchFamily="34" charset="0"/>
                <a:ea typeface="Times New Roman" pitchFamily="34" charset="-122"/>
                <a:cs typeface="Times New Roman" pitchFamily="34" charset="-120"/>
              </a:rPr>
              <a:t>Scoring Factors</a:t>
            </a:r>
            <a:endParaRPr lang="en-US" sz="1300" dirty="0"/>
          </a:p>
        </p:txBody>
      </p:sp>
      <p:sp>
        <p:nvSpPr>
          <p:cNvPr id="10" name="Shape 8"/>
          <p:cNvSpPr/>
          <p:nvPr/>
        </p:nvSpPr>
        <p:spPr>
          <a:xfrm>
            <a:off x="365760" y="2011680"/>
            <a:ext cx="4251960" cy="493776"/>
          </a:xfrm>
          <a:prstGeom prst="rect">
            <a:avLst/>
          </a:prstGeom>
          <a:solidFill>
            <a:srgbClr val="1E1E1E"/>
          </a:solidFill>
          <a:ln w="10160">
            <a:solidFill>
              <a:srgbClr val="C41010"/>
            </a:solidFill>
            <a:prstDash val="solid"/>
          </a:ln>
          <a:effectLst>
            <a:outerShdw blurRad="127000" dist="38100" dir="8100000" algn="bl" rotWithShape="0">
              <a:srgbClr val="000000">
                <a:alpha val="45000"/>
              </a:srgbClr>
            </a:outerShdw>
          </a:effectLst>
        </p:spPr>
      </p:sp>
      <p:sp>
        <p:nvSpPr>
          <p:cNvPr id="11" name="Text 9"/>
          <p:cNvSpPr/>
          <p:nvPr/>
        </p:nvSpPr>
        <p:spPr>
          <a:xfrm>
            <a:off x="457200" y="2057400"/>
            <a:ext cx="1737360" cy="402336"/>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Exception Type</a:t>
            </a:r>
            <a:endParaRPr lang="en-US" sz="1100" dirty="0"/>
          </a:p>
        </p:txBody>
      </p:sp>
      <p:sp>
        <p:nvSpPr>
          <p:cNvPr id="12" name="Text 10"/>
          <p:cNvSpPr/>
          <p:nvPr/>
        </p:nvSpPr>
        <p:spPr>
          <a:xfrm>
            <a:off x="2240280" y="2057400"/>
            <a:ext cx="914400" cy="402336"/>
          </a:xfrm>
          <a:prstGeom prst="rect">
            <a:avLst/>
          </a:prstGeom>
          <a:noFill/>
          <a:ln/>
        </p:spPr>
        <p:txBody>
          <a:bodyPr wrap="square" lIns="0" tIns="0" rIns="0" bIns="0" rtlCol="0" anchor="ctr"/>
          <a:lstStyle/>
          <a:p>
            <a:pPr marL="0" indent="0">
              <a:buNone/>
            </a:pPr>
            <a:r>
              <a:rPr lang="en-US" sz="1150" b="1" dirty="0">
                <a:solidFill>
                  <a:srgbClr val="E84040"/>
                </a:solidFill>
                <a:latin typeface="Times New Roman" pitchFamily="34" charset="0"/>
                <a:ea typeface="Times New Roman" pitchFamily="34" charset="-122"/>
                <a:cs typeface="Times New Roman" pitchFamily="34" charset="-120"/>
              </a:rPr>
              <a:t>20 – 35 pts</a:t>
            </a:r>
            <a:endParaRPr lang="en-US" sz="1150" dirty="0"/>
          </a:p>
        </p:txBody>
      </p:sp>
      <p:sp>
        <p:nvSpPr>
          <p:cNvPr id="13" name="Text 11"/>
          <p:cNvSpPr/>
          <p:nvPr/>
        </p:nvSpPr>
        <p:spPr>
          <a:xfrm>
            <a:off x="3200400" y="2057400"/>
            <a:ext cx="1325880" cy="402336"/>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Admin Access 30, Firewall 25, Encryption 35...</a:t>
            </a:r>
            <a:endParaRPr lang="en-US" sz="900" dirty="0"/>
          </a:p>
        </p:txBody>
      </p:sp>
      <p:sp>
        <p:nvSpPr>
          <p:cNvPr id="14" name="Shape 12"/>
          <p:cNvSpPr/>
          <p:nvPr/>
        </p:nvSpPr>
        <p:spPr>
          <a:xfrm>
            <a:off x="365760" y="2560320"/>
            <a:ext cx="4251960" cy="493776"/>
          </a:xfrm>
          <a:prstGeom prst="rect">
            <a:avLst/>
          </a:prstGeom>
          <a:solidFill>
            <a:srgbClr val="1E1E1E"/>
          </a:solidFill>
          <a:ln w="10160">
            <a:solidFill>
              <a:srgbClr val="C41010"/>
            </a:solidFill>
            <a:prstDash val="solid"/>
          </a:ln>
          <a:effectLst>
            <a:outerShdw blurRad="127000" dist="38100" dir="8100000" algn="bl" rotWithShape="0">
              <a:srgbClr val="000000">
                <a:alpha val="45000"/>
              </a:srgbClr>
            </a:outerShdw>
          </a:effectLst>
        </p:spPr>
      </p:sp>
      <p:sp>
        <p:nvSpPr>
          <p:cNvPr id="15" name="Text 13"/>
          <p:cNvSpPr/>
          <p:nvPr/>
        </p:nvSpPr>
        <p:spPr>
          <a:xfrm>
            <a:off x="457200" y="2606040"/>
            <a:ext cx="1737360" cy="402336"/>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Asset Criticality</a:t>
            </a:r>
            <a:endParaRPr lang="en-US" sz="1100" dirty="0"/>
          </a:p>
        </p:txBody>
      </p:sp>
      <p:sp>
        <p:nvSpPr>
          <p:cNvPr id="16" name="Text 14"/>
          <p:cNvSpPr/>
          <p:nvPr/>
        </p:nvSpPr>
        <p:spPr>
          <a:xfrm>
            <a:off x="2240280" y="2606040"/>
            <a:ext cx="914400" cy="402336"/>
          </a:xfrm>
          <a:prstGeom prst="rect">
            <a:avLst/>
          </a:prstGeom>
          <a:noFill/>
          <a:ln/>
        </p:spPr>
        <p:txBody>
          <a:bodyPr wrap="square" lIns="0" tIns="0" rIns="0" bIns="0" rtlCol="0" anchor="ctr"/>
          <a:lstStyle/>
          <a:p>
            <a:pPr marL="0" indent="0">
              <a:buNone/>
            </a:pPr>
            <a:r>
              <a:rPr lang="en-US" sz="1150" b="1" dirty="0">
                <a:solidFill>
                  <a:srgbClr val="E84040"/>
                </a:solidFill>
                <a:latin typeface="Times New Roman" pitchFamily="34" charset="0"/>
                <a:ea typeface="Times New Roman" pitchFamily="34" charset="-122"/>
                <a:cs typeface="Times New Roman" pitchFamily="34" charset="-120"/>
              </a:rPr>
              <a:t>10 – 30 pts</a:t>
            </a:r>
            <a:endParaRPr lang="en-US" sz="1150" dirty="0"/>
          </a:p>
        </p:txBody>
      </p:sp>
      <p:sp>
        <p:nvSpPr>
          <p:cNvPr id="17" name="Text 15"/>
          <p:cNvSpPr/>
          <p:nvPr/>
        </p:nvSpPr>
        <p:spPr>
          <a:xfrm>
            <a:off x="3200400" y="2606040"/>
            <a:ext cx="1325880" cy="402336"/>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Critical asset adds 30 pts</a:t>
            </a:r>
            <a:endParaRPr lang="en-US" sz="900" dirty="0"/>
          </a:p>
        </p:txBody>
      </p:sp>
      <p:sp>
        <p:nvSpPr>
          <p:cNvPr id="18" name="Shape 16"/>
          <p:cNvSpPr/>
          <p:nvPr/>
        </p:nvSpPr>
        <p:spPr>
          <a:xfrm>
            <a:off x="365760" y="3108960"/>
            <a:ext cx="4251960" cy="493776"/>
          </a:xfrm>
          <a:prstGeom prst="rect">
            <a:avLst/>
          </a:prstGeom>
          <a:solidFill>
            <a:srgbClr val="1E1E1E"/>
          </a:solidFill>
          <a:ln w="10160">
            <a:solidFill>
              <a:srgbClr val="C41010"/>
            </a:solidFill>
            <a:prstDash val="solid"/>
          </a:ln>
          <a:effectLst>
            <a:outerShdw blurRad="127000" dist="38100" dir="8100000" algn="bl" rotWithShape="0">
              <a:srgbClr val="000000">
                <a:alpha val="45000"/>
              </a:srgbClr>
            </a:outerShdw>
          </a:effectLst>
        </p:spPr>
      </p:sp>
      <p:sp>
        <p:nvSpPr>
          <p:cNvPr id="19" name="Text 17"/>
          <p:cNvSpPr/>
          <p:nvPr/>
        </p:nvSpPr>
        <p:spPr>
          <a:xfrm>
            <a:off x="457200" y="3154680"/>
            <a:ext cx="1737360" cy="402336"/>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Duration Penalty</a:t>
            </a:r>
            <a:endParaRPr lang="en-US" sz="1100" dirty="0"/>
          </a:p>
        </p:txBody>
      </p:sp>
      <p:sp>
        <p:nvSpPr>
          <p:cNvPr id="20" name="Text 18"/>
          <p:cNvSpPr/>
          <p:nvPr/>
        </p:nvSpPr>
        <p:spPr>
          <a:xfrm>
            <a:off x="2240280" y="3154680"/>
            <a:ext cx="914400" cy="402336"/>
          </a:xfrm>
          <a:prstGeom prst="rect">
            <a:avLst/>
          </a:prstGeom>
          <a:noFill/>
          <a:ln/>
        </p:spPr>
        <p:txBody>
          <a:bodyPr wrap="square" lIns="0" tIns="0" rIns="0" bIns="0" rtlCol="0" anchor="ctr"/>
          <a:lstStyle/>
          <a:p>
            <a:pPr marL="0" indent="0">
              <a:buNone/>
            </a:pPr>
            <a:r>
              <a:rPr lang="en-US" sz="1150" b="1" dirty="0">
                <a:solidFill>
                  <a:srgbClr val="E84040"/>
                </a:solidFill>
                <a:latin typeface="Times New Roman" pitchFamily="34" charset="0"/>
                <a:ea typeface="Times New Roman" pitchFamily="34" charset="-122"/>
                <a:cs typeface="Times New Roman" pitchFamily="34" charset="-120"/>
              </a:rPr>
              <a:t>0 – 15 pts</a:t>
            </a:r>
            <a:endParaRPr lang="en-US" sz="1150" dirty="0"/>
          </a:p>
        </p:txBody>
      </p:sp>
      <p:sp>
        <p:nvSpPr>
          <p:cNvPr id="21" name="Text 19"/>
          <p:cNvSpPr/>
          <p:nvPr/>
        </p:nvSpPr>
        <p:spPr>
          <a:xfrm>
            <a:off x="3200400" y="3154680"/>
            <a:ext cx="1325880" cy="402336"/>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&gt;90 days: +10, &gt;180 days: +15</a:t>
            </a:r>
            <a:endParaRPr lang="en-US" sz="900" dirty="0"/>
          </a:p>
        </p:txBody>
      </p:sp>
      <p:sp>
        <p:nvSpPr>
          <p:cNvPr id="22" name="Shape 20"/>
          <p:cNvSpPr/>
          <p:nvPr/>
        </p:nvSpPr>
        <p:spPr>
          <a:xfrm>
            <a:off x="365760" y="3657600"/>
            <a:ext cx="4251960" cy="493776"/>
          </a:xfrm>
          <a:prstGeom prst="rect">
            <a:avLst/>
          </a:prstGeom>
          <a:solidFill>
            <a:srgbClr val="1E1E1E"/>
          </a:solidFill>
          <a:ln w="10160">
            <a:solidFill>
              <a:srgbClr val="C41010"/>
            </a:solidFill>
            <a:prstDash val="solid"/>
          </a:ln>
          <a:effectLst>
            <a:outerShdw blurRad="127000" dist="38100" dir="8100000" algn="bl" rotWithShape="0">
              <a:srgbClr val="000000">
                <a:alpha val="45000"/>
              </a:srgbClr>
            </a:outerShdw>
          </a:effectLst>
        </p:spPr>
      </p:sp>
      <p:sp>
        <p:nvSpPr>
          <p:cNvPr id="23" name="Text 21"/>
          <p:cNvSpPr/>
          <p:nvPr/>
        </p:nvSpPr>
        <p:spPr>
          <a:xfrm>
            <a:off x="457200" y="3703320"/>
            <a:ext cx="1737360" cy="402336"/>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Expiry Status</a:t>
            </a:r>
            <a:endParaRPr lang="en-US" sz="1100" dirty="0"/>
          </a:p>
        </p:txBody>
      </p:sp>
      <p:sp>
        <p:nvSpPr>
          <p:cNvPr id="24" name="Text 22"/>
          <p:cNvSpPr/>
          <p:nvPr/>
        </p:nvSpPr>
        <p:spPr>
          <a:xfrm>
            <a:off x="2240280" y="3703320"/>
            <a:ext cx="914400" cy="402336"/>
          </a:xfrm>
          <a:prstGeom prst="rect">
            <a:avLst/>
          </a:prstGeom>
          <a:noFill/>
          <a:ln/>
        </p:spPr>
        <p:txBody>
          <a:bodyPr wrap="square" lIns="0" tIns="0" rIns="0" bIns="0" rtlCol="0" anchor="ctr"/>
          <a:lstStyle/>
          <a:p>
            <a:pPr marL="0" indent="0">
              <a:buNone/>
            </a:pPr>
            <a:r>
              <a:rPr lang="en-US" sz="1150" b="1" dirty="0">
                <a:solidFill>
                  <a:srgbClr val="E84040"/>
                </a:solidFill>
                <a:latin typeface="Times New Roman" pitchFamily="34" charset="0"/>
                <a:ea typeface="Times New Roman" pitchFamily="34" charset="-122"/>
                <a:cs typeface="Times New Roman" pitchFamily="34" charset="-120"/>
              </a:rPr>
              <a:t>0 – 20 pts</a:t>
            </a:r>
            <a:endParaRPr lang="en-US" sz="1150" dirty="0"/>
          </a:p>
        </p:txBody>
      </p:sp>
      <p:sp>
        <p:nvSpPr>
          <p:cNvPr id="25" name="Text 23"/>
          <p:cNvSpPr/>
          <p:nvPr/>
        </p:nvSpPr>
        <p:spPr>
          <a:xfrm>
            <a:off x="3200400" y="3703320"/>
            <a:ext cx="1325880" cy="402336"/>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Overdue: +20, Expiring soon: +10</a:t>
            </a:r>
            <a:endParaRPr lang="en-US" sz="900" dirty="0"/>
          </a:p>
        </p:txBody>
      </p:sp>
      <p:sp>
        <p:nvSpPr>
          <p:cNvPr id="26" name="Shape 24"/>
          <p:cNvSpPr/>
          <p:nvPr/>
        </p:nvSpPr>
        <p:spPr>
          <a:xfrm>
            <a:off x="4800600" y="2011680"/>
            <a:ext cx="4251960" cy="493776"/>
          </a:xfrm>
          <a:prstGeom prst="rect">
            <a:avLst/>
          </a:prstGeom>
          <a:solidFill>
            <a:srgbClr val="1E1E1E"/>
          </a:solidFill>
          <a:ln w="10160">
            <a:solidFill>
              <a:srgbClr val="C41010"/>
            </a:solidFill>
            <a:prstDash val="solid"/>
          </a:ln>
          <a:effectLst>
            <a:outerShdw blurRad="127000" dist="38100" dir="8100000" algn="bl" rotWithShape="0">
              <a:srgbClr val="000000">
                <a:alpha val="45000"/>
              </a:srgbClr>
            </a:outerShdw>
          </a:effectLst>
        </p:spPr>
      </p:sp>
      <p:sp>
        <p:nvSpPr>
          <p:cNvPr id="27" name="Text 25"/>
          <p:cNvSpPr/>
          <p:nvPr/>
        </p:nvSpPr>
        <p:spPr>
          <a:xfrm>
            <a:off x="4892040" y="2057400"/>
            <a:ext cx="1737360" cy="402336"/>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Review State</a:t>
            </a:r>
            <a:endParaRPr lang="en-US" sz="1100" dirty="0"/>
          </a:p>
        </p:txBody>
      </p:sp>
      <p:sp>
        <p:nvSpPr>
          <p:cNvPr id="28" name="Text 26"/>
          <p:cNvSpPr/>
          <p:nvPr/>
        </p:nvSpPr>
        <p:spPr>
          <a:xfrm>
            <a:off x="6675120" y="2057400"/>
            <a:ext cx="914400" cy="402336"/>
          </a:xfrm>
          <a:prstGeom prst="rect">
            <a:avLst/>
          </a:prstGeom>
          <a:noFill/>
          <a:ln/>
        </p:spPr>
        <p:txBody>
          <a:bodyPr wrap="square" lIns="0" tIns="0" rIns="0" bIns="0" rtlCol="0" anchor="ctr"/>
          <a:lstStyle/>
          <a:p>
            <a:pPr marL="0" indent="0">
              <a:buNone/>
            </a:pPr>
            <a:r>
              <a:rPr lang="en-US" sz="1150" b="1" dirty="0">
                <a:solidFill>
                  <a:srgbClr val="E84040"/>
                </a:solidFill>
                <a:latin typeface="Times New Roman" pitchFamily="34" charset="0"/>
                <a:ea typeface="Times New Roman" pitchFamily="34" charset="-122"/>
                <a:cs typeface="Times New Roman" pitchFamily="34" charset="-120"/>
              </a:rPr>
              <a:t>0 – 10 pts</a:t>
            </a:r>
            <a:endParaRPr lang="en-US" sz="1150" dirty="0"/>
          </a:p>
        </p:txBody>
      </p:sp>
      <p:sp>
        <p:nvSpPr>
          <p:cNvPr id="29" name="Text 27"/>
          <p:cNvSpPr/>
          <p:nvPr/>
        </p:nvSpPr>
        <p:spPr>
          <a:xfrm>
            <a:off x="7635240" y="2057400"/>
            <a:ext cx="1325880" cy="402336"/>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Never reviewed: +10, Overdue: +5</a:t>
            </a:r>
            <a:endParaRPr lang="en-US" sz="900" dirty="0"/>
          </a:p>
        </p:txBody>
      </p:sp>
      <p:sp>
        <p:nvSpPr>
          <p:cNvPr id="30" name="Shape 28"/>
          <p:cNvSpPr/>
          <p:nvPr/>
        </p:nvSpPr>
        <p:spPr>
          <a:xfrm>
            <a:off x="4800600" y="2560320"/>
            <a:ext cx="4251960" cy="493776"/>
          </a:xfrm>
          <a:prstGeom prst="rect">
            <a:avLst/>
          </a:prstGeom>
          <a:solidFill>
            <a:srgbClr val="1E1E1E"/>
          </a:solidFill>
          <a:ln w="10160">
            <a:solidFill>
              <a:srgbClr val="C41010"/>
            </a:solidFill>
            <a:prstDash val="solid"/>
          </a:ln>
          <a:effectLst>
            <a:outerShdw blurRad="127000" dist="38100" dir="8100000" algn="bl" rotWithShape="0">
              <a:srgbClr val="000000">
                <a:alpha val="45000"/>
              </a:srgbClr>
            </a:outerShdw>
          </a:effectLst>
        </p:spPr>
      </p:sp>
      <p:sp>
        <p:nvSpPr>
          <p:cNvPr id="31" name="Text 29"/>
          <p:cNvSpPr/>
          <p:nvPr/>
        </p:nvSpPr>
        <p:spPr>
          <a:xfrm>
            <a:off x="4892040" y="2606040"/>
            <a:ext cx="1737360" cy="402336"/>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Owner Status</a:t>
            </a:r>
            <a:endParaRPr lang="en-US" sz="1100" dirty="0"/>
          </a:p>
        </p:txBody>
      </p:sp>
      <p:sp>
        <p:nvSpPr>
          <p:cNvPr id="32" name="Text 30"/>
          <p:cNvSpPr/>
          <p:nvPr/>
        </p:nvSpPr>
        <p:spPr>
          <a:xfrm>
            <a:off x="6675120" y="2606040"/>
            <a:ext cx="914400" cy="402336"/>
          </a:xfrm>
          <a:prstGeom prst="rect">
            <a:avLst/>
          </a:prstGeom>
          <a:noFill/>
          <a:ln/>
        </p:spPr>
        <p:txBody>
          <a:bodyPr wrap="square" lIns="0" tIns="0" rIns="0" bIns="0" rtlCol="0" anchor="ctr"/>
          <a:lstStyle/>
          <a:p>
            <a:pPr marL="0" indent="0">
              <a:buNone/>
            </a:pPr>
            <a:r>
              <a:rPr lang="en-US" sz="1150" b="1" dirty="0">
                <a:solidFill>
                  <a:srgbClr val="E84040"/>
                </a:solidFill>
                <a:latin typeface="Times New Roman" pitchFamily="34" charset="0"/>
                <a:ea typeface="Times New Roman" pitchFamily="34" charset="-122"/>
                <a:cs typeface="Times New Roman" pitchFamily="34" charset="-120"/>
              </a:rPr>
              <a:t>0 – 10 pts</a:t>
            </a:r>
            <a:endParaRPr lang="en-US" sz="1150" dirty="0"/>
          </a:p>
        </p:txBody>
      </p:sp>
      <p:sp>
        <p:nvSpPr>
          <p:cNvPr id="33" name="Text 31"/>
          <p:cNvSpPr/>
          <p:nvPr/>
        </p:nvSpPr>
        <p:spPr>
          <a:xfrm>
            <a:off x="7635240" y="2606040"/>
            <a:ext cx="1325880" cy="402336"/>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Inactive / unassigned owner: +10</a:t>
            </a:r>
            <a:endParaRPr lang="en-US" sz="900" dirty="0"/>
          </a:p>
        </p:txBody>
      </p:sp>
      <p:sp>
        <p:nvSpPr>
          <p:cNvPr id="34" name="Shape 32"/>
          <p:cNvSpPr/>
          <p:nvPr/>
        </p:nvSpPr>
        <p:spPr>
          <a:xfrm>
            <a:off x="4800600" y="3108960"/>
            <a:ext cx="4251960" cy="493776"/>
          </a:xfrm>
          <a:prstGeom prst="rect">
            <a:avLst/>
          </a:prstGeom>
          <a:solidFill>
            <a:srgbClr val="1E1E1E"/>
          </a:solidFill>
          <a:ln w="10160">
            <a:solidFill>
              <a:srgbClr val="1E6B1E"/>
            </a:solidFill>
            <a:prstDash val="solid"/>
          </a:ln>
          <a:effectLst>
            <a:outerShdw blurRad="127000" dist="38100" dir="8100000" algn="bl" rotWithShape="0">
              <a:srgbClr val="000000">
                <a:alpha val="45000"/>
              </a:srgbClr>
            </a:outerShdw>
          </a:effectLst>
        </p:spPr>
      </p:sp>
      <p:sp>
        <p:nvSpPr>
          <p:cNvPr id="35" name="Text 33"/>
          <p:cNvSpPr/>
          <p:nvPr/>
        </p:nvSpPr>
        <p:spPr>
          <a:xfrm>
            <a:off x="4892040" y="3154680"/>
            <a:ext cx="1737360" cy="402336"/>
          </a:xfrm>
          <a:prstGeom prst="rect">
            <a:avLst/>
          </a:prstGeom>
          <a:noFill/>
          <a:ln/>
        </p:spPr>
        <p:txBody>
          <a:bodyPr wrap="square" lIns="0" tIns="0" rIns="0" bIns="0" rtlCol="0" anchor="ctr"/>
          <a:lstStyle/>
          <a:p>
            <a:pPr marL="0" indent="0">
              <a:buNone/>
            </a:pPr>
            <a:r>
              <a:rPr lang="en-US" sz="1100" b="1" dirty="0">
                <a:solidFill>
                  <a:srgbClr val="4EC94E"/>
                </a:solidFill>
                <a:latin typeface="Times New Roman" pitchFamily="34" charset="0"/>
                <a:ea typeface="Times New Roman" pitchFamily="34" charset="-122"/>
                <a:cs typeface="Times New Roman" pitchFamily="34" charset="-120"/>
              </a:rPr>
              <a:t>Control Bonus</a:t>
            </a:r>
            <a:endParaRPr lang="en-US" sz="1100" dirty="0"/>
          </a:p>
        </p:txBody>
      </p:sp>
      <p:sp>
        <p:nvSpPr>
          <p:cNvPr id="36" name="Text 34"/>
          <p:cNvSpPr/>
          <p:nvPr/>
        </p:nvSpPr>
        <p:spPr>
          <a:xfrm>
            <a:off x="6675120" y="3154680"/>
            <a:ext cx="914400" cy="402336"/>
          </a:xfrm>
          <a:prstGeom prst="rect">
            <a:avLst/>
          </a:prstGeom>
          <a:noFill/>
          <a:ln/>
        </p:spPr>
        <p:txBody>
          <a:bodyPr wrap="square" lIns="0" tIns="0" rIns="0" bIns="0" rtlCol="0" anchor="ctr"/>
          <a:lstStyle/>
          <a:p>
            <a:pPr marL="0" indent="0">
              <a:buNone/>
            </a:pPr>
            <a:r>
              <a:rPr lang="en-US" sz="1150" b="1" dirty="0">
                <a:solidFill>
                  <a:srgbClr val="E84040"/>
                </a:solidFill>
                <a:latin typeface="Times New Roman" pitchFamily="34" charset="0"/>
                <a:ea typeface="Times New Roman" pitchFamily="34" charset="-122"/>
                <a:cs typeface="Times New Roman" pitchFamily="34" charset="-120"/>
              </a:rPr>
              <a:t>0 – 15 pts</a:t>
            </a:r>
            <a:endParaRPr lang="en-US" sz="1150" dirty="0"/>
          </a:p>
        </p:txBody>
      </p:sp>
      <p:sp>
        <p:nvSpPr>
          <p:cNvPr id="37" name="Text 35"/>
          <p:cNvSpPr/>
          <p:nvPr/>
        </p:nvSpPr>
        <p:spPr>
          <a:xfrm>
            <a:off x="7635240" y="3154680"/>
            <a:ext cx="1325880" cy="402336"/>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Strong compensating control: −15</a:t>
            </a:r>
            <a:endParaRPr lang="en-US" sz="900" dirty="0"/>
          </a:p>
        </p:txBody>
      </p:sp>
      <p:sp>
        <p:nvSpPr>
          <p:cNvPr id="38" name="Shape 36"/>
          <p:cNvSpPr/>
          <p:nvPr/>
        </p:nvSpPr>
        <p:spPr>
          <a:xfrm>
            <a:off x="365760" y="4224528"/>
            <a:ext cx="1920240" cy="292608"/>
          </a:xfrm>
          <a:prstGeom prst="rect">
            <a:avLst/>
          </a:prstGeom>
          <a:solidFill>
            <a:srgbClr val="2E7D32"/>
          </a:solidFill>
          <a:ln w="12700">
            <a:solidFill>
              <a:srgbClr val="2E7D32"/>
            </a:solidFill>
            <a:prstDash val="solid"/>
          </a:ln>
          <a:effectLst>
            <a:outerShdw blurRad="127000" dist="38100" dir="8100000" algn="bl" rotWithShape="0">
              <a:srgbClr val="000000">
                <a:alpha val="45000"/>
              </a:srgbClr>
            </a:outerShdw>
          </a:effectLst>
        </p:spPr>
      </p:sp>
      <p:sp>
        <p:nvSpPr>
          <p:cNvPr id="39" name="Text 37"/>
          <p:cNvSpPr/>
          <p:nvPr/>
        </p:nvSpPr>
        <p:spPr>
          <a:xfrm>
            <a:off x="411480" y="4224528"/>
            <a:ext cx="1828800"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Times New Roman" pitchFamily="34" charset="0"/>
                <a:ea typeface="Times New Roman" pitchFamily="34" charset="-122"/>
                <a:cs typeface="Times New Roman" pitchFamily="34" charset="-120"/>
              </a:rPr>
              <a:t>Low  0–30</a:t>
            </a:r>
            <a:endParaRPr lang="en-US" sz="1150" dirty="0"/>
          </a:p>
        </p:txBody>
      </p:sp>
      <p:sp>
        <p:nvSpPr>
          <p:cNvPr id="40" name="Shape 38"/>
          <p:cNvSpPr/>
          <p:nvPr/>
        </p:nvSpPr>
        <p:spPr>
          <a:xfrm>
            <a:off x="2468880" y="4224528"/>
            <a:ext cx="1920240" cy="292608"/>
          </a:xfrm>
          <a:prstGeom prst="rect">
            <a:avLst/>
          </a:prstGeom>
          <a:solidFill>
            <a:srgbClr val="F9A825"/>
          </a:solidFill>
          <a:ln w="12700">
            <a:solidFill>
              <a:srgbClr val="F9A825"/>
            </a:solidFill>
            <a:prstDash val="solid"/>
          </a:ln>
          <a:effectLst>
            <a:outerShdw blurRad="127000" dist="38100" dir="8100000" algn="bl" rotWithShape="0">
              <a:srgbClr val="000000">
                <a:alpha val="45000"/>
              </a:srgbClr>
            </a:outerShdw>
          </a:effectLst>
        </p:spPr>
      </p:sp>
      <p:sp>
        <p:nvSpPr>
          <p:cNvPr id="41" name="Text 39"/>
          <p:cNvSpPr/>
          <p:nvPr/>
        </p:nvSpPr>
        <p:spPr>
          <a:xfrm>
            <a:off x="2514600" y="4224528"/>
            <a:ext cx="1828800"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Times New Roman" pitchFamily="34" charset="0"/>
                <a:ea typeface="Times New Roman" pitchFamily="34" charset="-122"/>
                <a:cs typeface="Times New Roman" pitchFamily="34" charset="-120"/>
              </a:rPr>
              <a:t>Medium  31–59</a:t>
            </a:r>
            <a:endParaRPr lang="en-US" sz="1150" dirty="0"/>
          </a:p>
        </p:txBody>
      </p:sp>
      <p:sp>
        <p:nvSpPr>
          <p:cNvPr id="42" name="Shape 40"/>
          <p:cNvSpPr/>
          <p:nvPr/>
        </p:nvSpPr>
        <p:spPr>
          <a:xfrm>
            <a:off x="4572000" y="4224528"/>
            <a:ext cx="1920240" cy="292608"/>
          </a:xfrm>
          <a:prstGeom prst="rect">
            <a:avLst/>
          </a:prstGeom>
          <a:solidFill>
            <a:srgbClr val="E65100"/>
          </a:solidFill>
          <a:ln w="12700">
            <a:solidFill>
              <a:srgbClr val="E65100"/>
            </a:solidFill>
            <a:prstDash val="solid"/>
          </a:ln>
          <a:effectLst>
            <a:outerShdw blurRad="127000" dist="38100" dir="8100000" algn="bl" rotWithShape="0">
              <a:srgbClr val="000000">
                <a:alpha val="45000"/>
              </a:srgbClr>
            </a:outerShdw>
          </a:effectLst>
        </p:spPr>
      </p:sp>
      <p:sp>
        <p:nvSpPr>
          <p:cNvPr id="43" name="Text 41"/>
          <p:cNvSpPr/>
          <p:nvPr/>
        </p:nvSpPr>
        <p:spPr>
          <a:xfrm>
            <a:off x="4617720" y="4224528"/>
            <a:ext cx="1828800"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Times New Roman" pitchFamily="34" charset="0"/>
                <a:ea typeface="Times New Roman" pitchFamily="34" charset="-122"/>
                <a:cs typeface="Times New Roman" pitchFamily="34" charset="-120"/>
              </a:rPr>
              <a:t>High  60–79</a:t>
            </a:r>
            <a:endParaRPr lang="en-US" sz="1150" dirty="0"/>
          </a:p>
        </p:txBody>
      </p:sp>
      <p:sp>
        <p:nvSpPr>
          <p:cNvPr id="44" name="Shape 42"/>
          <p:cNvSpPr/>
          <p:nvPr/>
        </p:nvSpPr>
        <p:spPr>
          <a:xfrm>
            <a:off x="6675120" y="4224528"/>
            <a:ext cx="1920240" cy="292608"/>
          </a:xfrm>
          <a:prstGeom prst="rect">
            <a:avLst/>
          </a:prstGeom>
          <a:solidFill>
            <a:srgbClr val="B71C1C"/>
          </a:solidFill>
          <a:ln w="12700">
            <a:solidFill>
              <a:srgbClr val="B71C1C"/>
            </a:solidFill>
            <a:prstDash val="solid"/>
          </a:ln>
          <a:effectLst>
            <a:outerShdw blurRad="127000" dist="38100" dir="8100000" algn="bl" rotWithShape="0">
              <a:srgbClr val="000000">
                <a:alpha val="45000"/>
              </a:srgbClr>
            </a:outerShdw>
          </a:effectLst>
        </p:spPr>
      </p:sp>
      <p:sp>
        <p:nvSpPr>
          <p:cNvPr id="45" name="Text 43"/>
          <p:cNvSpPr/>
          <p:nvPr/>
        </p:nvSpPr>
        <p:spPr>
          <a:xfrm>
            <a:off x="6720840" y="4224528"/>
            <a:ext cx="1828800"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Times New Roman" pitchFamily="34" charset="0"/>
                <a:ea typeface="Times New Roman" pitchFamily="34" charset="-122"/>
                <a:cs typeface="Times New Roman" pitchFamily="34" charset="-120"/>
              </a:rPr>
              <a:t>Critical  80–100</a:t>
            </a:r>
            <a:endParaRPr lang="en-US" sz="1150" dirty="0"/>
          </a:p>
        </p:txBody>
      </p:sp>
      <p:sp>
        <p:nvSpPr>
          <p:cNvPr id="46" name="Text 44"/>
          <p:cNvSpPr/>
          <p:nvPr/>
        </p:nvSpPr>
        <p:spPr>
          <a:xfrm>
            <a:off x="365760" y="4572000"/>
            <a:ext cx="8412480" cy="274320"/>
          </a:xfrm>
          <a:prstGeom prst="rect">
            <a:avLst/>
          </a:prstGeom>
          <a:noFill/>
          <a:ln/>
        </p:spPr>
        <p:txBody>
          <a:bodyPr wrap="square" lIns="0" tIns="0" rIns="0" bIns="0" rtlCol="0" anchor="ctr"/>
          <a:lstStyle/>
          <a:p>
            <a:pPr marL="0" indent="0">
              <a:buNone/>
            </a:pPr>
            <a:r>
              <a:rPr lang="en-US" sz="1100" i="1" dirty="0">
                <a:solidFill>
                  <a:srgbClr val="888888"/>
                </a:solidFill>
                <a:latin typeface="Times New Roman" pitchFamily="34" charset="0"/>
                <a:ea typeface="Times New Roman" pitchFamily="34" charset="-122"/>
                <a:cs typeface="Times New Roman" pitchFamily="34" charset="-120"/>
              </a:rPr>
              <a:t>Score Range 0–100  ·  Rule-based  ·  Explainable  ·  Audit-friendly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6E0000"/>
          </a:solidFill>
          <a:ln w="12700">
            <a:solidFill>
              <a:srgbClr val="6E0000"/>
            </a:solidFill>
            <a:prstDash val="solid"/>
          </a:ln>
        </p:spPr>
      </p:sp>
      <p:sp>
        <p:nvSpPr>
          <p:cNvPr id="3" name="Shape 1"/>
          <p:cNvSpPr/>
          <p:nvPr/>
        </p:nvSpPr>
        <p:spPr>
          <a:xfrm>
            <a:off x="0" y="4983480"/>
            <a:ext cx="9144000" cy="160020"/>
          </a:xfrm>
          <a:prstGeom prst="rect">
            <a:avLst/>
          </a:prstGeom>
          <a:solidFill>
            <a:srgbClr val="6E0000"/>
          </a:solidFill>
          <a:ln w="12700">
            <a:solidFill>
              <a:srgbClr val="6E0000"/>
            </a:solidFill>
            <a:prstDash val="solid"/>
          </a:ln>
        </p:spPr>
      </p:sp>
      <p:sp>
        <p:nvSpPr>
          <p:cNvPr id="4" name="Text 2"/>
          <p:cNvSpPr/>
          <p:nvPr/>
        </p:nvSpPr>
        <p:spPr>
          <a:xfrm>
            <a:off x="365760" y="64008"/>
            <a:ext cx="7863840" cy="438912"/>
          </a:xfrm>
          <a:prstGeom prst="rect">
            <a:avLst/>
          </a:prstGeom>
          <a:noFill/>
          <a:ln/>
        </p:spPr>
        <p:txBody>
          <a:bodyPr wrap="square" lIns="0" tIns="0" rIns="0" bIns="0" rtlCol="0" anchor="ctr"/>
          <a:lstStyle/>
          <a:p>
            <a:pPr marL="0" indent="0">
              <a:buNone/>
            </a:pPr>
            <a:r>
              <a:rPr lang="en-US" sz="2100" b="1" dirty="0">
                <a:solidFill>
                  <a:srgbClr val="FFFFFF"/>
                </a:solidFill>
                <a:latin typeface="Times New Roman" pitchFamily="34" charset="0"/>
                <a:ea typeface="Times New Roman" pitchFamily="34" charset="-122"/>
                <a:cs typeface="Times New Roman" pitchFamily="34" charset="-120"/>
              </a:rPr>
              <a:t>Continuous Monitoring &amp; GRC Intelligence</a:t>
            </a:r>
            <a:endParaRPr lang="en-US" sz="2100" dirty="0"/>
          </a:p>
        </p:txBody>
      </p:sp>
      <p:sp>
        <p:nvSpPr>
          <p:cNvPr id="5" name="Text 3"/>
          <p:cNvSpPr/>
          <p:nvPr/>
        </p:nvSpPr>
        <p:spPr>
          <a:xfrm>
            <a:off x="7955280" y="64008"/>
            <a:ext cx="914400" cy="438912"/>
          </a:xfrm>
          <a:prstGeom prst="rect">
            <a:avLst/>
          </a:prstGeom>
          <a:noFill/>
          <a:ln/>
        </p:spPr>
        <p:txBody>
          <a:bodyPr wrap="square" lIns="0" tIns="0" rIns="0" bIns="0" rtlCol="0" anchor="ctr"/>
          <a:lstStyle/>
          <a:p>
            <a:pPr marL="0" indent="0" algn="r">
              <a:buNone/>
            </a:pPr>
            <a:r>
              <a:rPr lang="en-US" sz="1100" dirty="0">
                <a:solidFill>
                  <a:srgbClr val="C8C8C8"/>
                </a:solidFill>
                <a:latin typeface="Times New Roman" pitchFamily="34" charset="0"/>
                <a:ea typeface="Times New Roman" pitchFamily="34" charset="-122"/>
                <a:cs typeface="Times New Roman" pitchFamily="34" charset="-120"/>
              </a:rPr>
              <a:t>9/12</a:t>
            </a:r>
            <a:endParaRPr lang="en-US" sz="1100" dirty="0"/>
          </a:p>
        </p:txBody>
      </p:sp>
      <p:sp>
        <p:nvSpPr>
          <p:cNvPr id="6" name="Text 4"/>
          <p:cNvSpPr/>
          <p:nvPr/>
        </p:nvSpPr>
        <p:spPr>
          <a:xfrm>
            <a:off x="365760" y="4983480"/>
            <a:ext cx="8412480" cy="160020"/>
          </a:xfrm>
          <a:prstGeom prst="rect">
            <a:avLst/>
          </a:prstGeom>
          <a:noFill/>
          <a:ln/>
        </p:spPr>
        <p:txBody>
          <a:bodyPr wrap="square" lIns="0" tIns="0" rIns="0" bIns="0" rtlCol="0" anchor="ctr"/>
          <a:lstStyle/>
          <a:p>
            <a:pPr marL="0" indent="0">
              <a:buNone/>
            </a:pPr>
            <a:r>
              <a:rPr lang="en-US" sz="800" dirty="0">
                <a:solidFill>
                  <a:srgbClr val="C8C8C8"/>
                </a:solidFill>
                <a:latin typeface="Times New Roman" pitchFamily="34" charset="0"/>
                <a:ea typeface="Times New Roman" pitchFamily="34" charset="-122"/>
                <a:cs typeface="Times New Roman" pitchFamily="34" charset="-120"/>
              </a:rPr>
              <a:t>RiskWaiver360  ·  GRC Exception &amp; Policy Waiver Management  ·  RVCE 2026</a:t>
            </a:r>
            <a:endParaRPr lang="en-US" sz="800" dirty="0"/>
          </a:p>
        </p:txBody>
      </p:sp>
      <p:sp>
        <p:nvSpPr>
          <p:cNvPr id="7" name="Shape 5"/>
          <p:cNvSpPr/>
          <p:nvPr/>
        </p:nvSpPr>
        <p:spPr>
          <a:xfrm>
            <a:off x="274320" y="658368"/>
            <a:ext cx="4206240" cy="4160520"/>
          </a:xfrm>
          <a:prstGeom prst="rect">
            <a:avLst/>
          </a:prstGeom>
          <a:solidFill>
            <a:srgbClr val="120808"/>
          </a:solidFill>
          <a:ln w="19050">
            <a:solidFill>
              <a:srgbClr val="C41010"/>
            </a:solidFill>
            <a:prstDash val="solid"/>
          </a:ln>
          <a:effectLst>
            <a:outerShdw blurRad="127000" dist="38100" dir="8100000" algn="bl" rotWithShape="0">
              <a:srgbClr val="000000">
                <a:alpha val="45000"/>
              </a:srgbClr>
            </a:outerShdw>
          </a:effectLst>
        </p:spPr>
      </p:sp>
      <p:sp>
        <p:nvSpPr>
          <p:cNvPr id="8" name="Text 6"/>
          <p:cNvSpPr/>
          <p:nvPr/>
        </p:nvSpPr>
        <p:spPr>
          <a:xfrm>
            <a:off x="411480" y="731520"/>
            <a:ext cx="3931920" cy="365760"/>
          </a:xfrm>
          <a:prstGeom prst="rect">
            <a:avLst/>
          </a:prstGeom>
          <a:noFill/>
          <a:ln/>
        </p:spPr>
        <p:txBody>
          <a:bodyPr wrap="square" lIns="0" tIns="0" rIns="0" bIns="0" rtlCol="0" anchor="ctr"/>
          <a:lstStyle/>
          <a:p>
            <a:pPr marL="0" indent="0">
              <a:buNone/>
            </a:pPr>
            <a:r>
              <a:rPr lang="en-US" sz="1400" b="1" dirty="0">
                <a:solidFill>
                  <a:srgbClr val="E84040"/>
                </a:solidFill>
                <a:latin typeface="Times New Roman" pitchFamily="34" charset="0"/>
                <a:ea typeface="Times New Roman" pitchFamily="34" charset="-122"/>
                <a:cs typeface="Times New Roman" pitchFamily="34" charset="-120"/>
              </a:rPr>
              <a:t>Continuous Monitoring Alerts</a:t>
            </a:r>
            <a:endParaRPr lang="en-US" sz="1400" dirty="0"/>
          </a:p>
        </p:txBody>
      </p:sp>
      <p:sp>
        <p:nvSpPr>
          <p:cNvPr id="9" name="Shape 7"/>
          <p:cNvSpPr/>
          <p:nvPr/>
        </p:nvSpPr>
        <p:spPr>
          <a:xfrm>
            <a:off x="411480" y="1133856"/>
            <a:ext cx="3840480" cy="27432"/>
          </a:xfrm>
          <a:prstGeom prst="rect">
            <a:avLst/>
          </a:prstGeom>
          <a:solidFill>
            <a:srgbClr val="6E0000"/>
          </a:solidFill>
          <a:ln w="12700">
            <a:solidFill>
              <a:srgbClr val="6E0000"/>
            </a:solidFill>
            <a:prstDash val="solid"/>
          </a:ln>
        </p:spPr>
      </p:sp>
      <p:sp>
        <p:nvSpPr>
          <p:cNvPr id="10" name="Text 8"/>
          <p:cNvSpPr/>
          <p:nvPr/>
        </p:nvSpPr>
        <p:spPr>
          <a:xfrm>
            <a:off x="411480" y="1234440"/>
            <a:ext cx="640080" cy="347472"/>
          </a:xfrm>
          <a:prstGeom prst="rect">
            <a:avLst/>
          </a:prstGeom>
          <a:noFill/>
          <a:ln/>
        </p:spPr>
        <p:txBody>
          <a:bodyPr wrap="square" lIns="0" tIns="0" rIns="0" bIns="0" rtlCol="0" anchor="ctr"/>
          <a:lstStyle/>
          <a:p>
            <a:pPr marL="0" indent="0" algn="r">
              <a:buNone/>
            </a:pPr>
            <a:r>
              <a:rPr lang="en-US" sz="1600" b="1" dirty="0">
                <a:solidFill>
                  <a:srgbClr val="E84040"/>
                </a:solidFill>
                <a:latin typeface="Times New Roman" pitchFamily="34" charset="0"/>
                <a:ea typeface="Times New Roman" pitchFamily="34" charset="-122"/>
                <a:cs typeface="Times New Roman" pitchFamily="34" charset="-120"/>
              </a:rPr>
              <a:t>682</a:t>
            </a:r>
            <a:endParaRPr lang="en-US" sz="1600" dirty="0"/>
          </a:p>
        </p:txBody>
      </p:sp>
      <p:sp>
        <p:nvSpPr>
          <p:cNvPr id="11" name="Text 9"/>
          <p:cNvSpPr/>
          <p:nvPr/>
        </p:nvSpPr>
        <p:spPr>
          <a:xfrm>
            <a:off x="1115568" y="1252728"/>
            <a:ext cx="1828800" cy="201168"/>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Total Active Alerts</a:t>
            </a:r>
            <a:endParaRPr lang="en-US" sz="1100" dirty="0"/>
          </a:p>
        </p:txBody>
      </p:sp>
      <p:sp>
        <p:nvSpPr>
          <p:cNvPr id="12" name="Text 10"/>
          <p:cNvSpPr/>
          <p:nvPr/>
        </p:nvSpPr>
        <p:spPr>
          <a:xfrm>
            <a:off x="1115568" y="1435608"/>
            <a:ext cx="2651760" cy="164592"/>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Across all monitored exceptions</a:t>
            </a:r>
            <a:endParaRPr lang="en-US" sz="900" dirty="0"/>
          </a:p>
        </p:txBody>
      </p:sp>
      <p:sp>
        <p:nvSpPr>
          <p:cNvPr id="13" name="Shape 11"/>
          <p:cNvSpPr/>
          <p:nvPr/>
        </p:nvSpPr>
        <p:spPr>
          <a:xfrm>
            <a:off x="411480" y="1600200"/>
            <a:ext cx="3840480" cy="9144"/>
          </a:xfrm>
          <a:prstGeom prst="rect">
            <a:avLst/>
          </a:prstGeom>
          <a:solidFill>
            <a:srgbClr val="222222"/>
          </a:solidFill>
          <a:ln w="12700">
            <a:solidFill>
              <a:srgbClr val="222222"/>
            </a:solidFill>
            <a:prstDash val="solid"/>
          </a:ln>
        </p:spPr>
      </p:sp>
      <p:sp>
        <p:nvSpPr>
          <p:cNvPr id="14" name="Text 12"/>
          <p:cNvSpPr/>
          <p:nvPr/>
        </p:nvSpPr>
        <p:spPr>
          <a:xfrm>
            <a:off x="411480" y="1636776"/>
            <a:ext cx="640080" cy="347472"/>
          </a:xfrm>
          <a:prstGeom prst="rect">
            <a:avLst/>
          </a:prstGeom>
          <a:noFill/>
          <a:ln/>
        </p:spPr>
        <p:txBody>
          <a:bodyPr wrap="square" lIns="0" tIns="0" rIns="0" bIns="0" rtlCol="0" anchor="ctr"/>
          <a:lstStyle/>
          <a:p>
            <a:pPr marL="0" indent="0" algn="r">
              <a:buNone/>
            </a:pPr>
            <a:r>
              <a:rPr lang="en-US" sz="1600" b="1" dirty="0">
                <a:solidFill>
                  <a:srgbClr val="E84040"/>
                </a:solidFill>
                <a:latin typeface="Times New Roman" pitchFamily="34" charset="0"/>
                <a:ea typeface="Times New Roman" pitchFamily="34" charset="-122"/>
                <a:cs typeface="Times New Roman" pitchFamily="34" charset="-120"/>
              </a:rPr>
              <a:t>333</a:t>
            </a:r>
            <a:endParaRPr lang="en-US" sz="1600" dirty="0"/>
          </a:p>
        </p:txBody>
      </p:sp>
      <p:sp>
        <p:nvSpPr>
          <p:cNvPr id="15" name="Text 13"/>
          <p:cNvSpPr/>
          <p:nvPr/>
        </p:nvSpPr>
        <p:spPr>
          <a:xfrm>
            <a:off x="1115568" y="1655064"/>
            <a:ext cx="1828800" cy="201168"/>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Critical Risk</a:t>
            </a:r>
            <a:endParaRPr lang="en-US" sz="1100" dirty="0"/>
          </a:p>
        </p:txBody>
      </p:sp>
      <p:sp>
        <p:nvSpPr>
          <p:cNvPr id="16" name="Text 14"/>
          <p:cNvSpPr/>
          <p:nvPr/>
        </p:nvSpPr>
        <p:spPr>
          <a:xfrm>
            <a:off x="1115568" y="1837944"/>
            <a:ext cx="2651760" cy="164592"/>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Risk score ≥ 80 — immediate attention</a:t>
            </a:r>
            <a:endParaRPr lang="en-US" sz="900" dirty="0"/>
          </a:p>
        </p:txBody>
      </p:sp>
      <p:sp>
        <p:nvSpPr>
          <p:cNvPr id="17" name="Shape 15"/>
          <p:cNvSpPr/>
          <p:nvPr/>
        </p:nvSpPr>
        <p:spPr>
          <a:xfrm>
            <a:off x="411480" y="2002536"/>
            <a:ext cx="3840480" cy="9144"/>
          </a:xfrm>
          <a:prstGeom prst="rect">
            <a:avLst/>
          </a:prstGeom>
          <a:solidFill>
            <a:srgbClr val="222222"/>
          </a:solidFill>
          <a:ln w="12700">
            <a:solidFill>
              <a:srgbClr val="222222"/>
            </a:solidFill>
            <a:prstDash val="solid"/>
          </a:ln>
        </p:spPr>
      </p:sp>
      <p:sp>
        <p:nvSpPr>
          <p:cNvPr id="18" name="Text 16"/>
          <p:cNvSpPr/>
          <p:nvPr/>
        </p:nvSpPr>
        <p:spPr>
          <a:xfrm>
            <a:off x="411480" y="2039112"/>
            <a:ext cx="640080" cy="347472"/>
          </a:xfrm>
          <a:prstGeom prst="rect">
            <a:avLst/>
          </a:prstGeom>
          <a:noFill/>
          <a:ln/>
        </p:spPr>
        <p:txBody>
          <a:bodyPr wrap="square" lIns="0" tIns="0" rIns="0" bIns="0" rtlCol="0" anchor="ctr"/>
          <a:lstStyle/>
          <a:p>
            <a:pPr marL="0" indent="0" algn="r">
              <a:buNone/>
            </a:pPr>
            <a:r>
              <a:rPr lang="en-US" sz="1600" b="1" dirty="0">
                <a:solidFill>
                  <a:srgbClr val="E84040"/>
                </a:solidFill>
                <a:latin typeface="Times New Roman" pitchFamily="34" charset="0"/>
                <a:ea typeface="Times New Roman" pitchFamily="34" charset="-122"/>
                <a:cs typeface="Times New Roman" pitchFamily="34" charset="-120"/>
              </a:rPr>
              <a:t>156</a:t>
            </a:r>
            <a:endParaRPr lang="en-US" sz="1600" dirty="0"/>
          </a:p>
        </p:txBody>
      </p:sp>
      <p:sp>
        <p:nvSpPr>
          <p:cNvPr id="19" name="Text 17"/>
          <p:cNvSpPr/>
          <p:nvPr/>
        </p:nvSpPr>
        <p:spPr>
          <a:xfrm>
            <a:off x="1115568" y="2057400"/>
            <a:ext cx="1828800" cy="201168"/>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Overdue Exceptions</a:t>
            </a:r>
            <a:endParaRPr lang="en-US" sz="1100" dirty="0"/>
          </a:p>
        </p:txBody>
      </p:sp>
      <p:sp>
        <p:nvSpPr>
          <p:cNvPr id="20" name="Text 18"/>
          <p:cNvSpPr/>
          <p:nvPr/>
        </p:nvSpPr>
        <p:spPr>
          <a:xfrm>
            <a:off x="1115568" y="2240280"/>
            <a:ext cx="2651760" cy="164592"/>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Past expiry date, still active</a:t>
            </a:r>
            <a:endParaRPr lang="en-US" sz="900" dirty="0"/>
          </a:p>
        </p:txBody>
      </p:sp>
      <p:sp>
        <p:nvSpPr>
          <p:cNvPr id="21" name="Shape 19"/>
          <p:cNvSpPr/>
          <p:nvPr/>
        </p:nvSpPr>
        <p:spPr>
          <a:xfrm>
            <a:off x="411480" y="2404872"/>
            <a:ext cx="3840480" cy="9144"/>
          </a:xfrm>
          <a:prstGeom prst="rect">
            <a:avLst/>
          </a:prstGeom>
          <a:solidFill>
            <a:srgbClr val="222222"/>
          </a:solidFill>
          <a:ln w="12700">
            <a:solidFill>
              <a:srgbClr val="222222"/>
            </a:solidFill>
            <a:prstDash val="solid"/>
          </a:ln>
        </p:spPr>
      </p:sp>
      <p:sp>
        <p:nvSpPr>
          <p:cNvPr id="22" name="Text 20"/>
          <p:cNvSpPr/>
          <p:nvPr/>
        </p:nvSpPr>
        <p:spPr>
          <a:xfrm>
            <a:off x="411480" y="2441448"/>
            <a:ext cx="640080" cy="347472"/>
          </a:xfrm>
          <a:prstGeom prst="rect">
            <a:avLst/>
          </a:prstGeom>
          <a:noFill/>
          <a:ln/>
        </p:spPr>
        <p:txBody>
          <a:bodyPr wrap="square" lIns="0" tIns="0" rIns="0" bIns="0" rtlCol="0" anchor="ctr"/>
          <a:lstStyle/>
          <a:p>
            <a:pPr marL="0" indent="0" algn="r">
              <a:buNone/>
            </a:pPr>
            <a:r>
              <a:rPr lang="en-US" sz="1600" b="1" dirty="0">
                <a:solidFill>
                  <a:srgbClr val="E84040"/>
                </a:solidFill>
                <a:latin typeface="Times New Roman" pitchFamily="34" charset="0"/>
                <a:ea typeface="Times New Roman" pitchFamily="34" charset="-122"/>
                <a:cs typeface="Times New Roman" pitchFamily="34" charset="-120"/>
              </a:rPr>
              <a:t>127</a:t>
            </a:r>
            <a:endParaRPr lang="en-US" sz="1600" dirty="0"/>
          </a:p>
        </p:txBody>
      </p:sp>
      <p:sp>
        <p:nvSpPr>
          <p:cNvPr id="23" name="Text 21"/>
          <p:cNvSpPr/>
          <p:nvPr/>
        </p:nvSpPr>
        <p:spPr>
          <a:xfrm>
            <a:off x="1115568" y="2459736"/>
            <a:ext cx="1828800" cy="201168"/>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Review Overdue</a:t>
            </a:r>
            <a:endParaRPr lang="en-US" sz="1100" dirty="0"/>
          </a:p>
        </p:txBody>
      </p:sp>
      <p:sp>
        <p:nvSpPr>
          <p:cNvPr id="24" name="Text 22"/>
          <p:cNvSpPr/>
          <p:nvPr/>
        </p:nvSpPr>
        <p:spPr>
          <a:xfrm>
            <a:off x="1115568" y="2642616"/>
            <a:ext cx="2651760" cy="164592"/>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Not reviewed in 90+ days</a:t>
            </a:r>
            <a:endParaRPr lang="en-US" sz="900" dirty="0"/>
          </a:p>
        </p:txBody>
      </p:sp>
      <p:sp>
        <p:nvSpPr>
          <p:cNvPr id="25" name="Shape 23"/>
          <p:cNvSpPr/>
          <p:nvPr/>
        </p:nvSpPr>
        <p:spPr>
          <a:xfrm>
            <a:off x="411480" y="2807208"/>
            <a:ext cx="3840480" cy="9144"/>
          </a:xfrm>
          <a:prstGeom prst="rect">
            <a:avLst/>
          </a:prstGeom>
          <a:solidFill>
            <a:srgbClr val="222222"/>
          </a:solidFill>
          <a:ln w="12700">
            <a:solidFill>
              <a:srgbClr val="222222"/>
            </a:solidFill>
            <a:prstDash val="solid"/>
          </a:ln>
        </p:spPr>
      </p:sp>
      <p:sp>
        <p:nvSpPr>
          <p:cNvPr id="26" name="Text 24"/>
          <p:cNvSpPr/>
          <p:nvPr/>
        </p:nvSpPr>
        <p:spPr>
          <a:xfrm>
            <a:off x="411480" y="2843784"/>
            <a:ext cx="640080" cy="347472"/>
          </a:xfrm>
          <a:prstGeom prst="rect">
            <a:avLst/>
          </a:prstGeom>
          <a:noFill/>
          <a:ln/>
        </p:spPr>
        <p:txBody>
          <a:bodyPr wrap="square" lIns="0" tIns="0" rIns="0" bIns="0" rtlCol="0" anchor="ctr"/>
          <a:lstStyle/>
          <a:p>
            <a:pPr marL="0" indent="0" algn="r">
              <a:buNone/>
            </a:pPr>
            <a:r>
              <a:rPr lang="en-US" sz="1600" b="1" dirty="0">
                <a:solidFill>
                  <a:srgbClr val="E84040"/>
                </a:solidFill>
                <a:latin typeface="Times New Roman" pitchFamily="34" charset="0"/>
                <a:ea typeface="Times New Roman" pitchFamily="34" charset="-122"/>
                <a:cs typeface="Times New Roman" pitchFamily="34" charset="-120"/>
              </a:rPr>
              <a:t> 24</a:t>
            </a:r>
            <a:endParaRPr lang="en-US" sz="1600" dirty="0"/>
          </a:p>
        </p:txBody>
      </p:sp>
      <p:sp>
        <p:nvSpPr>
          <p:cNvPr id="27" name="Text 25"/>
          <p:cNvSpPr/>
          <p:nvPr/>
        </p:nvSpPr>
        <p:spPr>
          <a:xfrm>
            <a:off x="1115568" y="2862072"/>
            <a:ext cx="1828800" cy="201168"/>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Missing Controls</a:t>
            </a:r>
            <a:endParaRPr lang="en-US" sz="1100" dirty="0"/>
          </a:p>
        </p:txBody>
      </p:sp>
      <p:sp>
        <p:nvSpPr>
          <p:cNvPr id="28" name="Text 26"/>
          <p:cNvSpPr/>
          <p:nvPr/>
        </p:nvSpPr>
        <p:spPr>
          <a:xfrm>
            <a:off x="1115568" y="3044952"/>
            <a:ext cx="2651760" cy="164592"/>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No compensating control documented</a:t>
            </a:r>
            <a:endParaRPr lang="en-US" sz="900" dirty="0"/>
          </a:p>
        </p:txBody>
      </p:sp>
      <p:sp>
        <p:nvSpPr>
          <p:cNvPr id="29" name="Shape 27"/>
          <p:cNvSpPr/>
          <p:nvPr/>
        </p:nvSpPr>
        <p:spPr>
          <a:xfrm>
            <a:off x="411480" y="3209544"/>
            <a:ext cx="3840480" cy="9144"/>
          </a:xfrm>
          <a:prstGeom prst="rect">
            <a:avLst/>
          </a:prstGeom>
          <a:solidFill>
            <a:srgbClr val="222222"/>
          </a:solidFill>
          <a:ln w="12700">
            <a:solidFill>
              <a:srgbClr val="222222"/>
            </a:solidFill>
            <a:prstDash val="solid"/>
          </a:ln>
        </p:spPr>
      </p:sp>
      <p:sp>
        <p:nvSpPr>
          <p:cNvPr id="30" name="Text 28"/>
          <p:cNvSpPr/>
          <p:nvPr/>
        </p:nvSpPr>
        <p:spPr>
          <a:xfrm>
            <a:off x="411480" y="3246120"/>
            <a:ext cx="640080" cy="347472"/>
          </a:xfrm>
          <a:prstGeom prst="rect">
            <a:avLst/>
          </a:prstGeom>
          <a:noFill/>
          <a:ln/>
        </p:spPr>
        <p:txBody>
          <a:bodyPr wrap="square" lIns="0" tIns="0" rIns="0" bIns="0" rtlCol="0" anchor="ctr"/>
          <a:lstStyle/>
          <a:p>
            <a:pPr marL="0" indent="0" algn="r">
              <a:buNone/>
            </a:pPr>
            <a:r>
              <a:rPr lang="en-US" sz="1600" b="1" dirty="0">
                <a:solidFill>
                  <a:srgbClr val="E84040"/>
                </a:solidFill>
                <a:latin typeface="Times New Roman" pitchFamily="34" charset="0"/>
                <a:ea typeface="Times New Roman" pitchFamily="34" charset="-122"/>
                <a:cs typeface="Times New Roman" pitchFamily="34" charset="-120"/>
              </a:rPr>
              <a:t> 23</a:t>
            </a:r>
            <a:endParaRPr lang="en-US" sz="1600" dirty="0"/>
          </a:p>
        </p:txBody>
      </p:sp>
      <p:sp>
        <p:nvSpPr>
          <p:cNvPr id="31" name="Text 29"/>
          <p:cNvSpPr/>
          <p:nvPr/>
        </p:nvSpPr>
        <p:spPr>
          <a:xfrm>
            <a:off x="1115568" y="3264408"/>
            <a:ext cx="1828800" cy="201168"/>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Expiring Soon</a:t>
            </a:r>
            <a:endParaRPr lang="en-US" sz="1100" dirty="0"/>
          </a:p>
        </p:txBody>
      </p:sp>
      <p:sp>
        <p:nvSpPr>
          <p:cNvPr id="32" name="Text 30"/>
          <p:cNvSpPr/>
          <p:nvPr/>
        </p:nvSpPr>
        <p:spPr>
          <a:xfrm>
            <a:off x="1115568" y="3447288"/>
            <a:ext cx="2651760" cy="164592"/>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Expiry within 14 days</a:t>
            </a:r>
            <a:endParaRPr lang="en-US" sz="900" dirty="0"/>
          </a:p>
        </p:txBody>
      </p:sp>
      <p:sp>
        <p:nvSpPr>
          <p:cNvPr id="33" name="Shape 31"/>
          <p:cNvSpPr/>
          <p:nvPr/>
        </p:nvSpPr>
        <p:spPr>
          <a:xfrm>
            <a:off x="411480" y="3611880"/>
            <a:ext cx="3840480" cy="9144"/>
          </a:xfrm>
          <a:prstGeom prst="rect">
            <a:avLst/>
          </a:prstGeom>
          <a:solidFill>
            <a:srgbClr val="222222"/>
          </a:solidFill>
          <a:ln w="12700">
            <a:solidFill>
              <a:srgbClr val="222222"/>
            </a:solidFill>
            <a:prstDash val="solid"/>
          </a:ln>
        </p:spPr>
      </p:sp>
      <p:sp>
        <p:nvSpPr>
          <p:cNvPr id="34" name="Text 32"/>
          <p:cNvSpPr/>
          <p:nvPr/>
        </p:nvSpPr>
        <p:spPr>
          <a:xfrm>
            <a:off x="411480" y="3648456"/>
            <a:ext cx="640080" cy="347472"/>
          </a:xfrm>
          <a:prstGeom prst="rect">
            <a:avLst/>
          </a:prstGeom>
          <a:noFill/>
          <a:ln/>
        </p:spPr>
        <p:txBody>
          <a:bodyPr wrap="square" lIns="0" tIns="0" rIns="0" bIns="0" rtlCol="0" anchor="ctr"/>
          <a:lstStyle/>
          <a:p>
            <a:pPr marL="0" indent="0" algn="r">
              <a:buNone/>
            </a:pPr>
            <a:r>
              <a:rPr lang="en-US" sz="1600" b="1" dirty="0">
                <a:solidFill>
                  <a:srgbClr val="E84040"/>
                </a:solidFill>
                <a:latin typeface="Times New Roman" pitchFamily="34" charset="0"/>
                <a:ea typeface="Times New Roman" pitchFamily="34" charset="-122"/>
                <a:cs typeface="Times New Roman" pitchFamily="34" charset="-120"/>
              </a:rPr>
              <a:t> 19</a:t>
            </a:r>
            <a:endParaRPr lang="en-US" sz="1600" dirty="0"/>
          </a:p>
        </p:txBody>
      </p:sp>
      <p:sp>
        <p:nvSpPr>
          <p:cNvPr id="35" name="Text 33"/>
          <p:cNvSpPr/>
          <p:nvPr/>
        </p:nvSpPr>
        <p:spPr>
          <a:xfrm>
            <a:off x="1115568" y="3666744"/>
            <a:ext cx="1828800" cy="201168"/>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Orphaned Owner</a:t>
            </a:r>
            <a:endParaRPr lang="en-US" sz="1100" dirty="0"/>
          </a:p>
        </p:txBody>
      </p:sp>
      <p:sp>
        <p:nvSpPr>
          <p:cNvPr id="36" name="Text 34"/>
          <p:cNvSpPr/>
          <p:nvPr/>
        </p:nvSpPr>
        <p:spPr>
          <a:xfrm>
            <a:off x="1115568" y="3849624"/>
            <a:ext cx="2651760" cy="164592"/>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Owner is inactive or unassigned</a:t>
            </a:r>
            <a:endParaRPr lang="en-US" sz="900" dirty="0"/>
          </a:p>
        </p:txBody>
      </p:sp>
      <p:sp>
        <p:nvSpPr>
          <p:cNvPr id="37" name="Shape 35"/>
          <p:cNvSpPr/>
          <p:nvPr/>
        </p:nvSpPr>
        <p:spPr>
          <a:xfrm>
            <a:off x="4663440" y="658368"/>
            <a:ext cx="4206240" cy="4160520"/>
          </a:xfrm>
          <a:prstGeom prst="rect">
            <a:avLst/>
          </a:prstGeom>
          <a:solidFill>
            <a:srgbClr val="080812"/>
          </a:solidFill>
          <a:ln w="19050">
            <a:solidFill>
              <a:srgbClr val="3060A0"/>
            </a:solidFill>
            <a:prstDash val="solid"/>
          </a:ln>
          <a:effectLst>
            <a:outerShdw blurRad="127000" dist="38100" dir="8100000" algn="bl" rotWithShape="0">
              <a:srgbClr val="000000">
                <a:alpha val="45000"/>
              </a:srgbClr>
            </a:outerShdw>
          </a:effectLst>
        </p:spPr>
      </p:sp>
      <p:sp>
        <p:nvSpPr>
          <p:cNvPr id="38" name="Text 36"/>
          <p:cNvSpPr/>
          <p:nvPr/>
        </p:nvSpPr>
        <p:spPr>
          <a:xfrm>
            <a:off x="4800600" y="731520"/>
            <a:ext cx="3931920" cy="365760"/>
          </a:xfrm>
          <a:prstGeom prst="rect">
            <a:avLst/>
          </a:prstGeom>
          <a:noFill/>
          <a:ln/>
        </p:spPr>
        <p:txBody>
          <a:bodyPr wrap="square" lIns="0" tIns="0" rIns="0" bIns="0" rtlCol="0" anchor="ctr"/>
          <a:lstStyle/>
          <a:p>
            <a:pPr marL="0" indent="0">
              <a:buNone/>
            </a:pPr>
            <a:r>
              <a:rPr lang="en-US" sz="1400" b="1" dirty="0">
                <a:solidFill>
                  <a:srgbClr val="6090D0"/>
                </a:solidFill>
                <a:latin typeface="Times New Roman" pitchFamily="34" charset="0"/>
                <a:ea typeface="Times New Roman" pitchFamily="34" charset="-122"/>
                <a:cs typeface="Times New Roman" pitchFamily="34" charset="-120"/>
              </a:rPr>
              <a:t>GRC Intelligence Center</a:t>
            </a:r>
            <a:endParaRPr lang="en-US" sz="1400" dirty="0"/>
          </a:p>
        </p:txBody>
      </p:sp>
      <p:sp>
        <p:nvSpPr>
          <p:cNvPr id="39" name="Shape 37"/>
          <p:cNvSpPr/>
          <p:nvPr/>
        </p:nvSpPr>
        <p:spPr>
          <a:xfrm>
            <a:off x="4800600" y="1133856"/>
            <a:ext cx="3840480" cy="27432"/>
          </a:xfrm>
          <a:prstGeom prst="rect">
            <a:avLst/>
          </a:prstGeom>
          <a:solidFill>
            <a:srgbClr val="203060"/>
          </a:solidFill>
          <a:ln w="12700">
            <a:solidFill>
              <a:srgbClr val="203060"/>
            </a:solidFill>
            <a:prstDash val="solid"/>
          </a:ln>
        </p:spPr>
      </p:sp>
      <p:sp>
        <p:nvSpPr>
          <p:cNvPr id="40" name="Text 38"/>
          <p:cNvSpPr/>
          <p:nvPr/>
        </p:nvSpPr>
        <p:spPr>
          <a:xfrm>
            <a:off x="4800600" y="1234440"/>
            <a:ext cx="640080" cy="402336"/>
          </a:xfrm>
          <a:prstGeom prst="rect">
            <a:avLst/>
          </a:prstGeom>
          <a:noFill/>
          <a:ln/>
        </p:spPr>
        <p:txBody>
          <a:bodyPr wrap="square" lIns="0" tIns="0" rIns="0" bIns="0" rtlCol="0" anchor="ctr"/>
          <a:lstStyle/>
          <a:p>
            <a:pPr marL="0" indent="0" algn="r">
              <a:buNone/>
            </a:pPr>
            <a:r>
              <a:rPr lang="en-US" sz="1600" b="1" dirty="0">
                <a:solidFill>
                  <a:srgbClr val="8888FF"/>
                </a:solidFill>
                <a:latin typeface="Times New Roman" pitchFamily="34" charset="0"/>
                <a:ea typeface="Times New Roman" pitchFamily="34" charset="-122"/>
                <a:cs typeface="Times New Roman" pitchFamily="34" charset="-120"/>
              </a:rPr>
              <a:t>186</a:t>
            </a:r>
            <a:endParaRPr lang="en-US" sz="1600" dirty="0"/>
          </a:p>
        </p:txBody>
      </p:sp>
      <p:sp>
        <p:nvSpPr>
          <p:cNvPr id="41" name="Text 39"/>
          <p:cNvSpPr/>
          <p:nvPr/>
        </p:nvSpPr>
        <p:spPr>
          <a:xfrm>
            <a:off x="5504688" y="1252728"/>
            <a:ext cx="2468880" cy="201168"/>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Total GRC Findings</a:t>
            </a:r>
            <a:endParaRPr lang="en-US" sz="1100" dirty="0"/>
          </a:p>
        </p:txBody>
      </p:sp>
      <p:sp>
        <p:nvSpPr>
          <p:cNvPr id="42" name="Text 40"/>
          <p:cNvSpPr/>
          <p:nvPr/>
        </p:nvSpPr>
        <p:spPr>
          <a:xfrm>
            <a:off x="5504688" y="1453896"/>
            <a:ext cx="3246120" cy="164592"/>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Detected across 600 exceptions</a:t>
            </a:r>
            <a:endParaRPr lang="en-US" sz="900" dirty="0"/>
          </a:p>
        </p:txBody>
      </p:sp>
      <p:sp>
        <p:nvSpPr>
          <p:cNvPr id="43" name="Text 41"/>
          <p:cNvSpPr/>
          <p:nvPr/>
        </p:nvSpPr>
        <p:spPr>
          <a:xfrm>
            <a:off x="4800600" y="1709928"/>
            <a:ext cx="640080" cy="402336"/>
          </a:xfrm>
          <a:prstGeom prst="rect">
            <a:avLst/>
          </a:prstGeom>
          <a:noFill/>
          <a:ln/>
        </p:spPr>
        <p:txBody>
          <a:bodyPr wrap="square" lIns="0" tIns="0" rIns="0" bIns="0" rtlCol="0" anchor="ctr"/>
          <a:lstStyle/>
          <a:p>
            <a:pPr marL="0" indent="0" algn="r">
              <a:buNone/>
            </a:pPr>
            <a:r>
              <a:rPr lang="en-US" sz="1600" b="1" dirty="0">
                <a:solidFill>
                  <a:srgbClr val="E84040"/>
                </a:solidFill>
                <a:latin typeface="Times New Roman" pitchFamily="34" charset="0"/>
                <a:ea typeface="Times New Roman" pitchFamily="34" charset="-122"/>
                <a:cs typeface="Times New Roman" pitchFamily="34" charset="-120"/>
              </a:rPr>
              <a:t> 27</a:t>
            </a:r>
            <a:endParaRPr lang="en-US" sz="1600" dirty="0"/>
          </a:p>
        </p:txBody>
      </p:sp>
      <p:sp>
        <p:nvSpPr>
          <p:cNvPr id="44" name="Text 42"/>
          <p:cNvSpPr/>
          <p:nvPr/>
        </p:nvSpPr>
        <p:spPr>
          <a:xfrm>
            <a:off x="5504688" y="1728216"/>
            <a:ext cx="2468880" cy="201168"/>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Critical Accumulation</a:t>
            </a:r>
            <a:endParaRPr lang="en-US" sz="1100" dirty="0"/>
          </a:p>
        </p:txBody>
      </p:sp>
      <p:sp>
        <p:nvSpPr>
          <p:cNvPr id="45" name="Text 43"/>
          <p:cNvSpPr/>
          <p:nvPr/>
        </p:nvSpPr>
        <p:spPr>
          <a:xfrm>
            <a:off x="5504688" y="1929384"/>
            <a:ext cx="3246120" cy="164592"/>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Assets with stacked risk ≥ 1500</a:t>
            </a:r>
            <a:endParaRPr lang="en-US" sz="900" dirty="0"/>
          </a:p>
        </p:txBody>
      </p:sp>
      <p:sp>
        <p:nvSpPr>
          <p:cNvPr id="46" name="Text 44"/>
          <p:cNvSpPr/>
          <p:nvPr/>
        </p:nvSpPr>
        <p:spPr>
          <a:xfrm>
            <a:off x="4800600" y="2185416"/>
            <a:ext cx="640080" cy="402336"/>
          </a:xfrm>
          <a:prstGeom prst="rect">
            <a:avLst/>
          </a:prstGeom>
          <a:noFill/>
          <a:ln/>
        </p:spPr>
        <p:txBody>
          <a:bodyPr wrap="square" lIns="0" tIns="0" rIns="0" bIns="0" rtlCol="0" anchor="ctr"/>
          <a:lstStyle/>
          <a:p>
            <a:pPr marL="0" indent="0" algn="r">
              <a:buNone/>
            </a:pPr>
            <a:r>
              <a:rPr lang="en-US" sz="1600" b="1" dirty="0">
                <a:solidFill>
                  <a:srgbClr val="8888FF"/>
                </a:solidFill>
                <a:latin typeface="Times New Roman" pitchFamily="34" charset="0"/>
                <a:ea typeface="Times New Roman" pitchFamily="34" charset="-122"/>
                <a:cs typeface="Times New Roman" pitchFamily="34" charset="-120"/>
              </a:rPr>
              <a:t> 90</a:t>
            </a:r>
            <a:endParaRPr lang="en-US" sz="1600" dirty="0"/>
          </a:p>
        </p:txBody>
      </p:sp>
      <p:sp>
        <p:nvSpPr>
          <p:cNvPr id="47" name="Text 45"/>
          <p:cNvSpPr/>
          <p:nvPr/>
        </p:nvSpPr>
        <p:spPr>
          <a:xfrm>
            <a:off x="5504688" y="2203704"/>
            <a:ext cx="2468880" cy="201168"/>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Overlapping Exceptions</a:t>
            </a:r>
            <a:endParaRPr lang="en-US" sz="1100" dirty="0"/>
          </a:p>
        </p:txBody>
      </p:sp>
      <p:sp>
        <p:nvSpPr>
          <p:cNvPr id="48" name="Text 46"/>
          <p:cNvSpPr/>
          <p:nvPr/>
        </p:nvSpPr>
        <p:spPr>
          <a:xfrm>
            <a:off x="5504688" y="2404872"/>
            <a:ext cx="3246120" cy="164592"/>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Same asset + policy, concurrent dates</a:t>
            </a:r>
            <a:endParaRPr lang="en-US" sz="900" dirty="0"/>
          </a:p>
        </p:txBody>
      </p:sp>
      <p:sp>
        <p:nvSpPr>
          <p:cNvPr id="49" name="Text 47"/>
          <p:cNvSpPr/>
          <p:nvPr/>
        </p:nvSpPr>
        <p:spPr>
          <a:xfrm>
            <a:off x="4800600" y="2660904"/>
            <a:ext cx="640080" cy="402336"/>
          </a:xfrm>
          <a:prstGeom prst="rect">
            <a:avLst/>
          </a:prstGeom>
          <a:noFill/>
          <a:ln/>
        </p:spPr>
        <p:txBody>
          <a:bodyPr wrap="square" lIns="0" tIns="0" rIns="0" bIns="0" rtlCol="0" anchor="ctr"/>
          <a:lstStyle/>
          <a:p>
            <a:pPr marL="0" indent="0" algn="r">
              <a:buNone/>
            </a:pPr>
            <a:r>
              <a:rPr lang="en-US" sz="1600" b="1" dirty="0">
                <a:solidFill>
                  <a:srgbClr val="8888FF"/>
                </a:solidFill>
                <a:latin typeface="Times New Roman" pitchFamily="34" charset="0"/>
                <a:ea typeface="Times New Roman" pitchFamily="34" charset="-122"/>
                <a:cs typeface="Times New Roman" pitchFamily="34" charset="-120"/>
              </a:rPr>
              <a:t> 59</a:t>
            </a:r>
            <a:endParaRPr lang="en-US" sz="1600" dirty="0"/>
          </a:p>
        </p:txBody>
      </p:sp>
      <p:sp>
        <p:nvSpPr>
          <p:cNvPr id="50" name="Text 48"/>
          <p:cNvSpPr/>
          <p:nvPr/>
        </p:nvSpPr>
        <p:spPr>
          <a:xfrm>
            <a:off x="5504688" y="2679192"/>
            <a:ext cx="2468880" cy="201168"/>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Duplicate Waivers</a:t>
            </a:r>
            <a:endParaRPr lang="en-US" sz="1100" dirty="0"/>
          </a:p>
        </p:txBody>
      </p:sp>
      <p:sp>
        <p:nvSpPr>
          <p:cNvPr id="51" name="Text 49"/>
          <p:cNvSpPr/>
          <p:nvPr/>
        </p:nvSpPr>
        <p:spPr>
          <a:xfrm>
            <a:off x="5504688" y="2880360"/>
            <a:ext cx="3246120" cy="164592"/>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Same dept + asset + type, similar justification</a:t>
            </a:r>
            <a:endParaRPr lang="en-US" sz="900" dirty="0"/>
          </a:p>
        </p:txBody>
      </p:sp>
      <p:sp>
        <p:nvSpPr>
          <p:cNvPr id="52" name="Text 50"/>
          <p:cNvSpPr/>
          <p:nvPr/>
        </p:nvSpPr>
        <p:spPr>
          <a:xfrm>
            <a:off x="4800600" y="3136392"/>
            <a:ext cx="640080" cy="402336"/>
          </a:xfrm>
          <a:prstGeom prst="rect">
            <a:avLst/>
          </a:prstGeom>
          <a:noFill/>
          <a:ln/>
        </p:spPr>
        <p:txBody>
          <a:bodyPr wrap="square" lIns="0" tIns="0" rIns="0" bIns="0" rtlCol="0" anchor="ctr"/>
          <a:lstStyle/>
          <a:p>
            <a:pPr marL="0" indent="0" algn="r">
              <a:buNone/>
            </a:pPr>
            <a:r>
              <a:rPr lang="en-US" sz="1600" b="1" dirty="0">
                <a:solidFill>
                  <a:srgbClr val="4EC94E"/>
                </a:solidFill>
                <a:latin typeface="Times New Roman" pitchFamily="34" charset="0"/>
                <a:ea typeface="Times New Roman" pitchFamily="34" charset="-122"/>
                <a:cs typeface="Times New Roman" pitchFamily="34" charset="-120"/>
              </a:rPr>
              <a:t>  0</a:t>
            </a:r>
            <a:endParaRPr lang="en-US" sz="1600" dirty="0"/>
          </a:p>
        </p:txBody>
      </p:sp>
      <p:sp>
        <p:nvSpPr>
          <p:cNvPr id="53" name="Text 51"/>
          <p:cNvSpPr/>
          <p:nvPr/>
        </p:nvSpPr>
        <p:spPr>
          <a:xfrm>
            <a:off x="5504688" y="3154680"/>
            <a:ext cx="2468880" cy="201168"/>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Conflicting Approvals</a:t>
            </a:r>
            <a:endParaRPr lang="en-US" sz="1100" dirty="0"/>
          </a:p>
        </p:txBody>
      </p:sp>
      <p:sp>
        <p:nvSpPr>
          <p:cNvPr id="54" name="Text 52"/>
          <p:cNvSpPr/>
          <p:nvPr/>
        </p:nvSpPr>
        <p:spPr>
          <a:xfrm>
            <a:off x="5504688" y="3355848"/>
            <a:ext cx="3246120" cy="164592"/>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No governance conflicts detected</a:t>
            </a:r>
            <a:endParaRPr lang="en-US" sz="900" dirty="0"/>
          </a:p>
        </p:txBody>
      </p:sp>
      <p:sp>
        <p:nvSpPr>
          <p:cNvPr id="55" name="Text 53"/>
          <p:cNvSpPr/>
          <p:nvPr/>
        </p:nvSpPr>
        <p:spPr>
          <a:xfrm>
            <a:off x="4800600" y="3611880"/>
            <a:ext cx="640080" cy="402336"/>
          </a:xfrm>
          <a:prstGeom prst="rect">
            <a:avLst/>
          </a:prstGeom>
          <a:noFill/>
          <a:ln/>
        </p:spPr>
        <p:txBody>
          <a:bodyPr wrap="square" lIns="0" tIns="0" rIns="0" bIns="0" rtlCol="0" anchor="ctr"/>
          <a:lstStyle/>
          <a:p>
            <a:pPr marL="0" indent="0" algn="r">
              <a:buNone/>
            </a:pPr>
            <a:r>
              <a:rPr lang="en-US" sz="1600" b="1" dirty="0">
                <a:solidFill>
                  <a:srgbClr val="FFD600"/>
                </a:solidFill>
                <a:latin typeface="Times New Roman" pitchFamily="34" charset="0"/>
                <a:ea typeface="Times New Roman" pitchFamily="34" charset="-122"/>
                <a:cs typeface="Times New Roman" pitchFamily="34" charset="-120"/>
              </a:rPr>
              <a:t> 37</a:t>
            </a:r>
            <a:endParaRPr lang="en-US" sz="1600" dirty="0"/>
          </a:p>
        </p:txBody>
      </p:sp>
      <p:sp>
        <p:nvSpPr>
          <p:cNvPr id="56" name="Text 54"/>
          <p:cNvSpPr/>
          <p:nvPr/>
        </p:nvSpPr>
        <p:spPr>
          <a:xfrm>
            <a:off x="5504688" y="3630168"/>
            <a:ext cx="2468880" cy="201168"/>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Risk Hotspots</a:t>
            </a:r>
            <a:endParaRPr lang="en-US" sz="1100" dirty="0"/>
          </a:p>
        </p:txBody>
      </p:sp>
      <p:sp>
        <p:nvSpPr>
          <p:cNvPr id="57" name="Text 55"/>
          <p:cNvSpPr/>
          <p:nvPr/>
        </p:nvSpPr>
        <p:spPr>
          <a:xfrm>
            <a:off x="5504688" y="3831336"/>
            <a:ext cx="3246120" cy="164592"/>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Assets accumulating high combined risk</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6E0000"/>
          </a:solidFill>
          <a:ln w="12700">
            <a:solidFill>
              <a:srgbClr val="6E0000"/>
            </a:solidFill>
            <a:prstDash val="solid"/>
          </a:ln>
        </p:spPr>
      </p:sp>
      <p:sp>
        <p:nvSpPr>
          <p:cNvPr id="3" name="Shape 1"/>
          <p:cNvSpPr/>
          <p:nvPr/>
        </p:nvSpPr>
        <p:spPr>
          <a:xfrm>
            <a:off x="0" y="4983480"/>
            <a:ext cx="9144000" cy="160020"/>
          </a:xfrm>
          <a:prstGeom prst="rect">
            <a:avLst/>
          </a:prstGeom>
          <a:solidFill>
            <a:srgbClr val="6E0000"/>
          </a:solidFill>
          <a:ln w="12700">
            <a:solidFill>
              <a:srgbClr val="6E0000"/>
            </a:solidFill>
            <a:prstDash val="solid"/>
          </a:ln>
        </p:spPr>
      </p:sp>
      <p:sp>
        <p:nvSpPr>
          <p:cNvPr id="4" name="Text 2"/>
          <p:cNvSpPr/>
          <p:nvPr/>
        </p:nvSpPr>
        <p:spPr>
          <a:xfrm>
            <a:off x="365760" y="64008"/>
            <a:ext cx="7863840" cy="438912"/>
          </a:xfrm>
          <a:prstGeom prst="rect">
            <a:avLst/>
          </a:prstGeom>
          <a:noFill/>
          <a:ln/>
        </p:spPr>
        <p:txBody>
          <a:bodyPr wrap="square" lIns="0" tIns="0" rIns="0" bIns="0" rtlCol="0" anchor="ctr"/>
          <a:lstStyle/>
          <a:p>
            <a:pPr marL="0" indent="0">
              <a:buNone/>
            </a:pPr>
            <a:r>
              <a:rPr lang="en-US" sz="2100" b="1" dirty="0">
                <a:solidFill>
                  <a:srgbClr val="FFFFFF"/>
                </a:solidFill>
                <a:latin typeface="Times New Roman" pitchFamily="34" charset="0"/>
                <a:ea typeface="Times New Roman" pitchFamily="34" charset="-122"/>
                <a:cs typeface="Times New Roman" pitchFamily="34" charset="-120"/>
              </a:rPr>
              <a:t>Compliance Alignment &amp; CIA Impact Mapping</a:t>
            </a:r>
            <a:endParaRPr lang="en-US" sz="2100" dirty="0"/>
          </a:p>
        </p:txBody>
      </p:sp>
      <p:sp>
        <p:nvSpPr>
          <p:cNvPr id="5" name="Text 3"/>
          <p:cNvSpPr/>
          <p:nvPr/>
        </p:nvSpPr>
        <p:spPr>
          <a:xfrm>
            <a:off x="7955280" y="64008"/>
            <a:ext cx="914400" cy="438912"/>
          </a:xfrm>
          <a:prstGeom prst="rect">
            <a:avLst/>
          </a:prstGeom>
          <a:noFill/>
          <a:ln/>
        </p:spPr>
        <p:txBody>
          <a:bodyPr wrap="square" lIns="0" tIns="0" rIns="0" bIns="0" rtlCol="0" anchor="ctr"/>
          <a:lstStyle/>
          <a:p>
            <a:pPr marL="0" indent="0" algn="r">
              <a:buNone/>
            </a:pPr>
            <a:r>
              <a:rPr lang="en-US" sz="1100" dirty="0">
                <a:solidFill>
                  <a:srgbClr val="C8C8C8"/>
                </a:solidFill>
                <a:latin typeface="Times New Roman" pitchFamily="34" charset="0"/>
                <a:ea typeface="Times New Roman" pitchFamily="34" charset="-122"/>
                <a:cs typeface="Times New Roman" pitchFamily="34" charset="-120"/>
              </a:rPr>
              <a:t>10/12</a:t>
            </a:r>
            <a:endParaRPr lang="en-US" sz="1100" dirty="0"/>
          </a:p>
        </p:txBody>
      </p:sp>
      <p:sp>
        <p:nvSpPr>
          <p:cNvPr id="6" name="Text 4"/>
          <p:cNvSpPr/>
          <p:nvPr/>
        </p:nvSpPr>
        <p:spPr>
          <a:xfrm>
            <a:off x="365760" y="4983480"/>
            <a:ext cx="8412480" cy="160020"/>
          </a:xfrm>
          <a:prstGeom prst="rect">
            <a:avLst/>
          </a:prstGeom>
          <a:noFill/>
          <a:ln/>
        </p:spPr>
        <p:txBody>
          <a:bodyPr wrap="square" lIns="0" tIns="0" rIns="0" bIns="0" rtlCol="0" anchor="ctr"/>
          <a:lstStyle/>
          <a:p>
            <a:pPr marL="0" indent="0">
              <a:buNone/>
            </a:pPr>
            <a:r>
              <a:rPr lang="en-US" sz="800" dirty="0">
                <a:solidFill>
                  <a:srgbClr val="C8C8C8"/>
                </a:solidFill>
                <a:latin typeface="Times New Roman" pitchFamily="34" charset="0"/>
                <a:ea typeface="Times New Roman" pitchFamily="34" charset="-122"/>
                <a:cs typeface="Times New Roman" pitchFamily="34" charset="-120"/>
              </a:rPr>
              <a:t>RiskWaiver360  ·  GRC Exception &amp; Policy Waiver Management  ·  RVCE 2026</a:t>
            </a:r>
            <a:endParaRPr lang="en-US" sz="800" dirty="0"/>
          </a:p>
        </p:txBody>
      </p:sp>
      <p:sp>
        <p:nvSpPr>
          <p:cNvPr id="7" name="Shape 5"/>
          <p:cNvSpPr/>
          <p:nvPr/>
        </p:nvSpPr>
        <p:spPr>
          <a:xfrm>
            <a:off x="274320" y="658368"/>
            <a:ext cx="4206240" cy="4160520"/>
          </a:xfrm>
          <a:prstGeom prst="rect">
            <a:avLst/>
          </a:prstGeom>
          <a:solidFill>
            <a:srgbClr val="141414"/>
          </a:solidFill>
          <a:ln w="19050">
            <a:solidFill>
              <a:srgbClr val="C41010"/>
            </a:solidFill>
            <a:prstDash val="solid"/>
          </a:ln>
          <a:effectLst>
            <a:outerShdw blurRad="127000" dist="38100" dir="8100000" algn="bl" rotWithShape="0">
              <a:srgbClr val="000000">
                <a:alpha val="45000"/>
              </a:srgbClr>
            </a:outerShdw>
          </a:effectLst>
        </p:spPr>
      </p:sp>
      <p:sp>
        <p:nvSpPr>
          <p:cNvPr id="8" name="Text 6"/>
          <p:cNvSpPr/>
          <p:nvPr/>
        </p:nvSpPr>
        <p:spPr>
          <a:xfrm>
            <a:off x="411480" y="749808"/>
            <a:ext cx="3931920" cy="347472"/>
          </a:xfrm>
          <a:prstGeom prst="rect">
            <a:avLst/>
          </a:prstGeom>
          <a:noFill/>
          <a:ln/>
        </p:spPr>
        <p:txBody>
          <a:bodyPr wrap="square" lIns="0" tIns="0" rIns="0" bIns="0" rtlCol="0" anchor="ctr"/>
          <a:lstStyle/>
          <a:p>
            <a:pPr marL="0" indent="0">
              <a:buNone/>
            </a:pPr>
            <a:r>
              <a:rPr lang="en-US" sz="1400" b="1" dirty="0">
                <a:solidFill>
                  <a:srgbClr val="E84040"/>
                </a:solidFill>
                <a:latin typeface="Times New Roman" pitchFamily="34" charset="0"/>
                <a:ea typeface="Times New Roman" pitchFamily="34" charset="-122"/>
                <a:cs typeface="Times New Roman" pitchFamily="34" charset="-120"/>
              </a:rPr>
              <a:t>Compliance Frameworks</a:t>
            </a:r>
            <a:endParaRPr lang="en-US" sz="1400" dirty="0"/>
          </a:p>
        </p:txBody>
      </p:sp>
      <p:sp>
        <p:nvSpPr>
          <p:cNvPr id="9" name="Shape 7"/>
          <p:cNvSpPr/>
          <p:nvPr/>
        </p:nvSpPr>
        <p:spPr>
          <a:xfrm>
            <a:off x="384048" y="1188720"/>
            <a:ext cx="4005072" cy="594360"/>
          </a:xfrm>
          <a:prstGeom prst="rect">
            <a:avLst/>
          </a:prstGeom>
          <a:solidFill>
            <a:srgbClr val="6E0000"/>
          </a:solidFill>
          <a:ln w="10160">
            <a:solidFill>
              <a:srgbClr val="C41010"/>
            </a:solidFill>
            <a:prstDash val="solid"/>
          </a:ln>
          <a:effectLst>
            <a:outerShdw blurRad="127000" dist="38100" dir="8100000" algn="bl" rotWithShape="0">
              <a:srgbClr val="000000">
                <a:alpha val="45000"/>
              </a:srgbClr>
            </a:outerShdw>
          </a:effectLst>
        </p:spPr>
      </p:sp>
      <p:sp>
        <p:nvSpPr>
          <p:cNvPr id="10" name="Text 8"/>
          <p:cNvSpPr/>
          <p:nvPr/>
        </p:nvSpPr>
        <p:spPr>
          <a:xfrm>
            <a:off x="475488" y="1243584"/>
            <a:ext cx="1371600" cy="475488"/>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itchFamily="34" charset="0"/>
                <a:ea typeface="Times New Roman" pitchFamily="34" charset="-122"/>
                <a:cs typeface="Times New Roman" pitchFamily="34" charset="-120"/>
              </a:rPr>
              <a:t>NIST AC-2</a:t>
            </a:r>
            <a:endParaRPr lang="en-US" sz="1200" dirty="0"/>
          </a:p>
        </p:txBody>
      </p:sp>
      <p:sp>
        <p:nvSpPr>
          <p:cNvPr id="11" name="Text 9"/>
          <p:cNvSpPr/>
          <p:nvPr/>
        </p:nvSpPr>
        <p:spPr>
          <a:xfrm>
            <a:off x="1920240" y="1243584"/>
            <a:ext cx="2377440" cy="475488"/>
          </a:xfrm>
          <a:prstGeom prst="rect">
            <a:avLst/>
          </a:prstGeom>
          <a:noFill/>
          <a:ln/>
        </p:spPr>
        <p:txBody>
          <a:bodyPr wrap="square" lIns="0" tIns="0" rIns="0" bIns="0" rtlCol="0" anchor="ctr"/>
          <a:lstStyle/>
          <a:p>
            <a:pPr marL="0" indent="0">
              <a:buNone/>
            </a:pPr>
            <a:r>
              <a:rPr lang="en-US" sz="1050" dirty="0">
                <a:solidFill>
                  <a:srgbClr val="C8C8C8"/>
                </a:solidFill>
                <a:latin typeface="Times New Roman" pitchFamily="34" charset="0"/>
                <a:ea typeface="Times New Roman" pitchFamily="34" charset="-122"/>
                <a:cs typeface="Times New Roman" pitchFamily="34" charset="-120"/>
              </a:rPr>
              <a:t>Account Management — exception lifecycle &amp; access control tracking</a:t>
            </a:r>
            <a:endParaRPr lang="en-US" sz="1050" dirty="0"/>
          </a:p>
        </p:txBody>
      </p:sp>
      <p:sp>
        <p:nvSpPr>
          <p:cNvPr id="12" name="Shape 10"/>
          <p:cNvSpPr/>
          <p:nvPr/>
        </p:nvSpPr>
        <p:spPr>
          <a:xfrm>
            <a:off x="384048" y="1892808"/>
            <a:ext cx="4005072" cy="594360"/>
          </a:xfrm>
          <a:prstGeom prst="rect">
            <a:avLst/>
          </a:prstGeom>
          <a:solidFill>
            <a:srgbClr val="6E0000"/>
          </a:solidFill>
          <a:ln w="10160">
            <a:solidFill>
              <a:srgbClr val="C41010"/>
            </a:solidFill>
            <a:prstDash val="solid"/>
          </a:ln>
          <a:effectLst>
            <a:outerShdw blurRad="127000" dist="38100" dir="8100000" algn="bl" rotWithShape="0">
              <a:srgbClr val="000000">
                <a:alpha val="45000"/>
              </a:srgbClr>
            </a:outerShdw>
          </a:effectLst>
        </p:spPr>
      </p:sp>
      <p:sp>
        <p:nvSpPr>
          <p:cNvPr id="13" name="Text 11"/>
          <p:cNvSpPr/>
          <p:nvPr/>
        </p:nvSpPr>
        <p:spPr>
          <a:xfrm>
            <a:off x="475488" y="1947672"/>
            <a:ext cx="1371600" cy="475488"/>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itchFamily="34" charset="0"/>
                <a:ea typeface="Times New Roman" pitchFamily="34" charset="-122"/>
                <a:cs typeface="Times New Roman" pitchFamily="34" charset="-120"/>
              </a:rPr>
              <a:t>NIST PL-4</a:t>
            </a:r>
            <a:endParaRPr lang="en-US" sz="1200" dirty="0"/>
          </a:p>
        </p:txBody>
      </p:sp>
      <p:sp>
        <p:nvSpPr>
          <p:cNvPr id="14" name="Text 12"/>
          <p:cNvSpPr/>
          <p:nvPr/>
        </p:nvSpPr>
        <p:spPr>
          <a:xfrm>
            <a:off x="1920240" y="1947672"/>
            <a:ext cx="2377440" cy="475488"/>
          </a:xfrm>
          <a:prstGeom prst="rect">
            <a:avLst/>
          </a:prstGeom>
          <a:noFill/>
          <a:ln/>
        </p:spPr>
        <p:txBody>
          <a:bodyPr wrap="square" lIns="0" tIns="0" rIns="0" bIns="0" rtlCol="0" anchor="ctr"/>
          <a:lstStyle/>
          <a:p>
            <a:pPr marL="0" indent="0">
              <a:buNone/>
            </a:pPr>
            <a:r>
              <a:rPr lang="en-US" sz="1050" dirty="0">
                <a:solidFill>
                  <a:srgbClr val="C8C8C8"/>
                </a:solidFill>
                <a:latin typeface="Times New Roman" pitchFamily="34" charset="0"/>
                <a:ea typeface="Times New Roman" pitchFamily="34" charset="-122"/>
                <a:cs typeface="Times New Roman" pitchFamily="34" charset="-120"/>
              </a:rPr>
              <a:t>Rules of Behavior — policy waiver governance and documentation</a:t>
            </a:r>
            <a:endParaRPr lang="en-US" sz="1050" dirty="0"/>
          </a:p>
        </p:txBody>
      </p:sp>
      <p:sp>
        <p:nvSpPr>
          <p:cNvPr id="15" name="Shape 13"/>
          <p:cNvSpPr/>
          <p:nvPr/>
        </p:nvSpPr>
        <p:spPr>
          <a:xfrm>
            <a:off x="384048" y="2596896"/>
            <a:ext cx="4005072" cy="594360"/>
          </a:xfrm>
          <a:prstGeom prst="rect">
            <a:avLst/>
          </a:prstGeom>
          <a:solidFill>
            <a:srgbClr val="6E0000"/>
          </a:solidFill>
          <a:ln w="10160">
            <a:solidFill>
              <a:srgbClr val="C41010"/>
            </a:solidFill>
            <a:prstDash val="solid"/>
          </a:ln>
          <a:effectLst>
            <a:outerShdw blurRad="127000" dist="38100" dir="8100000" algn="bl" rotWithShape="0">
              <a:srgbClr val="000000">
                <a:alpha val="45000"/>
              </a:srgbClr>
            </a:outerShdw>
          </a:effectLst>
        </p:spPr>
      </p:sp>
      <p:sp>
        <p:nvSpPr>
          <p:cNvPr id="16" name="Text 14"/>
          <p:cNvSpPr/>
          <p:nvPr/>
        </p:nvSpPr>
        <p:spPr>
          <a:xfrm>
            <a:off x="475488" y="2651760"/>
            <a:ext cx="1371600" cy="475488"/>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itchFamily="34" charset="0"/>
                <a:ea typeface="Times New Roman" pitchFamily="34" charset="-122"/>
                <a:cs typeface="Times New Roman" pitchFamily="34" charset="-120"/>
              </a:rPr>
              <a:t>GDPR Article 25</a:t>
            </a:r>
            <a:endParaRPr lang="en-US" sz="1200" dirty="0"/>
          </a:p>
        </p:txBody>
      </p:sp>
      <p:sp>
        <p:nvSpPr>
          <p:cNvPr id="17" name="Text 15"/>
          <p:cNvSpPr/>
          <p:nvPr/>
        </p:nvSpPr>
        <p:spPr>
          <a:xfrm>
            <a:off x="1920240" y="2651760"/>
            <a:ext cx="2377440" cy="475488"/>
          </a:xfrm>
          <a:prstGeom prst="rect">
            <a:avLst/>
          </a:prstGeom>
          <a:noFill/>
          <a:ln/>
        </p:spPr>
        <p:txBody>
          <a:bodyPr wrap="square" lIns="0" tIns="0" rIns="0" bIns="0" rtlCol="0" anchor="ctr"/>
          <a:lstStyle/>
          <a:p>
            <a:pPr marL="0" indent="0">
              <a:buNone/>
            </a:pPr>
            <a:r>
              <a:rPr lang="en-US" sz="1050" dirty="0">
                <a:solidFill>
                  <a:srgbClr val="C8C8C8"/>
                </a:solidFill>
                <a:latin typeface="Times New Roman" pitchFamily="34" charset="0"/>
                <a:ea typeface="Times New Roman" pitchFamily="34" charset="-122"/>
                <a:cs typeface="Times New Roman" pitchFamily="34" charset="-120"/>
              </a:rPr>
              <a:t>Data Protection by Design — privacy risk captured in exception intake</a:t>
            </a:r>
            <a:endParaRPr lang="en-US" sz="1050" dirty="0"/>
          </a:p>
        </p:txBody>
      </p:sp>
      <p:sp>
        <p:nvSpPr>
          <p:cNvPr id="18" name="Shape 16"/>
          <p:cNvSpPr/>
          <p:nvPr/>
        </p:nvSpPr>
        <p:spPr>
          <a:xfrm>
            <a:off x="384048" y="3300984"/>
            <a:ext cx="4005072" cy="594360"/>
          </a:xfrm>
          <a:prstGeom prst="rect">
            <a:avLst/>
          </a:prstGeom>
          <a:solidFill>
            <a:srgbClr val="6E0000"/>
          </a:solidFill>
          <a:ln w="10160">
            <a:solidFill>
              <a:srgbClr val="C41010"/>
            </a:solidFill>
            <a:prstDash val="solid"/>
          </a:ln>
          <a:effectLst>
            <a:outerShdw blurRad="127000" dist="38100" dir="8100000" algn="bl" rotWithShape="0">
              <a:srgbClr val="000000">
                <a:alpha val="45000"/>
              </a:srgbClr>
            </a:outerShdw>
          </a:effectLst>
        </p:spPr>
      </p:sp>
      <p:sp>
        <p:nvSpPr>
          <p:cNvPr id="19" name="Text 17"/>
          <p:cNvSpPr/>
          <p:nvPr/>
        </p:nvSpPr>
        <p:spPr>
          <a:xfrm>
            <a:off x="475488" y="3355848"/>
            <a:ext cx="1371600" cy="475488"/>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itchFamily="34" charset="0"/>
                <a:ea typeface="Times New Roman" pitchFamily="34" charset="-122"/>
                <a:cs typeface="Times New Roman" pitchFamily="34" charset="-120"/>
              </a:rPr>
              <a:t>CIS Control 1.1</a:t>
            </a:r>
            <a:endParaRPr lang="en-US" sz="1200" dirty="0"/>
          </a:p>
        </p:txBody>
      </p:sp>
      <p:sp>
        <p:nvSpPr>
          <p:cNvPr id="20" name="Text 18"/>
          <p:cNvSpPr/>
          <p:nvPr/>
        </p:nvSpPr>
        <p:spPr>
          <a:xfrm>
            <a:off x="1920240" y="3355848"/>
            <a:ext cx="2377440" cy="475488"/>
          </a:xfrm>
          <a:prstGeom prst="rect">
            <a:avLst/>
          </a:prstGeom>
          <a:noFill/>
          <a:ln/>
        </p:spPr>
        <p:txBody>
          <a:bodyPr wrap="square" lIns="0" tIns="0" rIns="0" bIns="0" rtlCol="0" anchor="ctr"/>
          <a:lstStyle/>
          <a:p>
            <a:pPr marL="0" indent="0">
              <a:buNone/>
            </a:pPr>
            <a:r>
              <a:rPr lang="en-US" sz="1050" dirty="0">
                <a:solidFill>
                  <a:srgbClr val="C8C8C8"/>
                </a:solidFill>
                <a:latin typeface="Times New Roman" pitchFamily="34" charset="0"/>
                <a:ea typeface="Times New Roman" pitchFamily="34" charset="-122"/>
                <a:cs typeface="Times New Roman" pitchFamily="34" charset="-120"/>
              </a:rPr>
              <a:t>Inventory of Assets — asset-mapped exception registry</a:t>
            </a:r>
            <a:endParaRPr lang="en-US" sz="1050" dirty="0"/>
          </a:p>
        </p:txBody>
      </p:sp>
      <p:sp>
        <p:nvSpPr>
          <p:cNvPr id="21" name="Shape 19"/>
          <p:cNvSpPr/>
          <p:nvPr/>
        </p:nvSpPr>
        <p:spPr>
          <a:xfrm>
            <a:off x="384048" y="4005072"/>
            <a:ext cx="4005072" cy="594360"/>
          </a:xfrm>
          <a:prstGeom prst="rect">
            <a:avLst/>
          </a:prstGeom>
          <a:solidFill>
            <a:srgbClr val="6E0000"/>
          </a:solidFill>
          <a:ln w="10160">
            <a:solidFill>
              <a:srgbClr val="C41010"/>
            </a:solidFill>
            <a:prstDash val="solid"/>
          </a:ln>
          <a:effectLst>
            <a:outerShdw blurRad="127000" dist="38100" dir="8100000" algn="bl" rotWithShape="0">
              <a:srgbClr val="000000">
                <a:alpha val="45000"/>
              </a:srgbClr>
            </a:outerShdw>
          </a:effectLst>
        </p:spPr>
      </p:sp>
      <p:sp>
        <p:nvSpPr>
          <p:cNvPr id="22" name="Text 20"/>
          <p:cNvSpPr/>
          <p:nvPr/>
        </p:nvSpPr>
        <p:spPr>
          <a:xfrm>
            <a:off x="475488" y="4059936"/>
            <a:ext cx="1371600" cy="475488"/>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itchFamily="34" charset="0"/>
                <a:ea typeface="Times New Roman" pitchFamily="34" charset="-122"/>
                <a:cs typeface="Times New Roman" pitchFamily="34" charset="-120"/>
              </a:rPr>
              <a:t>ISO 27001 A.9</a:t>
            </a:r>
            <a:endParaRPr lang="en-US" sz="1200" dirty="0"/>
          </a:p>
        </p:txBody>
      </p:sp>
      <p:sp>
        <p:nvSpPr>
          <p:cNvPr id="23" name="Text 21"/>
          <p:cNvSpPr/>
          <p:nvPr/>
        </p:nvSpPr>
        <p:spPr>
          <a:xfrm>
            <a:off x="1920240" y="4059936"/>
            <a:ext cx="2377440" cy="475488"/>
          </a:xfrm>
          <a:prstGeom prst="rect">
            <a:avLst/>
          </a:prstGeom>
          <a:noFill/>
          <a:ln/>
        </p:spPr>
        <p:txBody>
          <a:bodyPr wrap="square" lIns="0" tIns="0" rIns="0" bIns="0" rtlCol="0" anchor="ctr"/>
          <a:lstStyle/>
          <a:p>
            <a:pPr marL="0" indent="0">
              <a:buNone/>
            </a:pPr>
            <a:r>
              <a:rPr lang="en-US" sz="1050" dirty="0">
                <a:solidFill>
                  <a:srgbClr val="C8C8C8"/>
                </a:solidFill>
                <a:latin typeface="Times New Roman" pitchFamily="34" charset="0"/>
                <a:ea typeface="Times New Roman" pitchFamily="34" charset="-122"/>
                <a:cs typeface="Times New Roman" pitchFamily="34" charset="-120"/>
              </a:rPr>
              <a:t>Access Control — enforces review, expiry, and approval workflows</a:t>
            </a:r>
            <a:endParaRPr lang="en-US" sz="1050" dirty="0"/>
          </a:p>
        </p:txBody>
      </p:sp>
      <p:sp>
        <p:nvSpPr>
          <p:cNvPr id="24" name="Shape 22"/>
          <p:cNvSpPr/>
          <p:nvPr/>
        </p:nvSpPr>
        <p:spPr>
          <a:xfrm>
            <a:off x="4663440" y="658368"/>
            <a:ext cx="4206240" cy="4160520"/>
          </a:xfrm>
          <a:prstGeom prst="rect">
            <a:avLst/>
          </a:prstGeom>
          <a:solidFill>
            <a:srgbClr val="141414"/>
          </a:solidFill>
          <a:ln w="19050">
            <a:solidFill>
              <a:srgbClr val="4060A0"/>
            </a:solidFill>
            <a:prstDash val="solid"/>
          </a:ln>
          <a:effectLst>
            <a:outerShdw blurRad="127000" dist="38100" dir="8100000" algn="bl" rotWithShape="0">
              <a:srgbClr val="000000">
                <a:alpha val="45000"/>
              </a:srgbClr>
            </a:outerShdw>
          </a:effectLst>
        </p:spPr>
      </p:sp>
      <p:sp>
        <p:nvSpPr>
          <p:cNvPr id="25" name="Text 23"/>
          <p:cNvSpPr/>
          <p:nvPr/>
        </p:nvSpPr>
        <p:spPr>
          <a:xfrm>
            <a:off x="4800600" y="749808"/>
            <a:ext cx="3931920" cy="347472"/>
          </a:xfrm>
          <a:prstGeom prst="rect">
            <a:avLst/>
          </a:prstGeom>
          <a:noFill/>
          <a:ln/>
        </p:spPr>
        <p:txBody>
          <a:bodyPr wrap="square" lIns="0" tIns="0" rIns="0" bIns="0" rtlCol="0" anchor="ctr"/>
          <a:lstStyle/>
          <a:p>
            <a:pPr marL="0" indent="0">
              <a:buNone/>
            </a:pPr>
            <a:r>
              <a:rPr lang="en-US" sz="1400" b="1" dirty="0">
                <a:solidFill>
                  <a:srgbClr val="6090D0"/>
                </a:solidFill>
                <a:latin typeface="Times New Roman" pitchFamily="34" charset="0"/>
                <a:ea typeface="Times New Roman" pitchFamily="34" charset="-122"/>
                <a:cs typeface="Times New Roman" pitchFamily="34" charset="-120"/>
              </a:rPr>
              <a:t>CIA Impact Classification</a:t>
            </a:r>
            <a:endParaRPr lang="en-US" sz="1400" dirty="0"/>
          </a:p>
        </p:txBody>
      </p:sp>
      <p:sp>
        <p:nvSpPr>
          <p:cNvPr id="26" name="Shape 24"/>
          <p:cNvSpPr/>
          <p:nvPr/>
        </p:nvSpPr>
        <p:spPr>
          <a:xfrm>
            <a:off x="4800600" y="1234440"/>
            <a:ext cx="502920" cy="502920"/>
          </a:xfrm>
          <a:prstGeom prst="ellipse">
            <a:avLst/>
          </a:prstGeom>
          <a:solidFill>
            <a:srgbClr val="8060C0"/>
          </a:solidFill>
          <a:ln w="12700">
            <a:solidFill>
              <a:srgbClr val="8060C0"/>
            </a:solidFill>
            <a:prstDash val="solid"/>
          </a:ln>
        </p:spPr>
      </p:sp>
      <p:sp>
        <p:nvSpPr>
          <p:cNvPr id="27" name="Text 25"/>
          <p:cNvSpPr/>
          <p:nvPr/>
        </p:nvSpPr>
        <p:spPr>
          <a:xfrm>
            <a:off x="4800600" y="12344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C</a:t>
            </a:r>
            <a:endParaRPr lang="en-US" sz="1800" dirty="0"/>
          </a:p>
        </p:txBody>
      </p:sp>
      <p:sp>
        <p:nvSpPr>
          <p:cNvPr id="28" name="Text 26"/>
          <p:cNvSpPr/>
          <p:nvPr/>
        </p:nvSpPr>
        <p:spPr>
          <a:xfrm>
            <a:off x="5376672" y="1252728"/>
            <a:ext cx="3291840" cy="237744"/>
          </a:xfrm>
          <a:prstGeom prst="rect">
            <a:avLst/>
          </a:prstGeom>
          <a:noFill/>
          <a:ln/>
        </p:spPr>
        <p:txBody>
          <a:bodyPr wrap="square" lIns="0" tIns="0" rIns="0" bIns="0" rtlCol="0" anchor="ctr"/>
          <a:lstStyle/>
          <a:p>
            <a:pPr marL="0" indent="0">
              <a:buNone/>
            </a:pPr>
            <a:r>
              <a:rPr lang="en-US" sz="1300" b="1" dirty="0">
                <a:solidFill>
                  <a:srgbClr val="FFFFFF"/>
                </a:solidFill>
                <a:latin typeface="Times New Roman" pitchFamily="34" charset="0"/>
                <a:ea typeface="Times New Roman" pitchFamily="34" charset="-122"/>
                <a:cs typeface="Times New Roman" pitchFamily="34" charset="-120"/>
              </a:rPr>
              <a:t>Confidentiality</a:t>
            </a:r>
            <a:endParaRPr lang="en-US" sz="1300" dirty="0"/>
          </a:p>
        </p:txBody>
      </p:sp>
      <p:sp>
        <p:nvSpPr>
          <p:cNvPr id="29" name="Text 27"/>
          <p:cNvSpPr/>
          <p:nvPr/>
        </p:nvSpPr>
        <p:spPr>
          <a:xfrm>
            <a:off x="5376672" y="1527048"/>
            <a:ext cx="3291840" cy="411480"/>
          </a:xfrm>
          <a:prstGeom prst="rect">
            <a:avLst/>
          </a:prstGeom>
          <a:noFill/>
          <a:ln/>
        </p:spPr>
        <p:txBody>
          <a:bodyPr wrap="square" lIns="0" tIns="0" rIns="0" bIns="0" rtlCol="0" anchor="ctr"/>
          <a:lstStyle/>
          <a:p>
            <a:pPr marL="0" indent="0">
              <a:buNone/>
            </a:pPr>
            <a:r>
              <a:rPr lang="en-US" sz="1100" dirty="0">
                <a:solidFill>
                  <a:srgbClr val="C8C8C8"/>
                </a:solidFill>
                <a:latin typeface="Times New Roman" pitchFamily="34" charset="0"/>
                <a:ea typeface="Times New Roman" pitchFamily="34" charset="-122"/>
                <a:cs typeface="Times New Roman" pitchFamily="34" charset="-120"/>
              </a:rPr>
              <a:t>Data disclosure risk if exception is misused</a:t>
            </a:r>
            <a:endParaRPr lang="en-US" sz="1100" dirty="0"/>
          </a:p>
        </p:txBody>
      </p:sp>
      <p:sp>
        <p:nvSpPr>
          <p:cNvPr id="30" name="Shape 28"/>
          <p:cNvSpPr/>
          <p:nvPr/>
        </p:nvSpPr>
        <p:spPr>
          <a:xfrm>
            <a:off x="4800600" y="2039112"/>
            <a:ext cx="502920" cy="502920"/>
          </a:xfrm>
          <a:prstGeom prst="ellipse">
            <a:avLst/>
          </a:prstGeom>
          <a:solidFill>
            <a:srgbClr val="306090"/>
          </a:solidFill>
          <a:ln w="12700">
            <a:solidFill>
              <a:srgbClr val="306090"/>
            </a:solidFill>
            <a:prstDash val="solid"/>
          </a:ln>
        </p:spPr>
      </p:sp>
      <p:sp>
        <p:nvSpPr>
          <p:cNvPr id="31" name="Text 29"/>
          <p:cNvSpPr/>
          <p:nvPr/>
        </p:nvSpPr>
        <p:spPr>
          <a:xfrm>
            <a:off x="4800600" y="203911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I</a:t>
            </a:r>
            <a:endParaRPr lang="en-US" sz="1800" dirty="0"/>
          </a:p>
        </p:txBody>
      </p:sp>
      <p:sp>
        <p:nvSpPr>
          <p:cNvPr id="32" name="Text 30"/>
          <p:cNvSpPr/>
          <p:nvPr/>
        </p:nvSpPr>
        <p:spPr>
          <a:xfrm>
            <a:off x="5376672" y="2057400"/>
            <a:ext cx="3291840" cy="237744"/>
          </a:xfrm>
          <a:prstGeom prst="rect">
            <a:avLst/>
          </a:prstGeom>
          <a:noFill/>
          <a:ln/>
        </p:spPr>
        <p:txBody>
          <a:bodyPr wrap="square" lIns="0" tIns="0" rIns="0" bIns="0" rtlCol="0" anchor="ctr"/>
          <a:lstStyle/>
          <a:p>
            <a:pPr marL="0" indent="0">
              <a:buNone/>
            </a:pPr>
            <a:r>
              <a:rPr lang="en-US" sz="1300" b="1" dirty="0">
                <a:solidFill>
                  <a:srgbClr val="FFFFFF"/>
                </a:solidFill>
                <a:latin typeface="Times New Roman" pitchFamily="34" charset="0"/>
                <a:ea typeface="Times New Roman" pitchFamily="34" charset="-122"/>
                <a:cs typeface="Times New Roman" pitchFamily="34" charset="-120"/>
              </a:rPr>
              <a:t>Integrity</a:t>
            </a:r>
            <a:endParaRPr lang="en-US" sz="1300" dirty="0"/>
          </a:p>
        </p:txBody>
      </p:sp>
      <p:sp>
        <p:nvSpPr>
          <p:cNvPr id="33" name="Text 31"/>
          <p:cNvSpPr/>
          <p:nvPr/>
        </p:nvSpPr>
        <p:spPr>
          <a:xfrm>
            <a:off x="5376672" y="2331720"/>
            <a:ext cx="3291840" cy="411480"/>
          </a:xfrm>
          <a:prstGeom prst="rect">
            <a:avLst/>
          </a:prstGeom>
          <a:noFill/>
          <a:ln/>
        </p:spPr>
        <p:txBody>
          <a:bodyPr wrap="square" lIns="0" tIns="0" rIns="0" bIns="0" rtlCol="0" anchor="ctr"/>
          <a:lstStyle/>
          <a:p>
            <a:pPr marL="0" indent="0">
              <a:buNone/>
            </a:pPr>
            <a:r>
              <a:rPr lang="en-US" sz="1100" dirty="0">
                <a:solidFill>
                  <a:srgbClr val="C8C8C8"/>
                </a:solidFill>
                <a:latin typeface="Times New Roman" pitchFamily="34" charset="0"/>
                <a:ea typeface="Times New Roman" pitchFamily="34" charset="-122"/>
                <a:cs typeface="Times New Roman" pitchFamily="34" charset="-120"/>
              </a:rPr>
              <a:t>Data accuracy at risk from unauthorized changes</a:t>
            </a:r>
            <a:endParaRPr lang="en-US" sz="1100" dirty="0"/>
          </a:p>
        </p:txBody>
      </p:sp>
      <p:sp>
        <p:nvSpPr>
          <p:cNvPr id="34" name="Shape 32"/>
          <p:cNvSpPr/>
          <p:nvPr/>
        </p:nvSpPr>
        <p:spPr>
          <a:xfrm>
            <a:off x="4800600" y="2843784"/>
            <a:ext cx="502920" cy="502920"/>
          </a:xfrm>
          <a:prstGeom prst="ellipse">
            <a:avLst/>
          </a:prstGeom>
          <a:solidFill>
            <a:srgbClr val="207040"/>
          </a:solidFill>
          <a:ln w="12700">
            <a:solidFill>
              <a:srgbClr val="207040"/>
            </a:solidFill>
            <a:prstDash val="solid"/>
          </a:ln>
        </p:spPr>
      </p:sp>
      <p:sp>
        <p:nvSpPr>
          <p:cNvPr id="35" name="Text 33"/>
          <p:cNvSpPr/>
          <p:nvPr/>
        </p:nvSpPr>
        <p:spPr>
          <a:xfrm>
            <a:off x="4800600" y="2843784"/>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A</a:t>
            </a:r>
            <a:endParaRPr lang="en-US" sz="1800" dirty="0"/>
          </a:p>
        </p:txBody>
      </p:sp>
      <p:sp>
        <p:nvSpPr>
          <p:cNvPr id="36" name="Text 34"/>
          <p:cNvSpPr/>
          <p:nvPr/>
        </p:nvSpPr>
        <p:spPr>
          <a:xfrm>
            <a:off x="5376672" y="2862072"/>
            <a:ext cx="3291840" cy="237744"/>
          </a:xfrm>
          <a:prstGeom prst="rect">
            <a:avLst/>
          </a:prstGeom>
          <a:noFill/>
          <a:ln/>
        </p:spPr>
        <p:txBody>
          <a:bodyPr wrap="square" lIns="0" tIns="0" rIns="0" bIns="0" rtlCol="0" anchor="ctr"/>
          <a:lstStyle/>
          <a:p>
            <a:pPr marL="0" indent="0">
              <a:buNone/>
            </a:pPr>
            <a:r>
              <a:rPr lang="en-US" sz="1300" b="1" dirty="0">
                <a:solidFill>
                  <a:srgbClr val="FFFFFF"/>
                </a:solidFill>
                <a:latin typeface="Times New Roman" pitchFamily="34" charset="0"/>
                <a:ea typeface="Times New Roman" pitchFamily="34" charset="-122"/>
                <a:cs typeface="Times New Roman" pitchFamily="34" charset="-120"/>
              </a:rPr>
              <a:t>Availability</a:t>
            </a:r>
            <a:endParaRPr lang="en-US" sz="1300" dirty="0"/>
          </a:p>
        </p:txBody>
      </p:sp>
      <p:sp>
        <p:nvSpPr>
          <p:cNvPr id="37" name="Text 35"/>
          <p:cNvSpPr/>
          <p:nvPr/>
        </p:nvSpPr>
        <p:spPr>
          <a:xfrm>
            <a:off x="5376672" y="3136392"/>
            <a:ext cx="3291840" cy="411480"/>
          </a:xfrm>
          <a:prstGeom prst="rect">
            <a:avLst/>
          </a:prstGeom>
          <a:noFill/>
          <a:ln/>
        </p:spPr>
        <p:txBody>
          <a:bodyPr wrap="square" lIns="0" tIns="0" rIns="0" bIns="0" rtlCol="0" anchor="ctr"/>
          <a:lstStyle/>
          <a:p>
            <a:pPr marL="0" indent="0">
              <a:buNone/>
            </a:pPr>
            <a:r>
              <a:rPr lang="en-US" sz="1100" dirty="0">
                <a:solidFill>
                  <a:srgbClr val="C8C8C8"/>
                </a:solidFill>
                <a:latin typeface="Times New Roman" pitchFamily="34" charset="0"/>
                <a:ea typeface="Times New Roman" pitchFamily="34" charset="-122"/>
                <a:cs typeface="Times New Roman" pitchFamily="34" charset="-120"/>
              </a:rPr>
              <a:t>Service disruption risk if exception expires</a:t>
            </a:r>
            <a:endParaRPr lang="en-US" sz="1100" dirty="0"/>
          </a:p>
        </p:txBody>
      </p:sp>
      <p:sp>
        <p:nvSpPr>
          <p:cNvPr id="38" name="Shape 36"/>
          <p:cNvSpPr/>
          <p:nvPr/>
        </p:nvSpPr>
        <p:spPr>
          <a:xfrm>
            <a:off x="4800600" y="3648456"/>
            <a:ext cx="502920" cy="502920"/>
          </a:xfrm>
          <a:prstGeom prst="ellipse">
            <a:avLst/>
          </a:prstGeom>
          <a:solidFill>
            <a:srgbClr val="804020"/>
          </a:solidFill>
          <a:ln w="12700">
            <a:solidFill>
              <a:srgbClr val="804020"/>
            </a:solidFill>
            <a:prstDash val="solid"/>
          </a:ln>
        </p:spPr>
      </p:sp>
      <p:sp>
        <p:nvSpPr>
          <p:cNvPr id="39" name="Text 37"/>
          <p:cNvSpPr/>
          <p:nvPr/>
        </p:nvSpPr>
        <p:spPr>
          <a:xfrm>
            <a:off x="4800600" y="3648456"/>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M</a:t>
            </a:r>
            <a:endParaRPr lang="en-US" sz="1800" dirty="0"/>
          </a:p>
        </p:txBody>
      </p:sp>
      <p:sp>
        <p:nvSpPr>
          <p:cNvPr id="40" name="Text 38"/>
          <p:cNvSpPr/>
          <p:nvPr/>
        </p:nvSpPr>
        <p:spPr>
          <a:xfrm>
            <a:off x="5376672" y="3666744"/>
            <a:ext cx="3291840" cy="237744"/>
          </a:xfrm>
          <a:prstGeom prst="rect">
            <a:avLst/>
          </a:prstGeom>
          <a:noFill/>
          <a:ln/>
        </p:spPr>
        <p:txBody>
          <a:bodyPr wrap="square" lIns="0" tIns="0" rIns="0" bIns="0" rtlCol="0" anchor="ctr"/>
          <a:lstStyle/>
          <a:p>
            <a:pPr marL="0" indent="0">
              <a:buNone/>
            </a:pPr>
            <a:r>
              <a:rPr lang="en-US" sz="1300" b="1" dirty="0">
                <a:solidFill>
                  <a:srgbClr val="FFFFFF"/>
                </a:solidFill>
                <a:latin typeface="Times New Roman" pitchFamily="34" charset="0"/>
                <a:ea typeface="Times New Roman" pitchFamily="34" charset="-122"/>
                <a:cs typeface="Times New Roman" pitchFamily="34" charset="-120"/>
              </a:rPr>
              <a:t>Multiple</a:t>
            </a:r>
            <a:endParaRPr lang="en-US" sz="1300" dirty="0"/>
          </a:p>
        </p:txBody>
      </p:sp>
      <p:sp>
        <p:nvSpPr>
          <p:cNvPr id="41" name="Text 39"/>
          <p:cNvSpPr/>
          <p:nvPr/>
        </p:nvSpPr>
        <p:spPr>
          <a:xfrm>
            <a:off x="5376672" y="3941064"/>
            <a:ext cx="3291840" cy="411480"/>
          </a:xfrm>
          <a:prstGeom prst="rect">
            <a:avLst/>
          </a:prstGeom>
          <a:noFill/>
          <a:ln/>
        </p:spPr>
        <p:txBody>
          <a:bodyPr wrap="square" lIns="0" tIns="0" rIns="0" bIns="0" rtlCol="0" anchor="ctr"/>
          <a:lstStyle/>
          <a:p>
            <a:pPr marL="0" indent="0">
              <a:buNone/>
            </a:pPr>
            <a:r>
              <a:rPr lang="en-US" sz="1100" dirty="0">
                <a:solidFill>
                  <a:srgbClr val="C8C8C8"/>
                </a:solidFill>
                <a:latin typeface="Times New Roman" pitchFamily="34" charset="0"/>
                <a:ea typeface="Times New Roman" pitchFamily="34" charset="-122"/>
                <a:cs typeface="Times New Roman" pitchFamily="34" charset="-120"/>
              </a:rPr>
              <a:t>Exceptions impacting more than one CIA dimension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6E0000"/>
          </a:solidFill>
          <a:ln w="12700">
            <a:solidFill>
              <a:srgbClr val="6E0000"/>
            </a:solidFill>
            <a:prstDash val="solid"/>
          </a:ln>
        </p:spPr>
      </p:sp>
      <p:sp>
        <p:nvSpPr>
          <p:cNvPr id="3" name="Shape 1"/>
          <p:cNvSpPr/>
          <p:nvPr/>
        </p:nvSpPr>
        <p:spPr>
          <a:xfrm>
            <a:off x="0" y="4983480"/>
            <a:ext cx="9144000" cy="160020"/>
          </a:xfrm>
          <a:prstGeom prst="rect">
            <a:avLst/>
          </a:prstGeom>
          <a:solidFill>
            <a:srgbClr val="6E0000"/>
          </a:solidFill>
          <a:ln w="12700">
            <a:solidFill>
              <a:srgbClr val="6E0000"/>
            </a:solidFill>
            <a:prstDash val="solid"/>
          </a:ln>
        </p:spPr>
      </p:sp>
      <p:sp>
        <p:nvSpPr>
          <p:cNvPr id="4" name="Text 2"/>
          <p:cNvSpPr/>
          <p:nvPr/>
        </p:nvSpPr>
        <p:spPr>
          <a:xfrm>
            <a:off x="365760" y="64008"/>
            <a:ext cx="7863840" cy="438912"/>
          </a:xfrm>
          <a:prstGeom prst="rect">
            <a:avLst/>
          </a:prstGeom>
          <a:noFill/>
          <a:ln/>
        </p:spPr>
        <p:txBody>
          <a:bodyPr wrap="square" lIns="0" tIns="0" rIns="0" bIns="0" rtlCol="0" anchor="ctr"/>
          <a:lstStyle/>
          <a:p>
            <a:pPr marL="0" indent="0">
              <a:buNone/>
            </a:pPr>
            <a:r>
              <a:rPr lang="en-US" sz="2100" b="1" dirty="0">
                <a:solidFill>
                  <a:srgbClr val="FFFFFF"/>
                </a:solidFill>
                <a:latin typeface="Times New Roman" pitchFamily="34" charset="0"/>
                <a:ea typeface="Times New Roman" pitchFamily="34" charset="-122"/>
                <a:cs typeface="Times New Roman" pitchFamily="34" charset="-120"/>
              </a:rPr>
              <a:t>Live Demo Walkthrough</a:t>
            </a:r>
            <a:endParaRPr lang="en-US" sz="2100" dirty="0"/>
          </a:p>
        </p:txBody>
      </p:sp>
      <p:sp>
        <p:nvSpPr>
          <p:cNvPr id="5" name="Text 3"/>
          <p:cNvSpPr/>
          <p:nvPr/>
        </p:nvSpPr>
        <p:spPr>
          <a:xfrm>
            <a:off x="7955280" y="64008"/>
            <a:ext cx="914400" cy="438912"/>
          </a:xfrm>
          <a:prstGeom prst="rect">
            <a:avLst/>
          </a:prstGeom>
          <a:noFill/>
          <a:ln/>
        </p:spPr>
        <p:txBody>
          <a:bodyPr wrap="square" lIns="0" tIns="0" rIns="0" bIns="0" rtlCol="0" anchor="ctr"/>
          <a:lstStyle/>
          <a:p>
            <a:pPr marL="0" indent="0" algn="r">
              <a:buNone/>
            </a:pPr>
            <a:r>
              <a:rPr lang="en-US" sz="1100" dirty="0">
                <a:solidFill>
                  <a:srgbClr val="C8C8C8"/>
                </a:solidFill>
                <a:latin typeface="Times New Roman" pitchFamily="34" charset="0"/>
                <a:ea typeface="Times New Roman" pitchFamily="34" charset="-122"/>
                <a:cs typeface="Times New Roman" pitchFamily="34" charset="-120"/>
              </a:rPr>
              <a:t>11/12</a:t>
            </a:r>
            <a:endParaRPr lang="en-US" sz="1100" dirty="0"/>
          </a:p>
        </p:txBody>
      </p:sp>
      <p:sp>
        <p:nvSpPr>
          <p:cNvPr id="6" name="Text 4"/>
          <p:cNvSpPr/>
          <p:nvPr/>
        </p:nvSpPr>
        <p:spPr>
          <a:xfrm>
            <a:off x="365760" y="4983480"/>
            <a:ext cx="8412480" cy="160020"/>
          </a:xfrm>
          <a:prstGeom prst="rect">
            <a:avLst/>
          </a:prstGeom>
          <a:noFill/>
          <a:ln/>
        </p:spPr>
        <p:txBody>
          <a:bodyPr wrap="square" lIns="0" tIns="0" rIns="0" bIns="0" rtlCol="0" anchor="ctr"/>
          <a:lstStyle/>
          <a:p>
            <a:pPr marL="0" indent="0">
              <a:buNone/>
            </a:pPr>
            <a:r>
              <a:rPr lang="en-US" sz="800" dirty="0">
                <a:solidFill>
                  <a:srgbClr val="C8C8C8"/>
                </a:solidFill>
                <a:latin typeface="Times New Roman" pitchFamily="34" charset="0"/>
                <a:ea typeface="Times New Roman" pitchFamily="34" charset="-122"/>
                <a:cs typeface="Times New Roman" pitchFamily="34" charset="-120"/>
              </a:rPr>
              <a:t>RiskWaiver360  ·  GRC Exception &amp; Policy Waiver Management  ·  RVCE 2026</a:t>
            </a:r>
            <a:endParaRPr lang="en-US" sz="800" dirty="0"/>
          </a:p>
        </p:txBody>
      </p:sp>
      <p:sp>
        <p:nvSpPr>
          <p:cNvPr id="7" name="Shape 5"/>
          <p:cNvSpPr/>
          <p:nvPr/>
        </p:nvSpPr>
        <p:spPr>
          <a:xfrm>
            <a:off x="274320" y="658368"/>
            <a:ext cx="1325880" cy="640080"/>
          </a:xfrm>
          <a:prstGeom prst="rect">
            <a:avLst/>
          </a:prstGeom>
          <a:solidFill>
            <a:srgbClr val="6E0000"/>
          </a:solidFill>
          <a:ln w="12700">
            <a:solidFill>
              <a:srgbClr val="C41010"/>
            </a:solidFill>
            <a:prstDash val="solid"/>
          </a:ln>
          <a:effectLst>
            <a:outerShdw blurRad="127000" dist="38100" dir="8100000" algn="bl" rotWithShape="0">
              <a:srgbClr val="000000">
                <a:alpha val="45000"/>
              </a:srgbClr>
            </a:outerShdw>
          </a:effectLst>
        </p:spPr>
      </p:sp>
      <p:sp>
        <p:nvSpPr>
          <p:cNvPr id="8" name="Text 6"/>
          <p:cNvSpPr/>
          <p:nvPr/>
        </p:nvSpPr>
        <p:spPr>
          <a:xfrm>
            <a:off x="310896" y="658368"/>
            <a:ext cx="256032" cy="640080"/>
          </a:xfrm>
          <a:prstGeom prst="rect">
            <a:avLst/>
          </a:prstGeom>
          <a:noFill/>
          <a:ln/>
        </p:spPr>
        <p:txBody>
          <a:bodyPr wrap="square" lIns="0" tIns="0" rIns="0" bIns="0" rtlCol="0" anchor="ctr"/>
          <a:lstStyle/>
          <a:p>
            <a:pPr marL="0" indent="0" algn="ctr">
              <a:buNone/>
            </a:pPr>
            <a:r>
              <a:rPr lang="en-US" sz="1200" b="1" dirty="0">
                <a:solidFill>
                  <a:srgbClr val="E84040"/>
                </a:solidFill>
                <a:latin typeface="Times New Roman" pitchFamily="34" charset="0"/>
                <a:ea typeface="Times New Roman" pitchFamily="34" charset="-122"/>
                <a:cs typeface="Times New Roman" pitchFamily="34" charset="-120"/>
              </a:rPr>
              <a:t>1</a:t>
            </a:r>
            <a:endParaRPr lang="en-US" sz="1200" dirty="0"/>
          </a:p>
        </p:txBody>
      </p:sp>
      <p:sp>
        <p:nvSpPr>
          <p:cNvPr id="9" name="Text 7"/>
          <p:cNvSpPr/>
          <p:nvPr/>
        </p:nvSpPr>
        <p:spPr>
          <a:xfrm>
            <a:off x="585216" y="694944"/>
            <a:ext cx="960120" cy="274320"/>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Home Page</a:t>
            </a:r>
            <a:endParaRPr lang="en-US" sz="1100" dirty="0"/>
          </a:p>
        </p:txBody>
      </p:sp>
      <p:sp>
        <p:nvSpPr>
          <p:cNvPr id="10" name="Text 8"/>
          <p:cNvSpPr/>
          <p:nvPr/>
        </p:nvSpPr>
        <p:spPr>
          <a:xfrm>
            <a:off x="585216" y="969264"/>
            <a:ext cx="960120" cy="274320"/>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Marketing + role cards</a:t>
            </a:r>
            <a:endParaRPr lang="en-US" sz="900" dirty="0"/>
          </a:p>
        </p:txBody>
      </p:sp>
      <p:sp>
        <p:nvSpPr>
          <p:cNvPr id="11" name="Text 9"/>
          <p:cNvSpPr/>
          <p:nvPr/>
        </p:nvSpPr>
        <p:spPr>
          <a:xfrm>
            <a:off x="1600200" y="804672"/>
            <a:ext cx="128016" cy="347472"/>
          </a:xfrm>
          <a:prstGeom prst="rect">
            <a:avLst/>
          </a:prstGeom>
          <a:noFill/>
          <a:ln/>
        </p:spPr>
        <p:txBody>
          <a:bodyPr wrap="square" lIns="0" tIns="0" rIns="0" bIns="0" rtlCol="0" anchor="ctr"/>
          <a:lstStyle/>
          <a:p>
            <a:pPr marL="0" indent="0" algn="ctr">
              <a:buNone/>
            </a:pPr>
            <a:r>
              <a:rPr lang="en-US" sz="1200" dirty="0">
                <a:solidFill>
                  <a:srgbClr val="C41010"/>
                </a:solidFill>
              </a:rPr>
              <a:t>›</a:t>
            </a:r>
            <a:endParaRPr lang="en-US" sz="1200" dirty="0"/>
          </a:p>
        </p:txBody>
      </p:sp>
      <p:sp>
        <p:nvSpPr>
          <p:cNvPr id="12" name="Shape 10"/>
          <p:cNvSpPr/>
          <p:nvPr/>
        </p:nvSpPr>
        <p:spPr>
          <a:xfrm>
            <a:off x="1737360" y="658368"/>
            <a:ext cx="1325880" cy="640080"/>
          </a:xfrm>
          <a:prstGeom prst="rect">
            <a:avLst/>
          </a:prstGeom>
          <a:solidFill>
            <a:srgbClr val="6E0000"/>
          </a:solidFill>
          <a:ln w="12700">
            <a:solidFill>
              <a:srgbClr val="C41010"/>
            </a:solidFill>
            <a:prstDash val="solid"/>
          </a:ln>
          <a:effectLst>
            <a:outerShdw blurRad="127000" dist="38100" dir="8100000" algn="bl" rotWithShape="0">
              <a:srgbClr val="000000">
                <a:alpha val="45000"/>
              </a:srgbClr>
            </a:outerShdw>
          </a:effectLst>
        </p:spPr>
      </p:sp>
      <p:sp>
        <p:nvSpPr>
          <p:cNvPr id="13" name="Text 11"/>
          <p:cNvSpPr/>
          <p:nvPr/>
        </p:nvSpPr>
        <p:spPr>
          <a:xfrm>
            <a:off x="1773936" y="658368"/>
            <a:ext cx="256032" cy="640080"/>
          </a:xfrm>
          <a:prstGeom prst="rect">
            <a:avLst/>
          </a:prstGeom>
          <a:noFill/>
          <a:ln/>
        </p:spPr>
        <p:txBody>
          <a:bodyPr wrap="square" lIns="0" tIns="0" rIns="0" bIns="0" rtlCol="0" anchor="ctr"/>
          <a:lstStyle/>
          <a:p>
            <a:pPr marL="0" indent="0" algn="ctr">
              <a:buNone/>
            </a:pPr>
            <a:r>
              <a:rPr lang="en-US" sz="1200" b="1" dirty="0">
                <a:solidFill>
                  <a:srgbClr val="E84040"/>
                </a:solidFill>
                <a:latin typeface="Times New Roman" pitchFamily="34" charset="0"/>
                <a:ea typeface="Times New Roman" pitchFamily="34" charset="-122"/>
                <a:cs typeface="Times New Roman" pitchFamily="34" charset="-120"/>
              </a:rPr>
              <a:t>2</a:t>
            </a:r>
            <a:endParaRPr lang="en-US" sz="1200" dirty="0"/>
          </a:p>
        </p:txBody>
      </p:sp>
      <p:sp>
        <p:nvSpPr>
          <p:cNvPr id="14" name="Text 12"/>
          <p:cNvSpPr/>
          <p:nvPr/>
        </p:nvSpPr>
        <p:spPr>
          <a:xfrm>
            <a:off x="2048256" y="694944"/>
            <a:ext cx="960120" cy="274320"/>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Login</a:t>
            </a:r>
            <a:endParaRPr lang="en-US" sz="1100" dirty="0"/>
          </a:p>
        </p:txBody>
      </p:sp>
      <p:sp>
        <p:nvSpPr>
          <p:cNvPr id="15" name="Text 13"/>
          <p:cNvSpPr/>
          <p:nvPr/>
        </p:nvSpPr>
        <p:spPr>
          <a:xfrm>
            <a:off x="2048256" y="969264"/>
            <a:ext cx="960120" cy="274320"/>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Demo role selection</a:t>
            </a:r>
            <a:endParaRPr lang="en-US" sz="900" dirty="0"/>
          </a:p>
        </p:txBody>
      </p:sp>
      <p:sp>
        <p:nvSpPr>
          <p:cNvPr id="16" name="Text 14"/>
          <p:cNvSpPr/>
          <p:nvPr/>
        </p:nvSpPr>
        <p:spPr>
          <a:xfrm>
            <a:off x="3063240" y="804672"/>
            <a:ext cx="128016" cy="347472"/>
          </a:xfrm>
          <a:prstGeom prst="rect">
            <a:avLst/>
          </a:prstGeom>
          <a:noFill/>
          <a:ln/>
        </p:spPr>
        <p:txBody>
          <a:bodyPr wrap="square" lIns="0" tIns="0" rIns="0" bIns="0" rtlCol="0" anchor="ctr"/>
          <a:lstStyle/>
          <a:p>
            <a:pPr marL="0" indent="0" algn="ctr">
              <a:buNone/>
            </a:pPr>
            <a:r>
              <a:rPr lang="en-US" sz="1200" dirty="0">
                <a:solidFill>
                  <a:srgbClr val="C41010"/>
                </a:solidFill>
              </a:rPr>
              <a:t>›</a:t>
            </a:r>
            <a:endParaRPr lang="en-US" sz="1200" dirty="0"/>
          </a:p>
        </p:txBody>
      </p:sp>
      <p:sp>
        <p:nvSpPr>
          <p:cNvPr id="17" name="Shape 15"/>
          <p:cNvSpPr/>
          <p:nvPr/>
        </p:nvSpPr>
        <p:spPr>
          <a:xfrm>
            <a:off x="3200400" y="658368"/>
            <a:ext cx="1325880" cy="640080"/>
          </a:xfrm>
          <a:prstGeom prst="rect">
            <a:avLst/>
          </a:prstGeom>
          <a:solidFill>
            <a:srgbClr val="6E0000"/>
          </a:solidFill>
          <a:ln w="12700">
            <a:solidFill>
              <a:srgbClr val="C41010"/>
            </a:solidFill>
            <a:prstDash val="solid"/>
          </a:ln>
          <a:effectLst>
            <a:outerShdw blurRad="127000" dist="38100" dir="8100000" algn="bl" rotWithShape="0">
              <a:srgbClr val="000000">
                <a:alpha val="45000"/>
              </a:srgbClr>
            </a:outerShdw>
          </a:effectLst>
        </p:spPr>
      </p:sp>
      <p:sp>
        <p:nvSpPr>
          <p:cNvPr id="18" name="Text 16"/>
          <p:cNvSpPr/>
          <p:nvPr/>
        </p:nvSpPr>
        <p:spPr>
          <a:xfrm>
            <a:off x="3236976" y="658368"/>
            <a:ext cx="256032" cy="640080"/>
          </a:xfrm>
          <a:prstGeom prst="rect">
            <a:avLst/>
          </a:prstGeom>
          <a:noFill/>
          <a:ln/>
        </p:spPr>
        <p:txBody>
          <a:bodyPr wrap="square" lIns="0" tIns="0" rIns="0" bIns="0" rtlCol="0" anchor="ctr"/>
          <a:lstStyle/>
          <a:p>
            <a:pPr marL="0" indent="0" algn="ctr">
              <a:buNone/>
            </a:pPr>
            <a:r>
              <a:rPr lang="en-US" sz="1200" b="1" dirty="0">
                <a:solidFill>
                  <a:srgbClr val="E84040"/>
                </a:solidFill>
                <a:latin typeface="Times New Roman" pitchFamily="34" charset="0"/>
                <a:ea typeface="Times New Roman" pitchFamily="34" charset="-122"/>
                <a:cs typeface="Times New Roman" pitchFamily="34" charset="-120"/>
              </a:rPr>
              <a:t>3</a:t>
            </a:r>
            <a:endParaRPr lang="en-US" sz="1200" dirty="0"/>
          </a:p>
        </p:txBody>
      </p:sp>
      <p:sp>
        <p:nvSpPr>
          <p:cNvPr id="19" name="Text 17"/>
          <p:cNvSpPr/>
          <p:nvPr/>
        </p:nvSpPr>
        <p:spPr>
          <a:xfrm>
            <a:off x="3511296" y="694944"/>
            <a:ext cx="960120" cy="274320"/>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Dashboard</a:t>
            </a:r>
            <a:endParaRPr lang="en-US" sz="1100" dirty="0"/>
          </a:p>
        </p:txBody>
      </p:sp>
      <p:sp>
        <p:nvSpPr>
          <p:cNvPr id="20" name="Text 18"/>
          <p:cNvSpPr/>
          <p:nvPr/>
        </p:nvSpPr>
        <p:spPr>
          <a:xfrm>
            <a:off x="3511296" y="969264"/>
            <a:ext cx="960120" cy="274320"/>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GRC Command Center</a:t>
            </a:r>
            <a:endParaRPr lang="en-US" sz="900" dirty="0"/>
          </a:p>
        </p:txBody>
      </p:sp>
      <p:sp>
        <p:nvSpPr>
          <p:cNvPr id="21" name="Text 19"/>
          <p:cNvSpPr/>
          <p:nvPr/>
        </p:nvSpPr>
        <p:spPr>
          <a:xfrm>
            <a:off x="4526280" y="804672"/>
            <a:ext cx="128016" cy="347472"/>
          </a:xfrm>
          <a:prstGeom prst="rect">
            <a:avLst/>
          </a:prstGeom>
          <a:noFill/>
          <a:ln/>
        </p:spPr>
        <p:txBody>
          <a:bodyPr wrap="square" lIns="0" tIns="0" rIns="0" bIns="0" rtlCol="0" anchor="ctr"/>
          <a:lstStyle/>
          <a:p>
            <a:pPr marL="0" indent="0" algn="ctr">
              <a:buNone/>
            </a:pPr>
            <a:r>
              <a:rPr lang="en-US" sz="1200" dirty="0">
                <a:solidFill>
                  <a:srgbClr val="C41010"/>
                </a:solidFill>
              </a:rPr>
              <a:t>›</a:t>
            </a:r>
            <a:endParaRPr lang="en-US" sz="1200" dirty="0"/>
          </a:p>
        </p:txBody>
      </p:sp>
      <p:sp>
        <p:nvSpPr>
          <p:cNvPr id="22" name="Shape 20"/>
          <p:cNvSpPr/>
          <p:nvPr/>
        </p:nvSpPr>
        <p:spPr>
          <a:xfrm>
            <a:off x="4663440" y="658368"/>
            <a:ext cx="1325880" cy="640080"/>
          </a:xfrm>
          <a:prstGeom prst="rect">
            <a:avLst/>
          </a:prstGeom>
          <a:solidFill>
            <a:srgbClr val="6E0000"/>
          </a:solidFill>
          <a:ln w="12700">
            <a:solidFill>
              <a:srgbClr val="C41010"/>
            </a:solidFill>
            <a:prstDash val="solid"/>
          </a:ln>
          <a:effectLst>
            <a:outerShdw blurRad="127000" dist="38100" dir="8100000" algn="bl" rotWithShape="0">
              <a:srgbClr val="000000">
                <a:alpha val="45000"/>
              </a:srgbClr>
            </a:outerShdw>
          </a:effectLst>
        </p:spPr>
      </p:sp>
      <p:sp>
        <p:nvSpPr>
          <p:cNvPr id="23" name="Text 21"/>
          <p:cNvSpPr/>
          <p:nvPr/>
        </p:nvSpPr>
        <p:spPr>
          <a:xfrm>
            <a:off x="4700016" y="658368"/>
            <a:ext cx="256032" cy="640080"/>
          </a:xfrm>
          <a:prstGeom prst="rect">
            <a:avLst/>
          </a:prstGeom>
          <a:noFill/>
          <a:ln/>
        </p:spPr>
        <p:txBody>
          <a:bodyPr wrap="square" lIns="0" tIns="0" rIns="0" bIns="0" rtlCol="0" anchor="ctr"/>
          <a:lstStyle/>
          <a:p>
            <a:pPr marL="0" indent="0" algn="ctr">
              <a:buNone/>
            </a:pPr>
            <a:r>
              <a:rPr lang="en-US" sz="1200" b="1" dirty="0">
                <a:solidFill>
                  <a:srgbClr val="E84040"/>
                </a:solidFill>
                <a:latin typeface="Times New Roman" pitchFamily="34" charset="0"/>
                <a:ea typeface="Times New Roman" pitchFamily="34" charset="-122"/>
                <a:cs typeface="Times New Roman" pitchFamily="34" charset="-120"/>
              </a:rPr>
              <a:t>4</a:t>
            </a:r>
            <a:endParaRPr lang="en-US" sz="1200" dirty="0"/>
          </a:p>
        </p:txBody>
      </p:sp>
      <p:sp>
        <p:nvSpPr>
          <p:cNvPr id="24" name="Text 22"/>
          <p:cNvSpPr/>
          <p:nvPr/>
        </p:nvSpPr>
        <p:spPr>
          <a:xfrm>
            <a:off x="4974336" y="694944"/>
            <a:ext cx="960120" cy="274320"/>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Risk Register</a:t>
            </a:r>
            <a:endParaRPr lang="en-US" sz="1100" dirty="0"/>
          </a:p>
        </p:txBody>
      </p:sp>
      <p:sp>
        <p:nvSpPr>
          <p:cNvPr id="25" name="Text 23"/>
          <p:cNvSpPr/>
          <p:nvPr/>
        </p:nvSpPr>
        <p:spPr>
          <a:xfrm>
            <a:off x="4974336" y="969264"/>
            <a:ext cx="960120" cy="274320"/>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600 exceptions, filter &amp; search</a:t>
            </a:r>
            <a:endParaRPr lang="en-US" sz="900" dirty="0"/>
          </a:p>
        </p:txBody>
      </p:sp>
      <p:sp>
        <p:nvSpPr>
          <p:cNvPr id="26" name="Text 24"/>
          <p:cNvSpPr/>
          <p:nvPr/>
        </p:nvSpPr>
        <p:spPr>
          <a:xfrm>
            <a:off x="5989320" y="804672"/>
            <a:ext cx="128016" cy="347472"/>
          </a:xfrm>
          <a:prstGeom prst="rect">
            <a:avLst/>
          </a:prstGeom>
          <a:noFill/>
          <a:ln/>
        </p:spPr>
        <p:txBody>
          <a:bodyPr wrap="square" lIns="0" tIns="0" rIns="0" bIns="0" rtlCol="0" anchor="ctr"/>
          <a:lstStyle/>
          <a:p>
            <a:pPr marL="0" indent="0" algn="ctr">
              <a:buNone/>
            </a:pPr>
            <a:r>
              <a:rPr lang="en-US" sz="1200" dirty="0">
                <a:solidFill>
                  <a:srgbClr val="C41010"/>
                </a:solidFill>
              </a:rPr>
              <a:t>›</a:t>
            </a:r>
            <a:endParaRPr lang="en-US" sz="1200" dirty="0"/>
          </a:p>
        </p:txBody>
      </p:sp>
      <p:sp>
        <p:nvSpPr>
          <p:cNvPr id="27" name="Shape 25"/>
          <p:cNvSpPr/>
          <p:nvPr/>
        </p:nvSpPr>
        <p:spPr>
          <a:xfrm>
            <a:off x="6126480" y="658368"/>
            <a:ext cx="1325880" cy="640080"/>
          </a:xfrm>
          <a:prstGeom prst="rect">
            <a:avLst/>
          </a:prstGeom>
          <a:solidFill>
            <a:srgbClr val="6E0000"/>
          </a:solidFill>
          <a:ln w="12700">
            <a:solidFill>
              <a:srgbClr val="C41010"/>
            </a:solidFill>
            <a:prstDash val="solid"/>
          </a:ln>
          <a:effectLst>
            <a:outerShdw blurRad="127000" dist="38100" dir="8100000" algn="bl" rotWithShape="0">
              <a:srgbClr val="000000">
                <a:alpha val="45000"/>
              </a:srgbClr>
            </a:outerShdw>
          </a:effectLst>
        </p:spPr>
      </p:sp>
      <p:sp>
        <p:nvSpPr>
          <p:cNvPr id="28" name="Text 26"/>
          <p:cNvSpPr/>
          <p:nvPr/>
        </p:nvSpPr>
        <p:spPr>
          <a:xfrm>
            <a:off x="6163056" y="658368"/>
            <a:ext cx="256032" cy="640080"/>
          </a:xfrm>
          <a:prstGeom prst="rect">
            <a:avLst/>
          </a:prstGeom>
          <a:noFill/>
          <a:ln/>
        </p:spPr>
        <p:txBody>
          <a:bodyPr wrap="square" lIns="0" tIns="0" rIns="0" bIns="0" rtlCol="0" anchor="ctr"/>
          <a:lstStyle/>
          <a:p>
            <a:pPr marL="0" indent="0" algn="ctr">
              <a:buNone/>
            </a:pPr>
            <a:r>
              <a:rPr lang="en-US" sz="1200" b="1" dirty="0">
                <a:solidFill>
                  <a:srgbClr val="E84040"/>
                </a:solidFill>
                <a:latin typeface="Times New Roman" pitchFamily="34" charset="0"/>
                <a:ea typeface="Times New Roman" pitchFamily="34" charset="-122"/>
                <a:cs typeface="Times New Roman" pitchFamily="34" charset="-120"/>
              </a:rPr>
              <a:t>5</a:t>
            </a:r>
            <a:endParaRPr lang="en-US" sz="1200" dirty="0"/>
          </a:p>
        </p:txBody>
      </p:sp>
      <p:sp>
        <p:nvSpPr>
          <p:cNvPr id="29" name="Text 27"/>
          <p:cNvSpPr/>
          <p:nvPr/>
        </p:nvSpPr>
        <p:spPr>
          <a:xfrm>
            <a:off x="6437376" y="694944"/>
            <a:ext cx="960120" cy="274320"/>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Intake Form</a:t>
            </a:r>
            <a:endParaRPr lang="en-US" sz="1100" dirty="0"/>
          </a:p>
        </p:txBody>
      </p:sp>
      <p:sp>
        <p:nvSpPr>
          <p:cNvPr id="30" name="Text 28"/>
          <p:cNvSpPr/>
          <p:nvPr/>
        </p:nvSpPr>
        <p:spPr>
          <a:xfrm>
            <a:off x="6437376" y="969264"/>
            <a:ext cx="960120" cy="274320"/>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Structured exception request</a:t>
            </a:r>
            <a:endParaRPr lang="en-US" sz="900" dirty="0"/>
          </a:p>
        </p:txBody>
      </p:sp>
      <p:sp>
        <p:nvSpPr>
          <p:cNvPr id="31" name="Text 29"/>
          <p:cNvSpPr/>
          <p:nvPr/>
        </p:nvSpPr>
        <p:spPr>
          <a:xfrm>
            <a:off x="7452360" y="804672"/>
            <a:ext cx="128016" cy="347472"/>
          </a:xfrm>
          <a:prstGeom prst="rect">
            <a:avLst/>
          </a:prstGeom>
          <a:noFill/>
          <a:ln/>
        </p:spPr>
        <p:txBody>
          <a:bodyPr wrap="square" lIns="0" tIns="0" rIns="0" bIns="0" rtlCol="0" anchor="ctr"/>
          <a:lstStyle/>
          <a:p>
            <a:pPr marL="0" indent="0" algn="ctr">
              <a:buNone/>
            </a:pPr>
            <a:r>
              <a:rPr lang="en-US" sz="1200" dirty="0">
                <a:solidFill>
                  <a:srgbClr val="C41010"/>
                </a:solidFill>
              </a:rPr>
              <a:t>›</a:t>
            </a:r>
            <a:endParaRPr lang="en-US" sz="1200" dirty="0"/>
          </a:p>
        </p:txBody>
      </p:sp>
      <p:sp>
        <p:nvSpPr>
          <p:cNvPr id="32" name="Shape 30"/>
          <p:cNvSpPr/>
          <p:nvPr/>
        </p:nvSpPr>
        <p:spPr>
          <a:xfrm>
            <a:off x="7589520" y="658368"/>
            <a:ext cx="1325880" cy="640080"/>
          </a:xfrm>
          <a:prstGeom prst="rect">
            <a:avLst/>
          </a:prstGeom>
          <a:solidFill>
            <a:srgbClr val="6E0000"/>
          </a:solidFill>
          <a:ln w="12700">
            <a:solidFill>
              <a:srgbClr val="C41010"/>
            </a:solidFill>
            <a:prstDash val="solid"/>
          </a:ln>
          <a:effectLst>
            <a:outerShdw blurRad="127000" dist="38100" dir="8100000" algn="bl" rotWithShape="0">
              <a:srgbClr val="000000">
                <a:alpha val="45000"/>
              </a:srgbClr>
            </a:outerShdw>
          </a:effectLst>
        </p:spPr>
      </p:sp>
      <p:sp>
        <p:nvSpPr>
          <p:cNvPr id="33" name="Text 31"/>
          <p:cNvSpPr/>
          <p:nvPr/>
        </p:nvSpPr>
        <p:spPr>
          <a:xfrm>
            <a:off x="7626096" y="658368"/>
            <a:ext cx="256032" cy="640080"/>
          </a:xfrm>
          <a:prstGeom prst="rect">
            <a:avLst/>
          </a:prstGeom>
          <a:noFill/>
          <a:ln/>
        </p:spPr>
        <p:txBody>
          <a:bodyPr wrap="square" lIns="0" tIns="0" rIns="0" bIns="0" rtlCol="0" anchor="ctr"/>
          <a:lstStyle/>
          <a:p>
            <a:pPr marL="0" indent="0" algn="ctr">
              <a:buNone/>
            </a:pPr>
            <a:r>
              <a:rPr lang="en-US" sz="1200" b="1" dirty="0">
                <a:solidFill>
                  <a:srgbClr val="E84040"/>
                </a:solidFill>
                <a:latin typeface="Times New Roman" pitchFamily="34" charset="0"/>
                <a:ea typeface="Times New Roman" pitchFamily="34" charset="-122"/>
                <a:cs typeface="Times New Roman" pitchFamily="34" charset="-120"/>
              </a:rPr>
              <a:t>6</a:t>
            </a:r>
            <a:endParaRPr lang="en-US" sz="1200" dirty="0"/>
          </a:p>
        </p:txBody>
      </p:sp>
      <p:sp>
        <p:nvSpPr>
          <p:cNvPr id="34" name="Text 32"/>
          <p:cNvSpPr/>
          <p:nvPr/>
        </p:nvSpPr>
        <p:spPr>
          <a:xfrm>
            <a:off x="7900416" y="694944"/>
            <a:ext cx="960120" cy="274320"/>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Review Queue</a:t>
            </a:r>
            <a:endParaRPr lang="en-US" sz="1100" dirty="0"/>
          </a:p>
        </p:txBody>
      </p:sp>
      <p:sp>
        <p:nvSpPr>
          <p:cNvPr id="35" name="Text 33"/>
          <p:cNvSpPr/>
          <p:nvPr/>
        </p:nvSpPr>
        <p:spPr>
          <a:xfrm>
            <a:off x="7900416" y="969264"/>
            <a:ext cx="960120" cy="274320"/>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Security reviewer workflow</a:t>
            </a:r>
            <a:endParaRPr lang="en-US" sz="900" dirty="0"/>
          </a:p>
        </p:txBody>
      </p:sp>
      <p:sp>
        <p:nvSpPr>
          <p:cNvPr id="36" name="Shape 34"/>
          <p:cNvSpPr/>
          <p:nvPr/>
        </p:nvSpPr>
        <p:spPr>
          <a:xfrm>
            <a:off x="274320" y="1389888"/>
            <a:ext cx="1325880" cy="640080"/>
          </a:xfrm>
          <a:prstGeom prst="rect">
            <a:avLst/>
          </a:prstGeom>
          <a:solidFill>
            <a:srgbClr val="141414"/>
          </a:solidFill>
          <a:ln w="10160">
            <a:solidFill>
              <a:srgbClr val="C41010"/>
            </a:solidFill>
            <a:prstDash val="solid"/>
          </a:ln>
          <a:effectLst>
            <a:outerShdw blurRad="127000" dist="38100" dir="8100000" algn="bl" rotWithShape="0">
              <a:srgbClr val="000000">
                <a:alpha val="45000"/>
              </a:srgbClr>
            </a:outerShdw>
          </a:effectLst>
        </p:spPr>
      </p:sp>
      <p:sp>
        <p:nvSpPr>
          <p:cNvPr id="37" name="Text 35"/>
          <p:cNvSpPr/>
          <p:nvPr/>
        </p:nvSpPr>
        <p:spPr>
          <a:xfrm>
            <a:off x="310896" y="1389888"/>
            <a:ext cx="274320" cy="640080"/>
          </a:xfrm>
          <a:prstGeom prst="rect">
            <a:avLst/>
          </a:prstGeom>
          <a:noFill/>
          <a:ln/>
        </p:spPr>
        <p:txBody>
          <a:bodyPr wrap="square" lIns="0" tIns="0" rIns="0" bIns="0" rtlCol="0" anchor="ctr"/>
          <a:lstStyle/>
          <a:p>
            <a:pPr marL="0" indent="0" algn="ctr">
              <a:buNone/>
            </a:pPr>
            <a:r>
              <a:rPr lang="en-US" sz="1100" b="1" dirty="0">
                <a:solidFill>
                  <a:srgbClr val="E84040"/>
                </a:solidFill>
                <a:latin typeface="Times New Roman" pitchFamily="34" charset="0"/>
                <a:ea typeface="Times New Roman" pitchFamily="34" charset="-122"/>
                <a:cs typeface="Times New Roman" pitchFamily="34" charset="-120"/>
              </a:rPr>
              <a:t>7</a:t>
            </a:r>
            <a:endParaRPr lang="en-US" sz="1100" dirty="0"/>
          </a:p>
        </p:txBody>
      </p:sp>
      <p:sp>
        <p:nvSpPr>
          <p:cNvPr id="38" name="Text 36"/>
          <p:cNvSpPr/>
          <p:nvPr/>
        </p:nvSpPr>
        <p:spPr>
          <a:xfrm>
            <a:off x="603504" y="1426464"/>
            <a:ext cx="941832" cy="274320"/>
          </a:xfrm>
          <a:prstGeom prst="rect">
            <a:avLst/>
          </a:prstGeom>
          <a:noFill/>
          <a:ln/>
        </p:spPr>
        <p:txBody>
          <a:bodyPr wrap="square" lIns="0" tIns="0" rIns="0" bIns="0" rtlCol="0" anchor="ctr"/>
          <a:lstStyle/>
          <a:p>
            <a:pPr marL="0" indent="0">
              <a:buNone/>
            </a:pPr>
            <a:r>
              <a:rPr lang="en-US" sz="1050" b="1" dirty="0">
                <a:solidFill>
                  <a:srgbClr val="FFFFFF"/>
                </a:solidFill>
                <a:latin typeface="Times New Roman" pitchFamily="34" charset="0"/>
                <a:ea typeface="Times New Roman" pitchFamily="34" charset="-122"/>
                <a:cs typeface="Times New Roman" pitchFamily="34" charset="-120"/>
              </a:rPr>
              <a:t>Evidence File</a:t>
            </a:r>
            <a:endParaRPr lang="en-US" sz="1050" dirty="0"/>
          </a:p>
        </p:txBody>
      </p:sp>
      <p:sp>
        <p:nvSpPr>
          <p:cNvPr id="39" name="Text 37"/>
          <p:cNvSpPr/>
          <p:nvPr/>
        </p:nvSpPr>
        <p:spPr>
          <a:xfrm>
            <a:off x="603504" y="1700784"/>
            <a:ext cx="941832" cy="274320"/>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Exception detail &amp; history</a:t>
            </a:r>
            <a:endParaRPr lang="en-US" sz="900" dirty="0"/>
          </a:p>
        </p:txBody>
      </p:sp>
      <p:sp>
        <p:nvSpPr>
          <p:cNvPr id="40" name="Text 38"/>
          <p:cNvSpPr/>
          <p:nvPr/>
        </p:nvSpPr>
        <p:spPr>
          <a:xfrm>
            <a:off x="1600200" y="1536192"/>
            <a:ext cx="128016" cy="347472"/>
          </a:xfrm>
          <a:prstGeom prst="rect">
            <a:avLst/>
          </a:prstGeom>
          <a:noFill/>
          <a:ln/>
        </p:spPr>
        <p:txBody>
          <a:bodyPr wrap="square" lIns="0" tIns="0" rIns="0" bIns="0" rtlCol="0" anchor="ctr"/>
          <a:lstStyle/>
          <a:p>
            <a:pPr marL="0" indent="0" algn="ctr">
              <a:buNone/>
            </a:pPr>
            <a:r>
              <a:rPr lang="en-US" sz="1200" dirty="0">
                <a:solidFill>
                  <a:srgbClr val="C41010"/>
                </a:solidFill>
              </a:rPr>
              <a:t>›</a:t>
            </a:r>
            <a:endParaRPr lang="en-US" sz="1200" dirty="0"/>
          </a:p>
        </p:txBody>
      </p:sp>
      <p:sp>
        <p:nvSpPr>
          <p:cNvPr id="41" name="Shape 39"/>
          <p:cNvSpPr/>
          <p:nvPr/>
        </p:nvSpPr>
        <p:spPr>
          <a:xfrm>
            <a:off x="1737360" y="1389888"/>
            <a:ext cx="1325880" cy="640080"/>
          </a:xfrm>
          <a:prstGeom prst="rect">
            <a:avLst/>
          </a:prstGeom>
          <a:solidFill>
            <a:srgbClr val="141414"/>
          </a:solidFill>
          <a:ln w="10160">
            <a:solidFill>
              <a:srgbClr val="C41010"/>
            </a:solidFill>
            <a:prstDash val="solid"/>
          </a:ln>
          <a:effectLst>
            <a:outerShdw blurRad="127000" dist="38100" dir="8100000" algn="bl" rotWithShape="0">
              <a:srgbClr val="000000">
                <a:alpha val="45000"/>
              </a:srgbClr>
            </a:outerShdw>
          </a:effectLst>
        </p:spPr>
      </p:sp>
      <p:sp>
        <p:nvSpPr>
          <p:cNvPr id="42" name="Text 40"/>
          <p:cNvSpPr/>
          <p:nvPr/>
        </p:nvSpPr>
        <p:spPr>
          <a:xfrm>
            <a:off x="1773936" y="1389888"/>
            <a:ext cx="274320" cy="640080"/>
          </a:xfrm>
          <a:prstGeom prst="rect">
            <a:avLst/>
          </a:prstGeom>
          <a:noFill/>
          <a:ln/>
        </p:spPr>
        <p:txBody>
          <a:bodyPr wrap="square" lIns="0" tIns="0" rIns="0" bIns="0" rtlCol="0" anchor="ctr"/>
          <a:lstStyle/>
          <a:p>
            <a:pPr marL="0" indent="0" algn="ctr">
              <a:buNone/>
            </a:pPr>
            <a:r>
              <a:rPr lang="en-US" sz="1100" b="1" dirty="0">
                <a:solidFill>
                  <a:srgbClr val="E84040"/>
                </a:solidFill>
                <a:latin typeface="Times New Roman" pitchFamily="34" charset="0"/>
                <a:ea typeface="Times New Roman" pitchFamily="34" charset="-122"/>
                <a:cs typeface="Times New Roman" pitchFamily="34" charset="-120"/>
              </a:rPr>
              <a:t>8</a:t>
            </a:r>
            <a:endParaRPr lang="en-US" sz="1100" dirty="0"/>
          </a:p>
        </p:txBody>
      </p:sp>
      <p:sp>
        <p:nvSpPr>
          <p:cNvPr id="43" name="Text 41"/>
          <p:cNvSpPr/>
          <p:nvPr/>
        </p:nvSpPr>
        <p:spPr>
          <a:xfrm>
            <a:off x="2066544" y="1426464"/>
            <a:ext cx="941832" cy="274320"/>
          </a:xfrm>
          <a:prstGeom prst="rect">
            <a:avLst/>
          </a:prstGeom>
          <a:noFill/>
          <a:ln/>
        </p:spPr>
        <p:txBody>
          <a:bodyPr wrap="square" lIns="0" tIns="0" rIns="0" bIns="0" rtlCol="0" anchor="ctr"/>
          <a:lstStyle/>
          <a:p>
            <a:pPr marL="0" indent="0">
              <a:buNone/>
            </a:pPr>
            <a:r>
              <a:rPr lang="en-US" sz="1050" b="1" dirty="0">
                <a:solidFill>
                  <a:srgbClr val="FFFFFF"/>
                </a:solidFill>
                <a:latin typeface="Times New Roman" pitchFamily="34" charset="0"/>
                <a:ea typeface="Times New Roman" pitchFamily="34" charset="-122"/>
                <a:cs typeface="Times New Roman" pitchFamily="34" charset="-120"/>
              </a:rPr>
              <a:t>Risk Scoring</a:t>
            </a:r>
            <a:endParaRPr lang="en-US" sz="1050" dirty="0"/>
          </a:p>
        </p:txBody>
      </p:sp>
      <p:sp>
        <p:nvSpPr>
          <p:cNvPr id="44" name="Text 42"/>
          <p:cNvSpPr/>
          <p:nvPr/>
        </p:nvSpPr>
        <p:spPr>
          <a:xfrm>
            <a:off x="2066544" y="1700784"/>
            <a:ext cx="941832" cy="274320"/>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Score explainer &amp; bands</a:t>
            </a:r>
            <a:endParaRPr lang="en-US" sz="900" dirty="0"/>
          </a:p>
        </p:txBody>
      </p:sp>
      <p:sp>
        <p:nvSpPr>
          <p:cNvPr id="45" name="Text 43"/>
          <p:cNvSpPr/>
          <p:nvPr/>
        </p:nvSpPr>
        <p:spPr>
          <a:xfrm>
            <a:off x="3063240" y="1536192"/>
            <a:ext cx="128016" cy="347472"/>
          </a:xfrm>
          <a:prstGeom prst="rect">
            <a:avLst/>
          </a:prstGeom>
          <a:noFill/>
          <a:ln/>
        </p:spPr>
        <p:txBody>
          <a:bodyPr wrap="square" lIns="0" tIns="0" rIns="0" bIns="0" rtlCol="0" anchor="ctr"/>
          <a:lstStyle/>
          <a:p>
            <a:pPr marL="0" indent="0" algn="ctr">
              <a:buNone/>
            </a:pPr>
            <a:r>
              <a:rPr lang="en-US" sz="1200" dirty="0">
                <a:solidFill>
                  <a:srgbClr val="C41010"/>
                </a:solidFill>
              </a:rPr>
              <a:t>›</a:t>
            </a:r>
            <a:endParaRPr lang="en-US" sz="1200" dirty="0"/>
          </a:p>
        </p:txBody>
      </p:sp>
      <p:sp>
        <p:nvSpPr>
          <p:cNvPr id="46" name="Shape 44"/>
          <p:cNvSpPr/>
          <p:nvPr/>
        </p:nvSpPr>
        <p:spPr>
          <a:xfrm>
            <a:off x="3200400" y="1389888"/>
            <a:ext cx="1325880" cy="640080"/>
          </a:xfrm>
          <a:prstGeom prst="rect">
            <a:avLst/>
          </a:prstGeom>
          <a:solidFill>
            <a:srgbClr val="141414"/>
          </a:solidFill>
          <a:ln w="10160">
            <a:solidFill>
              <a:srgbClr val="C41010"/>
            </a:solidFill>
            <a:prstDash val="solid"/>
          </a:ln>
          <a:effectLst>
            <a:outerShdw blurRad="127000" dist="38100" dir="8100000" algn="bl" rotWithShape="0">
              <a:srgbClr val="000000">
                <a:alpha val="45000"/>
              </a:srgbClr>
            </a:outerShdw>
          </a:effectLst>
        </p:spPr>
      </p:sp>
      <p:sp>
        <p:nvSpPr>
          <p:cNvPr id="47" name="Text 45"/>
          <p:cNvSpPr/>
          <p:nvPr/>
        </p:nvSpPr>
        <p:spPr>
          <a:xfrm>
            <a:off x="3236976" y="1389888"/>
            <a:ext cx="274320" cy="640080"/>
          </a:xfrm>
          <a:prstGeom prst="rect">
            <a:avLst/>
          </a:prstGeom>
          <a:noFill/>
          <a:ln/>
        </p:spPr>
        <p:txBody>
          <a:bodyPr wrap="square" lIns="0" tIns="0" rIns="0" bIns="0" rtlCol="0" anchor="ctr"/>
          <a:lstStyle/>
          <a:p>
            <a:pPr marL="0" indent="0" algn="ctr">
              <a:buNone/>
            </a:pPr>
            <a:r>
              <a:rPr lang="en-US" sz="1100" b="1" dirty="0">
                <a:solidFill>
                  <a:srgbClr val="E84040"/>
                </a:solidFill>
                <a:latin typeface="Times New Roman" pitchFamily="34" charset="0"/>
                <a:ea typeface="Times New Roman" pitchFamily="34" charset="-122"/>
                <a:cs typeface="Times New Roman" pitchFamily="34" charset="-120"/>
              </a:rPr>
              <a:t>9</a:t>
            </a:r>
            <a:endParaRPr lang="en-US" sz="1100" dirty="0"/>
          </a:p>
        </p:txBody>
      </p:sp>
      <p:sp>
        <p:nvSpPr>
          <p:cNvPr id="48" name="Text 46"/>
          <p:cNvSpPr/>
          <p:nvPr/>
        </p:nvSpPr>
        <p:spPr>
          <a:xfrm>
            <a:off x="3529584" y="1426464"/>
            <a:ext cx="941832" cy="274320"/>
          </a:xfrm>
          <a:prstGeom prst="rect">
            <a:avLst/>
          </a:prstGeom>
          <a:noFill/>
          <a:ln/>
        </p:spPr>
        <p:txBody>
          <a:bodyPr wrap="square" lIns="0" tIns="0" rIns="0" bIns="0" rtlCol="0" anchor="ctr"/>
          <a:lstStyle/>
          <a:p>
            <a:pPr marL="0" indent="0">
              <a:buNone/>
            </a:pPr>
            <a:r>
              <a:rPr lang="en-US" sz="1050" b="1" dirty="0">
                <a:solidFill>
                  <a:srgbClr val="FFFFFF"/>
                </a:solidFill>
                <a:latin typeface="Times New Roman" pitchFamily="34" charset="0"/>
                <a:ea typeface="Times New Roman" pitchFamily="34" charset="-122"/>
                <a:cs typeface="Times New Roman" pitchFamily="34" charset="-120"/>
              </a:rPr>
              <a:t>Alerts</a:t>
            </a:r>
            <a:endParaRPr lang="en-US" sz="1050" dirty="0"/>
          </a:p>
        </p:txBody>
      </p:sp>
      <p:sp>
        <p:nvSpPr>
          <p:cNvPr id="49" name="Text 47"/>
          <p:cNvSpPr/>
          <p:nvPr/>
        </p:nvSpPr>
        <p:spPr>
          <a:xfrm>
            <a:off x="3529584" y="1700784"/>
            <a:ext cx="941832" cy="274320"/>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682 active alerts dashboard</a:t>
            </a:r>
            <a:endParaRPr lang="en-US" sz="900" dirty="0"/>
          </a:p>
        </p:txBody>
      </p:sp>
      <p:sp>
        <p:nvSpPr>
          <p:cNvPr id="50" name="Text 48"/>
          <p:cNvSpPr/>
          <p:nvPr/>
        </p:nvSpPr>
        <p:spPr>
          <a:xfrm>
            <a:off x="4526280" y="1536192"/>
            <a:ext cx="128016" cy="347472"/>
          </a:xfrm>
          <a:prstGeom prst="rect">
            <a:avLst/>
          </a:prstGeom>
          <a:noFill/>
          <a:ln/>
        </p:spPr>
        <p:txBody>
          <a:bodyPr wrap="square" lIns="0" tIns="0" rIns="0" bIns="0" rtlCol="0" anchor="ctr"/>
          <a:lstStyle/>
          <a:p>
            <a:pPr marL="0" indent="0" algn="ctr">
              <a:buNone/>
            </a:pPr>
            <a:r>
              <a:rPr lang="en-US" sz="1200" dirty="0">
                <a:solidFill>
                  <a:srgbClr val="C41010"/>
                </a:solidFill>
              </a:rPr>
              <a:t>›</a:t>
            </a:r>
            <a:endParaRPr lang="en-US" sz="1200" dirty="0"/>
          </a:p>
        </p:txBody>
      </p:sp>
      <p:sp>
        <p:nvSpPr>
          <p:cNvPr id="51" name="Shape 49"/>
          <p:cNvSpPr/>
          <p:nvPr/>
        </p:nvSpPr>
        <p:spPr>
          <a:xfrm>
            <a:off x="4663440" y="1389888"/>
            <a:ext cx="1325880" cy="640080"/>
          </a:xfrm>
          <a:prstGeom prst="rect">
            <a:avLst/>
          </a:prstGeom>
          <a:solidFill>
            <a:srgbClr val="141414"/>
          </a:solidFill>
          <a:ln w="10160">
            <a:solidFill>
              <a:srgbClr val="C41010"/>
            </a:solidFill>
            <a:prstDash val="solid"/>
          </a:ln>
          <a:effectLst>
            <a:outerShdw blurRad="127000" dist="38100" dir="8100000" algn="bl" rotWithShape="0">
              <a:srgbClr val="000000">
                <a:alpha val="45000"/>
              </a:srgbClr>
            </a:outerShdw>
          </a:effectLst>
        </p:spPr>
      </p:sp>
      <p:sp>
        <p:nvSpPr>
          <p:cNvPr id="52" name="Text 50"/>
          <p:cNvSpPr/>
          <p:nvPr/>
        </p:nvSpPr>
        <p:spPr>
          <a:xfrm>
            <a:off x="4700016" y="1389888"/>
            <a:ext cx="274320" cy="640080"/>
          </a:xfrm>
          <a:prstGeom prst="rect">
            <a:avLst/>
          </a:prstGeom>
          <a:noFill/>
          <a:ln/>
        </p:spPr>
        <p:txBody>
          <a:bodyPr wrap="square" lIns="0" tIns="0" rIns="0" bIns="0" rtlCol="0" anchor="ctr"/>
          <a:lstStyle/>
          <a:p>
            <a:pPr marL="0" indent="0" algn="ctr">
              <a:buNone/>
            </a:pPr>
            <a:r>
              <a:rPr lang="en-US" sz="1100" b="1" dirty="0">
                <a:solidFill>
                  <a:srgbClr val="E84040"/>
                </a:solidFill>
                <a:latin typeface="Times New Roman" pitchFamily="34" charset="0"/>
                <a:ea typeface="Times New Roman" pitchFamily="34" charset="-122"/>
                <a:cs typeface="Times New Roman" pitchFamily="34" charset="-120"/>
              </a:rPr>
              <a:t>10</a:t>
            </a:r>
            <a:endParaRPr lang="en-US" sz="1100" dirty="0"/>
          </a:p>
        </p:txBody>
      </p:sp>
      <p:sp>
        <p:nvSpPr>
          <p:cNvPr id="53" name="Text 51"/>
          <p:cNvSpPr/>
          <p:nvPr/>
        </p:nvSpPr>
        <p:spPr>
          <a:xfrm>
            <a:off x="4992624" y="1426464"/>
            <a:ext cx="941832" cy="274320"/>
          </a:xfrm>
          <a:prstGeom prst="rect">
            <a:avLst/>
          </a:prstGeom>
          <a:noFill/>
          <a:ln/>
        </p:spPr>
        <p:txBody>
          <a:bodyPr wrap="square" lIns="0" tIns="0" rIns="0" bIns="0" rtlCol="0" anchor="ctr"/>
          <a:lstStyle/>
          <a:p>
            <a:pPr marL="0" indent="0">
              <a:buNone/>
            </a:pPr>
            <a:r>
              <a:rPr lang="en-US" sz="1050" b="1" dirty="0">
                <a:solidFill>
                  <a:srgbClr val="FFFFFF"/>
                </a:solidFill>
                <a:latin typeface="Times New Roman" pitchFamily="34" charset="0"/>
                <a:ea typeface="Times New Roman" pitchFamily="34" charset="-122"/>
                <a:cs typeface="Times New Roman" pitchFamily="34" charset="-120"/>
              </a:rPr>
              <a:t>GRC Intelligence</a:t>
            </a:r>
            <a:endParaRPr lang="en-US" sz="1050" dirty="0"/>
          </a:p>
        </p:txBody>
      </p:sp>
      <p:sp>
        <p:nvSpPr>
          <p:cNvPr id="54" name="Text 52"/>
          <p:cNvSpPr/>
          <p:nvPr/>
        </p:nvSpPr>
        <p:spPr>
          <a:xfrm>
            <a:off x="4992624" y="1700784"/>
            <a:ext cx="941832" cy="274320"/>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186 findings, hotspots</a:t>
            </a:r>
            <a:endParaRPr lang="en-US" sz="900" dirty="0"/>
          </a:p>
        </p:txBody>
      </p:sp>
      <p:sp>
        <p:nvSpPr>
          <p:cNvPr id="55" name="Text 53"/>
          <p:cNvSpPr/>
          <p:nvPr/>
        </p:nvSpPr>
        <p:spPr>
          <a:xfrm>
            <a:off x="5989320" y="1536192"/>
            <a:ext cx="128016" cy="347472"/>
          </a:xfrm>
          <a:prstGeom prst="rect">
            <a:avLst/>
          </a:prstGeom>
          <a:noFill/>
          <a:ln/>
        </p:spPr>
        <p:txBody>
          <a:bodyPr wrap="square" lIns="0" tIns="0" rIns="0" bIns="0" rtlCol="0" anchor="ctr"/>
          <a:lstStyle/>
          <a:p>
            <a:pPr marL="0" indent="0" algn="ctr">
              <a:buNone/>
            </a:pPr>
            <a:r>
              <a:rPr lang="en-US" sz="1200" dirty="0">
                <a:solidFill>
                  <a:srgbClr val="C41010"/>
                </a:solidFill>
              </a:rPr>
              <a:t>›</a:t>
            </a:r>
            <a:endParaRPr lang="en-US" sz="1200" dirty="0"/>
          </a:p>
        </p:txBody>
      </p:sp>
      <p:sp>
        <p:nvSpPr>
          <p:cNvPr id="56" name="Shape 54"/>
          <p:cNvSpPr/>
          <p:nvPr/>
        </p:nvSpPr>
        <p:spPr>
          <a:xfrm>
            <a:off x="6126480" y="1389888"/>
            <a:ext cx="1325880" cy="640080"/>
          </a:xfrm>
          <a:prstGeom prst="rect">
            <a:avLst/>
          </a:prstGeom>
          <a:solidFill>
            <a:srgbClr val="141414"/>
          </a:solidFill>
          <a:ln w="10160">
            <a:solidFill>
              <a:srgbClr val="C41010"/>
            </a:solidFill>
            <a:prstDash val="solid"/>
          </a:ln>
          <a:effectLst>
            <a:outerShdw blurRad="127000" dist="38100" dir="8100000" algn="bl" rotWithShape="0">
              <a:srgbClr val="000000">
                <a:alpha val="45000"/>
              </a:srgbClr>
            </a:outerShdw>
          </a:effectLst>
        </p:spPr>
      </p:sp>
      <p:sp>
        <p:nvSpPr>
          <p:cNvPr id="57" name="Text 55"/>
          <p:cNvSpPr/>
          <p:nvPr/>
        </p:nvSpPr>
        <p:spPr>
          <a:xfrm>
            <a:off x="6163056" y="1389888"/>
            <a:ext cx="274320" cy="640080"/>
          </a:xfrm>
          <a:prstGeom prst="rect">
            <a:avLst/>
          </a:prstGeom>
          <a:noFill/>
          <a:ln/>
        </p:spPr>
        <p:txBody>
          <a:bodyPr wrap="square" lIns="0" tIns="0" rIns="0" bIns="0" rtlCol="0" anchor="ctr"/>
          <a:lstStyle/>
          <a:p>
            <a:pPr marL="0" indent="0" algn="ctr">
              <a:buNone/>
            </a:pPr>
            <a:r>
              <a:rPr lang="en-US" sz="1100" b="1" dirty="0">
                <a:solidFill>
                  <a:srgbClr val="E84040"/>
                </a:solidFill>
                <a:latin typeface="Times New Roman" pitchFamily="34" charset="0"/>
                <a:ea typeface="Times New Roman" pitchFamily="34" charset="-122"/>
                <a:cs typeface="Times New Roman" pitchFamily="34" charset="-120"/>
              </a:rPr>
              <a:t>11</a:t>
            </a:r>
            <a:endParaRPr lang="en-US" sz="1100" dirty="0"/>
          </a:p>
        </p:txBody>
      </p:sp>
      <p:sp>
        <p:nvSpPr>
          <p:cNvPr id="58" name="Text 56"/>
          <p:cNvSpPr/>
          <p:nvPr/>
        </p:nvSpPr>
        <p:spPr>
          <a:xfrm>
            <a:off x="6455664" y="1426464"/>
            <a:ext cx="941832" cy="274320"/>
          </a:xfrm>
          <a:prstGeom prst="rect">
            <a:avLst/>
          </a:prstGeom>
          <a:noFill/>
          <a:ln/>
        </p:spPr>
        <p:txBody>
          <a:bodyPr wrap="square" lIns="0" tIns="0" rIns="0" bIns="0" rtlCol="0" anchor="ctr"/>
          <a:lstStyle/>
          <a:p>
            <a:pPr marL="0" indent="0">
              <a:buNone/>
            </a:pPr>
            <a:r>
              <a:rPr lang="en-US" sz="1050" b="1" dirty="0">
                <a:solidFill>
                  <a:srgbClr val="FFFFFF"/>
                </a:solidFill>
                <a:latin typeface="Times New Roman" pitchFamily="34" charset="0"/>
                <a:ea typeface="Times New Roman" pitchFamily="34" charset="-122"/>
                <a:cs typeface="Times New Roman" pitchFamily="34" charset="-120"/>
              </a:rPr>
              <a:t>Audit Report</a:t>
            </a:r>
            <a:endParaRPr lang="en-US" sz="1050" dirty="0"/>
          </a:p>
        </p:txBody>
      </p:sp>
      <p:sp>
        <p:nvSpPr>
          <p:cNvPr id="59" name="Text 57"/>
          <p:cNvSpPr/>
          <p:nvPr/>
        </p:nvSpPr>
        <p:spPr>
          <a:xfrm>
            <a:off x="6455664" y="1700784"/>
            <a:ext cx="941832" cy="274320"/>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Department &amp; lifecycle breakdown</a:t>
            </a:r>
            <a:endParaRPr lang="en-US" sz="900" dirty="0"/>
          </a:p>
        </p:txBody>
      </p:sp>
      <p:sp>
        <p:nvSpPr>
          <p:cNvPr id="60" name="Text 58"/>
          <p:cNvSpPr/>
          <p:nvPr/>
        </p:nvSpPr>
        <p:spPr>
          <a:xfrm>
            <a:off x="7452360" y="1536192"/>
            <a:ext cx="128016" cy="347472"/>
          </a:xfrm>
          <a:prstGeom prst="rect">
            <a:avLst/>
          </a:prstGeom>
          <a:noFill/>
          <a:ln/>
        </p:spPr>
        <p:txBody>
          <a:bodyPr wrap="square" lIns="0" tIns="0" rIns="0" bIns="0" rtlCol="0" anchor="ctr"/>
          <a:lstStyle/>
          <a:p>
            <a:pPr marL="0" indent="0" algn="ctr">
              <a:buNone/>
            </a:pPr>
            <a:r>
              <a:rPr lang="en-US" sz="1200" dirty="0">
                <a:solidFill>
                  <a:srgbClr val="C41010"/>
                </a:solidFill>
              </a:rPr>
              <a:t>›</a:t>
            </a:r>
            <a:endParaRPr lang="en-US" sz="1200" dirty="0"/>
          </a:p>
        </p:txBody>
      </p:sp>
      <p:sp>
        <p:nvSpPr>
          <p:cNvPr id="61" name="Shape 59"/>
          <p:cNvSpPr/>
          <p:nvPr/>
        </p:nvSpPr>
        <p:spPr>
          <a:xfrm>
            <a:off x="7589520" y="1389888"/>
            <a:ext cx="1325880" cy="640080"/>
          </a:xfrm>
          <a:prstGeom prst="rect">
            <a:avLst/>
          </a:prstGeom>
          <a:solidFill>
            <a:srgbClr val="141414"/>
          </a:solidFill>
          <a:ln w="10160">
            <a:solidFill>
              <a:srgbClr val="C41010"/>
            </a:solidFill>
            <a:prstDash val="solid"/>
          </a:ln>
          <a:effectLst>
            <a:outerShdw blurRad="127000" dist="38100" dir="8100000" algn="bl" rotWithShape="0">
              <a:srgbClr val="000000">
                <a:alpha val="45000"/>
              </a:srgbClr>
            </a:outerShdw>
          </a:effectLst>
        </p:spPr>
      </p:sp>
      <p:sp>
        <p:nvSpPr>
          <p:cNvPr id="62" name="Text 60"/>
          <p:cNvSpPr/>
          <p:nvPr/>
        </p:nvSpPr>
        <p:spPr>
          <a:xfrm>
            <a:off x="7626096" y="1389888"/>
            <a:ext cx="274320" cy="640080"/>
          </a:xfrm>
          <a:prstGeom prst="rect">
            <a:avLst/>
          </a:prstGeom>
          <a:noFill/>
          <a:ln/>
        </p:spPr>
        <p:txBody>
          <a:bodyPr wrap="square" lIns="0" tIns="0" rIns="0" bIns="0" rtlCol="0" anchor="ctr"/>
          <a:lstStyle/>
          <a:p>
            <a:pPr marL="0" indent="0" algn="ctr">
              <a:buNone/>
            </a:pPr>
            <a:r>
              <a:rPr lang="en-US" sz="1100" b="1" dirty="0">
                <a:solidFill>
                  <a:srgbClr val="E84040"/>
                </a:solidFill>
                <a:latin typeface="Times New Roman" pitchFamily="34" charset="0"/>
                <a:ea typeface="Times New Roman" pitchFamily="34" charset="-122"/>
                <a:cs typeface="Times New Roman" pitchFamily="34" charset="-120"/>
              </a:rPr>
              <a:t>12</a:t>
            </a:r>
            <a:endParaRPr lang="en-US" sz="1100" dirty="0"/>
          </a:p>
        </p:txBody>
      </p:sp>
      <p:sp>
        <p:nvSpPr>
          <p:cNvPr id="63" name="Text 61"/>
          <p:cNvSpPr/>
          <p:nvPr/>
        </p:nvSpPr>
        <p:spPr>
          <a:xfrm>
            <a:off x="7918704" y="1426464"/>
            <a:ext cx="941832" cy="274320"/>
          </a:xfrm>
          <a:prstGeom prst="rect">
            <a:avLst/>
          </a:prstGeom>
          <a:noFill/>
          <a:ln/>
        </p:spPr>
        <p:txBody>
          <a:bodyPr wrap="square" lIns="0" tIns="0" rIns="0" bIns="0" rtlCol="0" anchor="ctr"/>
          <a:lstStyle/>
          <a:p>
            <a:pPr marL="0" indent="0">
              <a:buNone/>
            </a:pPr>
            <a:r>
              <a:rPr lang="en-US" sz="1050" b="1" dirty="0">
                <a:solidFill>
                  <a:srgbClr val="FFFFFF"/>
                </a:solidFill>
                <a:latin typeface="Times New Roman" pitchFamily="34" charset="0"/>
                <a:ea typeface="Times New Roman" pitchFamily="34" charset="-122"/>
                <a:cs typeface="Times New Roman" pitchFamily="34" charset="-120"/>
              </a:rPr>
              <a:t>Settings</a:t>
            </a:r>
            <a:endParaRPr lang="en-US" sz="1050" dirty="0"/>
          </a:p>
        </p:txBody>
      </p:sp>
      <p:sp>
        <p:nvSpPr>
          <p:cNvPr id="64" name="Text 62"/>
          <p:cNvSpPr/>
          <p:nvPr/>
        </p:nvSpPr>
        <p:spPr>
          <a:xfrm>
            <a:off x="7918704" y="1700784"/>
            <a:ext cx="941832" cy="274320"/>
          </a:xfrm>
          <a:prstGeom prst="rect">
            <a:avLst/>
          </a:prstGeom>
          <a:noFill/>
          <a:ln/>
        </p:spPr>
        <p:txBody>
          <a:bodyPr wrap="square" lIns="0" tIns="0" rIns="0" bIns="0" rtlCol="0" anchor="ctr"/>
          <a:lstStyle/>
          <a:p>
            <a:pPr marL="0" indent="0">
              <a:buNone/>
            </a:pPr>
            <a:r>
              <a:rPr lang="en-US" sz="900" dirty="0">
                <a:solidFill>
                  <a:srgbClr val="888888"/>
                </a:solidFill>
                <a:latin typeface="Times New Roman" pitchFamily="34" charset="0"/>
                <a:ea typeface="Times New Roman" pitchFamily="34" charset="-122"/>
                <a:cs typeface="Times New Roman" pitchFamily="34" charset="-120"/>
              </a:rPr>
              <a:t>Config, roadmap, dataset stats</a:t>
            </a:r>
            <a:endParaRPr lang="en-US" sz="900" dirty="0"/>
          </a:p>
        </p:txBody>
      </p:sp>
      <p:sp>
        <p:nvSpPr>
          <p:cNvPr id="65" name="Shape 63"/>
          <p:cNvSpPr/>
          <p:nvPr/>
        </p:nvSpPr>
        <p:spPr>
          <a:xfrm>
            <a:off x="294718" y="2176272"/>
            <a:ext cx="4206240" cy="2606040"/>
          </a:xfrm>
          <a:prstGeom prst="rect">
            <a:avLst/>
          </a:prstGeom>
          <a:solidFill>
            <a:srgbClr val="0F0F0F"/>
          </a:solidFill>
          <a:ln w="19050">
            <a:solidFill>
              <a:srgbClr val="C41010"/>
            </a:solidFill>
            <a:prstDash val="solid"/>
          </a:ln>
          <a:effectLst>
            <a:outerShdw blurRad="127000" dist="38100" dir="8100000" algn="bl" rotWithShape="0">
              <a:srgbClr val="000000">
                <a:alpha val="45000"/>
              </a:srgbClr>
            </a:outerShdw>
          </a:effectLst>
        </p:spPr>
      </p:sp>
      <p:sp>
        <p:nvSpPr>
          <p:cNvPr id="66" name="Text 64"/>
          <p:cNvSpPr/>
          <p:nvPr/>
        </p:nvSpPr>
        <p:spPr>
          <a:xfrm>
            <a:off x="365760" y="2905963"/>
            <a:ext cx="4023360" cy="320040"/>
          </a:xfrm>
          <a:prstGeom prst="rect">
            <a:avLst/>
          </a:prstGeom>
          <a:noFill/>
          <a:ln/>
        </p:spPr>
        <p:txBody>
          <a:bodyPr wrap="square" lIns="0" tIns="0" rIns="0" bIns="0" rtlCol="0" anchor="ctr"/>
          <a:lstStyle/>
          <a:p>
            <a:pPr marL="0" indent="0" algn="ctr">
              <a:buNone/>
            </a:pPr>
            <a:r>
              <a:rPr lang="en-US" sz="1100" b="1" dirty="0">
                <a:solidFill>
                  <a:srgbClr val="C41010"/>
                </a:solidFill>
                <a:latin typeface="Times New Roman" pitchFamily="34" charset="0"/>
                <a:ea typeface="Times New Roman" pitchFamily="34" charset="-122"/>
                <a:cs typeface="Times New Roman" pitchFamily="34" charset="-120"/>
              </a:rPr>
              <a:t>[  Insert Screenshot  ]</a:t>
            </a:r>
            <a:endParaRPr lang="en-US" sz="1100" dirty="0"/>
          </a:p>
        </p:txBody>
      </p:sp>
      <p:sp>
        <p:nvSpPr>
          <p:cNvPr id="67" name="Text 65"/>
          <p:cNvSpPr/>
          <p:nvPr/>
        </p:nvSpPr>
        <p:spPr>
          <a:xfrm>
            <a:off x="365760" y="3531413"/>
            <a:ext cx="4023360" cy="274320"/>
          </a:xfrm>
          <a:prstGeom prst="rect">
            <a:avLst/>
          </a:prstGeom>
          <a:noFill/>
          <a:ln/>
        </p:spPr>
        <p:txBody>
          <a:bodyPr wrap="square" lIns="0" tIns="0" rIns="0" bIns="0" rtlCol="0" anchor="ctr"/>
          <a:lstStyle/>
          <a:p>
            <a:pPr marL="0" indent="0" algn="ctr">
              <a:buNone/>
            </a:pPr>
            <a:r>
              <a:rPr lang="en-US" sz="950" i="1" dirty="0">
                <a:solidFill>
                  <a:srgbClr val="C8C8C8"/>
                </a:solidFill>
                <a:latin typeface="Times New Roman" pitchFamily="34" charset="0"/>
                <a:ea typeface="Times New Roman" pitchFamily="34" charset="-122"/>
                <a:cs typeface="Times New Roman" pitchFamily="34" charset="-120"/>
              </a:rPr>
              <a:t>Dashboard — GRC Command Center</a:t>
            </a:r>
            <a:endParaRPr lang="en-US" sz="950" dirty="0"/>
          </a:p>
        </p:txBody>
      </p:sp>
      <p:sp>
        <p:nvSpPr>
          <p:cNvPr id="68" name="Shape 66"/>
          <p:cNvSpPr/>
          <p:nvPr/>
        </p:nvSpPr>
        <p:spPr>
          <a:xfrm>
            <a:off x="4663440" y="2176272"/>
            <a:ext cx="4206240" cy="2606040"/>
          </a:xfrm>
          <a:prstGeom prst="rect">
            <a:avLst/>
          </a:prstGeom>
          <a:solidFill>
            <a:srgbClr val="0F0F0F"/>
          </a:solidFill>
          <a:ln w="19050">
            <a:solidFill>
              <a:srgbClr val="C41010"/>
            </a:solidFill>
            <a:prstDash val="solid"/>
          </a:ln>
          <a:effectLst>
            <a:outerShdw blurRad="127000" dist="38100" dir="8100000" algn="bl" rotWithShape="0">
              <a:srgbClr val="000000">
                <a:alpha val="45000"/>
              </a:srgbClr>
            </a:outerShdw>
          </a:effectLst>
        </p:spPr>
      </p:sp>
      <p:sp>
        <p:nvSpPr>
          <p:cNvPr id="69" name="Text 67"/>
          <p:cNvSpPr/>
          <p:nvPr/>
        </p:nvSpPr>
        <p:spPr>
          <a:xfrm>
            <a:off x="4754880" y="2905963"/>
            <a:ext cx="4023360" cy="320040"/>
          </a:xfrm>
          <a:prstGeom prst="rect">
            <a:avLst/>
          </a:prstGeom>
          <a:noFill/>
          <a:ln/>
        </p:spPr>
        <p:txBody>
          <a:bodyPr wrap="square" lIns="0" tIns="0" rIns="0" bIns="0" rtlCol="0" anchor="ctr"/>
          <a:lstStyle/>
          <a:p>
            <a:pPr marL="0" indent="0" algn="ctr">
              <a:buNone/>
            </a:pPr>
            <a:r>
              <a:rPr lang="en-US" sz="1100" b="1" dirty="0">
                <a:solidFill>
                  <a:srgbClr val="C41010"/>
                </a:solidFill>
                <a:latin typeface="Times New Roman" pitchFamily="34" charset="0"/>
                <a:ea typeface="Times New Roman" pitchFamily="34" charset="-122"/>
                <a:cs typeface="Times New Roman" pitchFamily="34" charset="-120"/>
              </a:rPr>
              <a:t>[  Insert Screenshot  ]</a:t>
            </a:r>
            <a:endParaRPr lang="en-US" sz="1100" dirty="0"/>
          </a:p>
        </p:txBody>
      </p:sp>
      <p:sp>
        <p:nvSpPr>
          <p:cNvPr id="70" name="Text 68"/>
          <p:cNvSpPr/>
          <p:nvPr/>
        </p:nvSpPr>
        <p:spPr>
          <a:xfrm>
            <a:off x="4754880" y="3531413"/>
            <a:ext cx="4023360" cy="274320"/>
          </a:xfrm>
          <a:prstGeom prst="rect">
            <a:avLst/>
          </a:prstGeom>
          <a:noFill/>
          <a:ln/>
        </p:spPr>
        <p:txBody>
          <a:bodyPr wrap="square" lIns="0" tIns="0" rIns="0" bIns="0" rtlCol="0" anchor="ctr"/>
          <a:lstStyle/>
          <a:p>
            <a:pPr marL="0" indent="0" algn="ctr">
              <a:buNone/>
            </a:pPr>
            <a:r>
              <a:rPr lang="en-US" sz="950" i="1" dirty="0">
                <a:solidFill>
                  <a:srgbClr val="C8C8C8"/>
                </a:solidFill>
                <a:latin typeface="Times New Roman" pitchFamily="34" charset="0"/>
                <a:ea typeface="Times New Roman" pitchFamily="34" charset="-122"/>
                <a:cs typeface="Times New Roman" pitchFamily="34" charset="-120"/>
              </a:rPr>
              <a:t>GRC Intelligence Center — Findings</a:t>
            </a:r>
            <a:endParaRPr lang="en-US" sz="950" dirty="0"/>
          </a:p>
        </p:txBody>
      </p:sp>
      <p:pic>
        <p:nvPicPr>
          <p:cNvPr id="72" name="Picture 71">
            <a:extLst>
              <a:ext uri="{FF2B5EF4-FFF2-40B4-BE49-F238E27FC236}">
                <a16:creationId xmlns:a16="http://schemas.microsoft.com/office/drawing/2014/main" id="{115F9F81-3C42-0DE7-A8C6-8D14EC41DD7A}"/>
              </a:ext>
            </a:extLst>
          </p:cNvPr>
          <p:cNvPicPr>
            <a:picLocks noChangeAspect="1"/>
          </p:cNvPicPr>
          <p:nvPr/>
        </p:nvPicPr>
        <p:blipFill>
          <a:blip r:embed="rId3"/>
          <a:stretch>
            <a:fillRect/>
          </a:stretch>
        </p:blipFill>
        <p:spPr>
          <a:xfrm>
            <a:off x="310896" y="2176272"/>
            <a:ext cx="4169665" cy="2606041"/>
          </a:xfrm>
          <a:prstGeom prst="rect">
            <a:avLst/>
          </a:prstGeom>
        </p:spPr>
      </p:pic>
      <p:pic>
        <p:nvPicPr>
          <p:cNvPr id="74" name="Picture 73">
            <a:extLst>
              <a:ext uri="{FF2B5EF4-FFF2-40B4-BE49-F238E27FC236}">
                <a16:creationId xmlns:a16="http://schemas.microsoft.com/office/drawing/2014/main" id="{5A88F25D-D10F-135B-700E-BB80E563F36D}"/>
              </a:ext>
            </a:extLst>
          </p:cNvPr>
          <p:cNvPicPr>
            <a:picLocks noChangeAspect="1"/>
          </p:cNvPicPr>
          <p:nvPr/>
        </p:nvPicPr>
        <p:blipFill>
          <a:blip r:embed="rId4"/>
          <a:stretch>
            <a:fillRect/>
          </a:stretch>
        </p:blipFill>
        <p:spPr>
          <a:xfrm>
            <a:off x="4700016" y="2231134"/>
            <a:ext cx="4149266" cy="255117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6E0000"/>
          </a:solidFill>
          <a:ln w="12700">
            <a:solidFill>
              <a:srgbClr val="6E0000"/>
            </a:solidFill>
            <a:prstDash val="solid"/>
          </a:ln>
        </p:spPr>
      </p:sp>
      <p:sp>
        <p:nvSpPr>
          <p:cNvPr id="3" name="Shape 1"/>
          <p:cNvSpPr/>
          <p:nvPr/>
        </p:nvSpPr>
        <p:spPr>
          <a:xfrm>
            <a:off x="0" y="4983480"/>
            <a:ext cx="9144000" cy="160020"/>
          </a:xfrm>
          <a:prstGeom prst="rect">
            <a:avLst/>
          </a:prstGeom>
          <a:solidFill>
            <a:srgbClr val="6E0000"/>
          </a:solidFill>
          <a:ln w="12700">
            <a:solidFill>
              <a:srgbClr val="6E0000"/>
            </a:solidFill>
            <a:prstDash val="solid"/>
          </a:ln>
        </p:spPr>
      </p:sp>
      <p:sp>
        <p:nvSpPr>
          <p:cNvPr id="4" name="Text 2"/>
          <p:cNvSpPr/>
          <p:nvPr/>
        </p:nvSpPr>
        <p:spPr>
          <a:xfrm>
            <a:off x="365760" y="64008"/>
            <a:ext cx="7863840" cy="438912"/>
          </a:xfrm>
          <a:prstGeom prst="rect">
            <a:avLst/>
          </a:prstGeom>
          <a:noFill/>
          <a:ln/>
        </p:spPr>
        <p:txBody>
          <a:bodyPr wrap="square" lIns="0" tIns="0" rIns="0" bIns="0" rtlCol="0" anchor="ctr"/>
          <a:lstStyle/>
          <a:p>
            <a:pPr marL="0" indent="0">
              <a:buNone/>
            </a:pPr>
            <a:r>
              <a:rPr lang="en-US" sz="2100" b="1" dirty="0">
                <a:solidFill>
                  <a:srgbClr val="FFFFFF"/>
                </a:solidFill>
                <a:latin typeface="Times New Roman" pitchFamily="34" charset="0"/>
                <a:ea typeface="Times New Roman" pitchFamily="34" charset="-122"/>
                <a:cs typeface="Times New Roman" pitchFamily="34" charset="-120"/>
              </a:rPr>
              <a:t>Prototype Limitations &amp; Production Roadmap</a:t>
            </a:r>
            <a:endParaRPr lang="en-US" sz="2100" dirty="0"/>
          </a:p>
        </p:txBody>
      </p:sp>
      <p:sp>
        <p:nvSpPr>
          <p:cNvPr id="5" name="Text 3"/>
          <p:cNvSpPr/>
          <p:nvPr/>
        </p:nvSpPr>
        <p:spPr>
          <a:xfrm>
            <a:off x="7955280" y="64008"/>
            <a:ext cx="914400" cy="438912"/>
          </a:xfrm>
          <a:prstGeom prst="rect">
            <a:avLst/>
          </a:prstGeom>
          <a:noFill/>
          <a:ln/>
        </p:spPr>
        <p:txBody>
          <a:bodyPr wrap="square" lIns="0" tIns="0" rIns="0" bIns="0" rtlCol="0" anchor="ctr"/>
          <a:lstStyle/>
          <a:p>
            <a:pPr marL="0" indent="0" algn="r">
              <a:buNone/>
            </a:pPr>
            <a:r>
              <a:rPr lang="en-US" sz="1100" dirty="0">
                <a:solidFill>
                  <a:srgbClr val="C8C8C8"/>
                </a:solidFill>
                <a:latin typeface="Times New Roman" pitchFamily="34" charset="0"/>
                <a:ea typeface="Times New Roman" pitchFamily="34" charset="-122"/>
                <a:cs typeface="Times New Roman" pitchFamily="34" charset="-120"/>
              </a:rPr>
              <a:t>12/12</a:t>
            </a:r>
            <a:endParaRPr lang="en-US" sz="1100" dirty="0"/>
          </a:p>
        </p:txBody>
      </p:sp>
      <p:sp>
        <p:nvSpPr>
          <p:cNvPr id="6" name="Text 4"/>
          <p:cNvSpPr/>
          <p:nvPr/>
        </p:nvSpPr>
        <p:spPr>
          <a:xfrm>
            <a:off x="365760" y="4983480"/>
            <a:ext cx="8412480" cy="160020"/>
          </a:xfrm>
          <a:prstGeom prst="rect">
            <a:avLst/>
          </a:prstGeom>
          <a:noFill/>
          <a:ln/>
        </p:spPr>
        <p:txBody>
          <a:bodyPr wrap="square" lIns="0" tIns="0" rIns="0" bIns="0" rtlCol="0" anchor="ctr"/>
          <a:lstStyle/>
          <a:p>
            <a:pPr marL="0" indent="0">
              <a:buNone/>
            </a:pPr>
            <a:r>
              <a:rPr lang="en-US" sz="800" dirty="0">
                <a:solidFill>
                  <a:srgbClr val="C8C8C8"/>
                </a:solidFill>
                <a:latin typeface="Times New Roman" pitchFamily="34" charset="0"/>
                <a:ea typeface="Times New Roman" pitchFamily="34" charset="-122"/>
                <a:cs typeface="Times New Roman" pitchFamily="34" charset="-120"/>
              </a:rPr>
              <a:t>RiskWaiver360  ·  GRC Exception &amp; Policy Waiver Management  ·  RVCE 2026</a:t>
            </a:r>
            <a:endParaRPr lang="en-US" sz="800" dirty="0"/>
          </a:p>
        </p:txBody>
      </p:sp>
      <p:sp>
        <p:nvSpPr>
          <p:cNvPr id="7" name="Shape 5"/>
          <p:cNvSpPr/>
          <p:nvPr/>
        </p:nvSpPr>
        <p:spPr>
          <a:xfrm>
            <a:off x="274320" y="658368"/>
            <a:ext cx="4206240" cy="3657600"/>
          </a:xfrm>
          <a:prstGeom prst="rect">
            <a:avLst/>
          </a:prstGeom>
          <a:solidFill>
            <a:srgbClr val="120808"/>
          </a:solidFill>
          <a:ln w="19050">
            <a:solidFill>
              <a:srgbClr val="C41010"/>
            </a:solidFill>
            <a:prstDash val="solid"/>
          </a:ln>
          <a:effectLst>
            <a:outerShdw blurRad="127000" dist="38100" dir="8100000" algn="bl" rotWithShape="0">
              <a:srgbClr val="000000">
                <a:alpha val="45000"/>
              </a:srgbClr>
            </a:outerShdw>
          </a:effectLst>
        </p:spPr>
      </p:sp>
      <p:sp>
        <p:nvSpPr>
          <p:cNvPr id="8" name="Text 6"/>
          <p:cNvSpPr/>
          <p:nvPr/>
        </p:nvSpPr>
        <p:spPr>
          <a:xfrm>
            <a:off x="411480" y="749808"/>
            <a:ext cx="3931920" cy="347472"/>
          </a:xfrm>
          <a:prstGeom prst="rect">
            <a:avLst/>
          </a:prstGeom>
          <a:noFill/>
          <a:ln/>
        </p:spPr>
        <p:txBody>
          <a:bodyPr wrap="square" lIns="0" tIns="0" rIns="0" bIns="0" rtlCol="0" anchor="ctr"/>
          <a:lstStyle/>
          <a:p>
            <a:pPr marL="0" indent="0">
              <a:buNone/>
            </a:pPr>
            <a:r>
              <a:rPr lang="en-US" sz="1400" b="1" dirty="0">
                <a:solidFill>
                  <a:srgbClr val="E84040"/>
                </a:solidFill>
                <a:latin typeface="Times New Roman" pitchFamily="34" charset="0"/>
                <a:ea typeface="Times New Roman" pitchFamily="34" charset="-122"/>
                <a:cs typeface="Times New Roman" pitchFamily="34" charset="-120"/>
              </a:rPr>
              <a:t>Current Prototype</a:t>
            </a:r>
            <a:endParaRPr lang="en-US" sz="1400" dirty="0"/>
          </a:p>
        </p:txBody>
      </p:sp>
      <p:sp>
        <p:nvSpPr>
          <p:cNvPr id="9" name="Text 7"/>
          <p:cNvSpPr/>
          <p:nvPr/>
        </p:nvSpPr>
        <p:spPr>
          <a:xfrm>
            <a:off x="411480" y="1188720"/>
            <a:ext cx="3931920" cy="2926080"/>
          </a:xfrm>
          <a:prstGeom prst="rect">
            <a:avLst/>
          </a:prstGeom>
          <a:noFill/>
          <a:ln/>
        </p:spPr>
        <p:txBody>
          <a:bodyPr wrap="square" lIns="25400" tIns="50800" rIns="25400" bIns="25400" rtlCol="0" anchor="t"/>
          <a:lstStyle/>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localStorage-based demo authentication (no session security)</a:t>
            </a:r>
            <a:endParaRPr lang="en-US" sz="1200" dirty="0"/>
          </a:p>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JSON flat-file storage (not production-grade)</a:t>
            </a:r>
            <a:endParaRPr lang="en-US" sz="1200" dirty="0"/>
          </a:p>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No backend RBAC — roles enforced frontend only</a:t>
            </a:r>
            <a:endParaRPr lang="en-US" sz="1200" dirty="0"/>
          </a:p>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Email notifications are simulated (not sent)</a:t>
            </a:r>
            <a:endParaRPr lang="en-US" sz="1200" dirty="0"/>
          </a:p>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PDF export via browser print (not server-generated)</a:t>
            </a:r>
            <a:endParaRPr lang="en-US" sz="1200" dirty="0"/>
          </a:p>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Captcha is frontend-only, no CSRF protection</a:t>
            </a:r>
            <a:endParaRPr lang="en-US" sz="1200" dirty="0"/>
          </a:p>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30 demo system users only (not a real user directory)</a:t>
            </a:r>
            <a:endParaRPr lang="en-US" sz="1200" dirty="0"/>
          </a:p>
        </p:txBody>
      </p:sp>
      <p:sp>
        <p:nvSpPr>
          <p:cNvPr id="10" name="Shape 8"/>
          <p:cNvSpPr/>
          <p:nvPr/>
        </p:nvSpPr>
        <p:spPr>
          <a:xfrm>
            <a:off x="4663440" y="658368"/>
            <a:ext cx="4206240" cy="3657600"/>
          </a:xfrm>
          <a:prstGeom prst="rect">
            <a:avLst/>
          </a:prstGeom>
          <a:solidFill>
            <a:srgbClr val="080A12"/>
          </a:solidFill>
          <a:ln w="19050">
            <a:solidFill>
              <a:srgbClr val="3060A0"/>
            </a:solidFill>
            <a:prstDash val="solid"/>
          </a:ln>
          <a:effectLst>
            <a:outerShdw blurRad="127000" dist="38100" dir="8100000" algn="bl" rotWithShape="0">
              <a:srgbClr val="000000">
                <a:alpha val="45000"/>
              </a:srgbClr>
            </a:outerShdw>
          </a:effectLst>
        </p:spPr>
      </p:sp>
      <p:sp>
        <p:nvSpPr>
          <p:cNvPr id="11" name="Text 9"/>
          <p:cNvSpPr/>
          <p:nvPr/>
        </p:nvSpPr>
        <p:spPr>
          <a:xfrm>
            <a:off x="4800600" y="749808"/>
            <a:ext cx="3931920" cy="347472"/>
          </a:xfrm>
          <a:prstGeom prst="rect">
            <a:avLst/>
          </a:prstGeom>
          <a:noFill/>
          <a:ln/>
        </p:spPr>
        <p:txBody>
          <a:bodyPr wrap="square" lIns="0" tIns="0" rIns="0" bIns="0" rtlCol="0" anchor="ctr"/>
          <a:lstStyle/>
          <a:p>
            <a:pPr marL="0" indent="0">
              <a:buNone/>
            </a:pPr>
            <a:r>
              <a:rPr lang="en-US" sz="1400" b="1" dirty="0">
                <a:solidFill>
                  <a:srgbClr val="6090D0"/>
                </a:solidFill>
                <a:latin typeface="Times New Roman" pitchFamily="34" charset="0"/>
                <a:ea typeface="Times New Roman" pitchFamily="34" charset="-122"/>
                <a:cs typeface="Times New Roman" pitchFamily="34" charset="-120"/>
              </a:rPr>
              <a:t>Production Roadmap</a:t>
            </a:r>
            <a:endParaRPr lang="en-US" sz="1400" dirty="0"/>
          </a:p>
        </p:txBody>
      </p:sp>
      <p:sp>
        <p:nvSpPr>
          <p:cNvPr id="12" name="Text 10"/>
          <p:cNvSpPr/>
          <p:nvPr/>
        </p:nvSpPr>
        <p:spPr>
          <a:xfrm>
            <a:off x="4800600" y="1188720"/>
            <a:ext cx="3931920" cy="2926080"/>
          </a:xfrm>
          <a:prstGeom prst="rect">
            <a:avLst/>
          </a:prstGeom>
          <a:noFill/>
          <a:ln/>
        </p:spPr>
        <p:txBody>
          <a:bodyPr wrap="square" lIns="25400" tIns="50800" rIns="25400" bIns="25400" rtlCol="0" anchor="t"/>
          <a:lstStyle/>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SSO / OIDC integration (Okta, Azure AD)</a:t>
            </a:r>
            <a:endParaRPr lang="en-US" sz="1200" dirty="0"/>
          </a:p>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Backend RBAC with JWT-secured routes</a:t>
            </a:r>
            <a:endParaRPr lang="en-US" sz="1200" dirty="0"/>
          </a:p>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PostgreSQL or MongoDB for data persistence</a:t>
            </a:r>
            <a:endParaRPr lang="en-US" sz="1200" dirty="0"/>
          </a:p>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ServiceNow / Jira / CMDB integration</a:t>
            </a:r>
            <a:endParaRPr lang="en-US" sz="1200" dirty="0"/>
          </a:p>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IAM / Active Directory owner resolution</a:t>
            </a:r>
            <a:endParaRPr lang="en-US" sz="1200" dirty="0"/>
          </a:p>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Real PDF audit report generation</a:t>
            </a:r>
            <a:endParaRPr lang="en-US" sz="1200" dirty="0"/>
          </a:p>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AI-assisted risk scoring (future scope only)</a:t>
            </a:r>
            <a:endParaRPr lang="en-US" sz="1200" dirty="0"/>
          </a:p>
        </p:txBody>
      </p:sp>
      <p:sp>
        <p:nvSpPr>
          <p:cNvPr id="13" name="Shape 11"/>
          <p:cNvSpPr/>
          <p:nvPr/>
        </p:nvSpPr>
        <p:spPr>
          <a:xfrm>
            <a:off x="274320" y="4407408"/>
            <a:ext cx="8595360" cy="475488"/>
          </a:xfrm>
          <a:prstGeom prst="rect">
            <a:avLst/>
          </a:prstGeom>
          <a:solidFill>
            <a:srgbClr val="6E0000"/>
          </a:solidFill>
          <a:ln w="19050">
            <a:solidFill>
              <a:srgbClr val="C41010"/>
            </a:solidFill>
            <a:prstDash val="solid"/>
          </a:ln>
          <a:effectLst>
            <a:outerShdw blurRad="127000" dist="38100" dir="8100000" algn="bl" rotWithShape="0">
              <a:srgbClr val="000000">
                <a:alpha val="45000"/>
              </a:srgbClr>
            </a:outerShdw>
          </a:effectLst>
        </p:spPr>
      </p:sp>
      <p:sp>
        <p:nvSpPr>
          <p:cNvPr id="14" name="Text 12"/>
          <p:cNvSpPr/>
          <p:nvPr/>
        </p:nvSpPr>
        <p:spPr>
          <a:xfrm>
            <a:off x="411480" y="4407408"/>
            <a:ext cx="8321040" cy="475488"/>
          </a:xfrm>
          <a:prstGeom prst="rect">
            <a:avLst/>
          </a:prstGeom>
          <a:noFill/>
          <a:ln/>
        </p:spPr>
        <p:txBody>
          <a:bodyPr wrap="square" lIns="0" tIns="0" rIns="0" bIns="0" rtlCol="0" anchor="ctr"/>
          <a:lstStyle/>
          <a:p>
            <a:pPr marL="0" indent="0" algn="ctr">
              <a:buNone/>
            </a:pPr>
            <a:r>
              <a:rPr lang="en-US" sz="1200" b="1" i="1" dirty="0">
                <a:solidFill>
                  <a:srgbClr val="FFFFFF"/>
                </a:solidFill>
                <a:latin typeface="Times New Roman" pitchFamily="34" charset="0"/>
                <a:ea typeface="Times New Roman" pitchFamily="34" charset="-122"/>
                <a:cs typeface="Times New Roman" pitchFamily="34" charset="-120"/>
              </a:rPr>
              <a:t>"RiskWaiver360 turns scattered exceptions into centralized, risk-scored, lifecycle-tracked, audit-ready governance decisions."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2109</Words>
  <Application>Microsoft Office PowerPoint</Application>
  <PresentationFormat>On-screen Show (16:9)</PresentationFormat>
  <Paragraphs>361</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RiskWaiver360 — GRC Exception &amp; Policy Waiver Management Platform</dc:title>
  <dc:subject>Policy Governance &amp; Risk Management — Societe Generale Hackathon 2026</dc:subject>
  <dc:creator>S Abhilash &amp; Rajath S — RVCE</dc:creator>
  <cp:lastModifiedBy>Abhilash S</cp:lastModifiedBy>
  <cp:revision>2</cp:revision>
  <dcterms:created xsi:type="dcterms:W3CDTF">2026-06-21T17:15:03Z</dcterms:created>
  <dcterms:modified xsi:type="dcterms:W3CDTF">2026-06-22T03:01:31Z</dcterms:modified>
</cp:coreProperties>
</file>